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7e2d5d6f4fe433a" /><Relationship Type="http://schemas.openxmlformats.org/officeDocument/2006/relationships/extended-properties" Target="/docProps/app.xml" Id="R1ab1a3f739fb40dd" /><Relationship Type="http://schemas.openxmlformats.org/officeDocument/2006/relationships/officeDocument" Target="/ppt/presentation.xml" Id="R648832a9084042b9" /></Relationships>
</file>

<file path=ppt/presentation.xml><?xml version="1.0" encoding="utf-8"?>
<p:presentation xmlns:p="http://schemas.openxmlformats.org/presentationml/2006/main">
  <p:sldMasterIdLst>
    <p:sldMasterId xmlns:r="http://schemas.openxmlformats.org/officeDocument/2006/relationships" id="2147483648" r:id="R08d78ac562454431"/>
  </p:sldMasterIdLst>
  <p:notesMasterIdLst>
    <p:notesMasterId xmlns:r="http://schemas.openxmlformats.org/officeDocument/2006/relationships" r:id="Rf66c0ea902974330"/>
  </p:notesMasterIdLst>
  <p:sldIdLst>
    <p:sldId xmlns:r="http://schemas.openxmlformats.org/officeDocument/2006/relationships" id="256" r:id="Ra03f6009c4b94d06"/>
    <p:sldId xmlns:r="http://schemas.openxmlformats.org/officeDocument/2006/relationships" id="257" r:id="Re6a85db225a94f7b"/>
    <p:sldId xmlns:r="http://schemas.openxmlformats.org/officeDocument/2006/relationships" id="258" r:id="Raeea0823568d4854"/>
    <p:sldId xmlns:r="http://schemas.openxmlformats.org/officeDocument/2006/relationships" id="259" r:id="Rcf68ef2731c74878"/>
    <p:sldId xmlns:r="http://schemas.openxmlformats.org/officeDocument/2006/relationships" id="260" r:id="Ref3006c75fd54794"/>
    <p:sldId xmlns:r="http://schemas.openxmlformats.org/officeDocument/2006/relationships" id="261" r:id="R7025f1b03b3f47b9"/>
    <p:sldId xmlns:r="http://schemas.openxmlformats.org/officeDocument/2006/relationships" id="262" r:id="R42a5c66fc4e34957"/>
    <p:sldId xmlns:r="http://schemas.openxmlformats.org/officeDocument/2006/relationships" id="263" r:id="R8bdc328f56334ca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76c68de1029412c" /><Relationship Type="http://schemas.openxmlformats.org/officeDocument/2006/relationships/slideMaster" Target="/ppt/slideMasters/slideMaster1.xml" Id="R08d78ac562454431" /><Relationship Type="http://schemas.openxmlformats.org/officeDocument/2006/relationships/notesMaster" Target="/ppt/notesMasters/notesMaster1.xml" Id="Rf66c0ea902974330" /><Relationship Type="http://schemas.openxmlformats.org/officeDocument/2006/relationships/presProps" Target="/ppt/presProps.xml" Id="R2c9a85e17b0c405c" /><Relationship Type="http://schemas.openxmlformats.org/officeDocument/2006/relationships/tableStyles" Target="/ppt/tableStyles.xml" Id="Rfb378a53e0284ccc" /><Relationship Type="http://schemas.openxmlformats.org/officeDocument/2006/relationships/slide" Target="/ppt/slides/slide1.xml" Id="Ra03f6009c4b94d06" /><Relationship Type="http://schemas.openxmlformats.org/officeDocument/2006/relationships/slide" Target="/ppt/slides/slide2.xml" Id="Re6a85db225a94f7b" /><Relationship Type="http://schemas.openxmlformats.org/officeDocument/2006/relationships/slide" Target="/ppt/slides/slide3.xml" Id="Raeea0823568d4854" /><Relationship Type="http://schemas.openxmlformats.org/officeDocument/2006/relationships/slide" Target="/ppt/slides/slide4.xml" Id="Rcf68ef2731c74878" /><Relationship Type="http://schemas.openxmlformats.org/officeDocument/2006/relationships/slide" Target="/ppt/slides/slide5.xml" Id="Ref3006c75fd54794" /><Relationship Type="http://schemas.openxmlformats.org/officeDocument/2006/relationships/slide" Target="/ppt/slides/slide6.xml" Id="R7025f1b03b3f47b9" /><Relationship Type="http://schemas.openxmlformats.org/officeDocument/2006/relationships/slide" Target="/ppt/slides/slide7.xml" Id="R42a5c66fc4e34957" /><Relationship Type="http://schemas.openxmlformats.org/officeDocument/2006/relationships/slide" Target="/ppt/slides/slide8.xml" Id="R8bdc328f56334ca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a1e4f0878ee47a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b7404eb0986465c" /><Relationship Type="http://schemas.openxmlformats.org/officeDocument/2006/relationships/notesMaster" Target="/ppt/notesMasters/notesMaster1.xml" Id="R0c6903f7a31649e8" /></Relationships>
</file>

<file path=ppt/notesSlides/_rels/notesSlide2.xml.rels>&#65279;<?xml version="1.0" encoding="utf-8"?><Relationships xmlns="http://schemas.openxmlformats.org/package/2006/relationships"><Relationship Type="http://schemas.openxmlformats.org/officeDocument/2006/relationships/slide" Target="/ppt/slides/slide2.xml" Id="R1aa6a9e235e34a73" /><Relationship Type="http://schemas.openxmlformats.org/officeDocument/2006/relationships/notesMaster" Target="/ppt/notesMasters/notesMaster1.xml" Id="R075080bef5834339" /></Relationships>
</file>

<file path=ppt/notesSlides/_rels/notesSlide3.xml.rels>&#65279;<?xml version="1.0" encoding="utf-8"?><Relationships xmlns="http://schemas.openxmlformats.org/package/2006/relationships"><Relationship Type="http://schemas.openxmlformats.org/officeDocument/2006/relationships/slide" Target="/ppt/slides/slide3.xml" Id="R69186324a144408e" /><Relationship Type="http://schemas.openxmlformats.org/officeDocument/2006/relationships/notesMaster" Target="/ppt/notesMasters/notesMaster1.xml" Id="R449642f6a6734059" /></Relationships>
</file>

<file path=ppt/notesSlides/_rels/notesSlide4.xml.rels>&#65279;<?xml version="1.0" encoding="utf-8"?><Relationships xmlns="http://schemas.openxmlformats.org/package/2006/relationships"><Relationship Type="http://schemas.openxmlformats.org/officeDocument/2006/relationships/slide" Target="/ppt/slides/slide4.xml" Id="Re708e7c1077d43c5" /><Relationship Type="http://schemas.openxmlformats.org/officeDocument/2006/relationships/notesMaster" Target="/ppt/notesMasters/notesMaster1.xml" Id="R6a7bb5a743f44e70" /></Relationships>
</file>

<file path=ppt/notesSlides/_rels/notesSlide5.xml.rels>&#65279;<?xml version="1.0" encoding="utf-8"?><Relationships xmlns="http://schemas.openxmlformats.org/package/2006/relationships"><Relationship Type="http://schemas.openxmlformats.org/officeDocument/2006/relationships/slide" Target="/ppt/slides/slide5.xml" Id="R41d7840b69e54923" /><Relationship Type="http://schemas.openxmlformats.org/officeDocument/2006/relationships/notesMaster" Target="/ppt/notesMasters/notesMaster1.xml" Id="R23893ec74942482b" /></Relationships>
</file>

<file path=ppt/notesSlides/_rels/notesSlide6.xml.rels>&#65279;<?xml version="1.0" encoding="utf-8"?><Relationships xmlns="http://schemas.openxmlformats.org/package/2006/relationships"><Relationship Type="http://schemas.openxmlformats.org/officeDocument/2006/relationships/slide" Target="/ppt/slides/slide6.xml" Id="R2ff0ca27e91d4e76" /><Relationship Type="http://schemas.openxmlformats.org/officeDocument/2006/relationships/notesMaster" Target="/ppt/notesMasters/notesMaster1.xml" Id="Rf6473e5eb14a4280" /></Relationships>
</file>

<file path=ppt/notesSlides/_rels/notesSlide7.xml.rels>&#65279;<?xml version="1.0" encoding="utf-8"?><Relationships xmlns="http://schemas.openxmlformats.org/package/2006/relationships"><Relationship Type="http://schemas.openxmlformats.org/officeDocument/2006/relationships/slide" Target="/ppt/slides/slide7.xml" Id="Rec1930b663104551" /><Relationship Type="http://schemas.openxmlformats.org/officeDocument/2006/relationships/notesMaster" Target="/ppt/notesMasters/notesMaster1.xml" Id="R3b347294d67447d9" /></Relationships>
</file>

<file path=ppt/notesSlides/_rels/notesSlide8.xml.rels>&#65279;<?xml version="1.0" encoding="utf-8"?><Relationships xmlns="http://schemas.openxmlformats.org/package/2006/relationships"><Relationship Type="http://schemas.openxmlformats.org/officeDocument/2006/relationships/slide" Target="/ppt/slides/slide8.xml" Id="Rf942771a31ec400a" /><Relationship Type="http://schemas.openxmlformats.org/officeDocument/2006/relationships/notesMaster" Target="/ppt/notesMasters/notesMaster1.xml" Id="Rb290cb96befd42c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hospital operations problem. Bayou Regional Hospital is fictional. This is a research prototype; no clinical or utility partner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model forecasts demand. The shortage assessment compares it with available supply and reserve. In this submitted replay, supply and hospital interruption are explicit simulations.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Disclose the data gap before the demo. No official demand rows are bundled because the build workspace could not reach the source host. The repo contains the importer and chronological evaluation workflow. Sources: https://www.ercot.com/gridinfo/load/load_hist ; https://www.eia.gov/electricity/930-content/about.html ; https://github.com/andreluizbvs/InsPLAD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Click through the website: normal, supply loss, advisory acknowledgment, then worker restart. The worker restart proves one-host application recovery. Keep the simulated banner in frame.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513–641 MW test MAE comes from the deterministic synthetic series only. It is not evidence of real ERCOT accuracy. After official data is trained on LinuxONE, replace this with saved real-data metrics and vision test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actual LinuxONE VM has not been accessed from this workspace. Run the README commands, record architecture and image digest, and capture the restart demo. Production design may add accelerators and platform encryption, but those are not measured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read bar lengths as measured results. Use the live website output for exact values. Both plans use the same fictional battery, generator, solar and critical load. The reactive policy loses an hour to generator startup. No lives-saved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concrete workflow and invite the judge to inspect the repository. State that the current replay is simulated and the next validation step is official data plus LinuxONE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9b445e39bb5427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f3a0b7dc8f14ab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005cbfe7673481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811231a32284f0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83cc07e530b45c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ef8593ef98040e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0076776-0808-4C13-B541-5F91A05A52B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19E9DB5-89AE-43B1-8D8E-853E01F9D73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EECB308-4B50-4433-A2D3-CEE22CFB980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CEE7F22-E65D-4E4F-9B34-55A6DCD2963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F6D53F3-853A-49BD-AAF0-012D76E1217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CC7D64A-C468-4A97-BB37-E3F1B54AB8E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BF596B9-7B09-4F17-B0C6-2B6580ACA06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EB9F783-F470-4369-B50E-A4BE72B5B5C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CB48E71-2E64-47A1-A0C9-9A3A377C27B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9358443-4F47-4982-88FB-4BD73FF0329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7f185e44d4541da" /><Relationship Type="http://schemas.openxmlformats.org/officeDocument/2006/relationships/slideLayout" Target="/ppt/slideLayouts/slideLayout1.xml" Id="R016099259e634247" /><Relationship Type="http://schemas.openxmlformats.org/officeDocument/2006/relationships/slideLayout" Target="/ppt/slideLayouts/slideLayout2.xml" Id="R03434be83d76475c" /><Relationship Type="http://schemas.openxmlformats.org/officeDocument/2006/relationships/slideLayout" Target="/ppt/slideLayouts/slideLayout3.xml" Id="R8568761a62bd469a" /><Relationship Type="http://schemas.openxmlformats.org/officeDocument/2006/relationships/slideLayout" Target="/ppt/slideLayouts/slideLayout4.xml" Id="Rf19cf3cd4686436b" /><Relationship Type="http://schemas.openxmlformats.org/officeDocument/2006/relationships/slideLayout" Target="/ppt/slideLayouts/slideLayout5.xml" Id="Rd8e31c94ebf84095" /><Relationship Type="http://schemas.openxmlformats.org/officeDocument/2006/relationships/slideLayout" Target="/ppt/slideLayouts/slideLayout6.xml" Id="R81b140a849f3444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6099259e634247"/>
    <p:sldLayoutId xmlns:r="http://schemas.openxmlformats.org/officeDocument/2006/relationships" id="2147483650" r:id="R03434be83d76475c"/>
    <p:sldLayoutId xmlns:r="http://schemas.openxmlformats.org/officeDocument/2006/relationships" id="2147483651" r:id="R8568761a62bd469a"/>
    <p:sldLayoutId xmlns:r="http://schemas.openxmlformats.org/officeDocument/2006/relationships" id="2147483652" r:id="Rf19cf3cd4686436b"/>
    <p:sldLayoutId xmlns:r="http://schemas.openxmlformats.org/officeDocument/2006/relationships" id="2147483653" r:id="Rd8e31c94ebf84095"/>
    <p:sldLayoutId xmlns:r="http://schemas.openxmlformats.org/officeDocument/2006/relationships" id="2147483654" r:id="R81b140a849f3444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13a633615ff4681" /><Relationship Type="http://schemas.openxmlformats.org/officeDocument/2006/relationships/notesSlide" Target="/ppt/notesSlides/notesSlide1.xml" Id="Rf78fe51d36e14a5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ff6f11dac454cb1" /><Relationship Type="http://schemas.openxmlformats.org/officeDocument/2006/relationships/notesSlide" Target="/ppt/notesSlides/notesSlide2.xml" Id="R09fd4a0c570f4ff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f76a16783674604" /><Relationship Type="http://schemas.openxmlformats.org/officeDocument/2006/relationships/notesSlide" Target="/ppt/notesSlides/notesSlide3.xml" Id="Rc3bda6d59980440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a07d3dca2e24a35" /><Relationship Type="http://schemas.openxmlformats.org/officeDocument/2006/relationships/notesSlide" Target="/ppt/notesSlides/notesSlide4.xml" Id="R4e4f603e4fbd45a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b1eb9b4754e4d75" /><Relationship Type="http://schemas.openxmlformats.org/officeDocument/2006/relationships/notesSlide" Target="/ppt/notesSlides/notesSlide5.xml" Id="Ra8359160606b4a4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45ed8a1b14c489d" /><Relationship Type="http://schemas.openxmlformats.org/officeDocument/2006/relationships/notesSlide" Target="/ppt/notesSlides/notesSlide6.xml" Id="R10826c75b94e48a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c197b54d7ad4594" /><Relationship Type="http://schemas.openxmlformats.org/officeDocument/2006/relationships/notesSlide" Target="/ppt/notesSlides/notesSlide7.xml" Id="Rb3b7c9ca7a8b49b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e922340a4134461" /><Relationship Type="http://schemas.openxmlformats.org/officeDocument/2006/relationships/notesSlide" Target="/ppt/notesSlides/notesSlide8.xml" Id="Re2ae6eb286b64698" /></Relationships>
</file>

<file path=ppt/slides/slide1.xml><?xml version="1.0" encoding="utf-8"?>
<p:sld xmlns:p="http://schemas.openxmlformats.org/presentationml/2006/main">
  <p:cSld>
    <p:bg>
      <p:bgPr>
        <a:solidFill xmlns:a="http://schemas.openxmlformats.org/drawingml/2006/main">
          <a:srgbClr val="0B1C29"/>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BED2861-B6C6-4F95-A4A7-4EE2C706AE44}"/>
              </a:ext>
            </a:extLst>
          </p:cNvPr>
          <p:cNvSpPr>
            <a:spLocks xmlns:a="http://schemas.openxmlformats.org/drawingml/2006/main" noGrp="1"/>
          </p:cNvSpPr>
          <p:nvPr/>
        </p:nvSpPr>
        <p:spPr>
          <a:xfrm xmlns:a="http://schemas.openxmlformats.org/drawingml/2006/main">
            <a:off x="685800" y="514350"/>
            <a:ext cx="419100" cy="47625"/>
          </a:xfrm>
          <a:prstGeom xmlns:a="http://schemas.openxmlformats.org/drawingml/2006/main" prst="rect">
            <a:avLst/>
          </a:prstGeom>
          <a:solidFill xmlns:a="http://schemas.openxmlformats.org/drawingml/2006/main">
            <a:srgbClr val="48E6C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892641C-A482-47E5-A716-CB9B12A39665}"/>
              </a:ext>
            </a:extLst>
          </p:cNvPr>
          <p:cNvSpPr>
            <a:spLocks xmlns:a="http://schemas.openxmlformats.org/drawingml/2006/main" noGrp="1"/>
          </p:cNvSpPr>
          <p:nvPr/>
        </p:nvSpPr>
        <p:spPr>
          <a:xfrm xmlns:a="http://schemas.openxmlformats.org/drawingml/2006/main">
            <a:off x="685800" y="66675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48E6C1"/>
                </a:solidFill>
              </a:defRPr>
            </a:defPPr>
          </a:lstStyle>
          <a:p xmlns:a="http://schemas.openxmlformats.org/drawingml/2006/main">
            <a:pPr>
              <a:defRPr sz="975" b="1">
                <a:solidFill>
                  <a:srgbClr val="48E6C1"/>
                </a:solidFill>
              </a:defRPr>
            </a:pPr>
            <a:r>
              <a:rPr sz="975" b="1">
                <a:solidFill>
                  <a:srgbClr val="48E6C1"/>
                </a:solidFill>
              </a:rPr>
              <a:t>ALLPOWER  /  AI FOR GOOD</a:t>
            </a:r>
          </a:p>
        </p:txBody>
      </p:sp>
      <p:sp>
        <p:nvSpPr>
          <p:cNvPr id="3" name="">
            <a:extLst xmlns:a="http://schemas.openxmlformats.org/drawingml/2006/main">
              <a:ext uri="{FF2B5EF4-FFF2-40B4-BE49-F238E27FC236}">
                <a16:creationId xmlns:a16="http://schemas.microsoft.com/office/drawing/2014/main" id="{B8AD6C9F-6C08-42F2-8B1F-5FD8FF6D4285}"/>
              </a:ext>
            </a:extLst>
          </p:cNvPr>
          <p:cNvSpPr>
            <a:spLocks xmlns:a="http://schemas.openxmlformats.org/drawingml/2006/main" noGrp="1"/>
          </p:cNvSpPr>
          <p:nvPr/>
        </p:nvSpPr>
        <p:spPr>
          <a:xfrm xmlns:a="http://schemas.openxmlformats.org/drawingml/2006/main">
            <a:off x="11049000" y="590550"/>
            <a:ext cx="47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A9BFC2"/>
                </a:solidFill>
              </a:defRPr>
            </a:defPPr>
          </a:lstStyle>
          <a:p xmlns:a="http://schemas.openxmlformats.org/drawingml/2006/main">
            <a:pPr>
              <a:defRPr sz="1200" b="1">
                <a:solidFill>
                  <a:srgbClr val="A9BFC2"/>
                </a:solidFill>
              </a:defRPr>
            </a:pPr>
            <a:r>
              <a:rPr sz="1200" b="1">
                <a:solidFill>
                  <a:srgbClr val="A9BFC2"/>
                </a:solidFill>
              </a:rPr>
              <a:t>01</a:t>
            </a:r>
          </a:p>
        </p:txBody>
      </p:sp>
      <p:sp>
        <p:nvSpPr>
          <p:cNvPr id="4" name="">
            <a:extLst xmlns:a="http://schemas.openxmlformats.org/drawingml/2006/main">
              <a:ext uri="{FF2B5EF4-FFF2-40B4-BE49-F238E27FC236}">
                <a16:creationId xmlns:a16="http://schemas.microsoft.com/office/drawing/2014/main" id="{FBF1623E-7BA8-491F-9771-2CFBEF10C733}"/>
              </a:ext>
            </a:extLst>
          </p:cNvPr>
          <p:cNvSpPr>
            <a:spLocks xmlns:a="http://schemas.openxmlformats.org/drawingml/2006/main" noGrp="1"/>
          </p:cNvSpPr>
          <p:nvPr/>
        </p:nvSpPr>
        <p:spPr>
          <a:xfrm xmlns:a="http://schemas.openxmlformats.org/drawingml/2006/main">
            <a:off x="685800" y="6181725"/>
            <a:ext cx="10820400" cy="9525"/>
          </a:xfrm>
          <a:prstGeom xmlns:a="http://schemas.openxmlformats.org/drawingml/2006/main" prst="rect">
            <a:avLst/>
          </a:prstGeom>
          <a:solidFill xmlns:a="http://schemas.openxmlformats.org/drawingml/2006/main">
            <a:srgbClr val="3A586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07FFC67-A6FD-46B0-8FCA-8B5060E53B3A}"/>
              </a:ext>
            </a:extLst>
          </p:cNvPr>
          <p:cNvSpPr>
            <a:spLocks xmlns:a="http://schemas.openxmlformats.org/drawingml/2006/main" noGrp="1"/>
          </p:cNvSpPr>
          <p:nvPr/>
        </p:nvSpPr>
        <p:spPr>
          <a:xfrm xmlns:a="http://schemas.openxmlformats.org/drawingml/2006/main">
            <a:off x="685800" y="6296025"/>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b="1">
                <a:solidFill>
                  <a:srgbClr val="A9BFC2"/>
                </a:solidFill>
              </a:defRPr>
            </a:defPPr>
          </a:lstStyle>
          <a:p xmlns:a="http://schemas.openxmlformats.org/drawingml/2006/main">
            <a:pPr>
              <a:defRPr sz="825" b="1">
                <a:solidFill>
                  <a:srgbClr val="A9BFC2"/>
                </a:solidFill>
              </a:defRPr>
            </a:pPr>
            <a:r>
              <a:rPr sz="825" b="1">
                <a:solidFill>
                  <a:srgbClr val="A9BFC2"/>
                </a:solidFill>
              </a:rPr>
              <a:t>THE PROBLEM</a:t>
            </a:r>
          </a:p>
        </p:txBody>
      </p:sp>
      <p:sp>
        <p:nvSpPr>
          <p:cNvPr id="6" name="">
            <a:extLst xmlns:a="http://schemas.openxmlformats.org/drawingml/2006/main">
              <a:ext uri="{FF2B5EF4-FFF2-40B4-BE49-F238E27FC236}">
                <a16:creationId xmlns:a16="http://schemas.microsoft.com/office/drawing/2014/main" id="{89BF1D9F-6975-4452-A01D-F82EA01FFC96}"/>
              </a:ext>
            </a:extLst>
          </p:cNvPr>
          <p:cNvSpPr>
            <a:spLocks xmlns:a="http://schemas.openxmlformats.org/drawingml/2006/main" noGrp="1"/>
          </p:cNvSpPr>
          <p:nvPr/>
        </p:nvSpPr>
        <p:spPr>
          <a:xfrm xmlns:a="http://schemas.openxmlformats.org/drawingml/2006/main">
            <a:off x="685800" y="1476375"/>
            <a:ext cx="10096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4350" b="1">
                <a:solidFill>
                  <a:srgbClr val="EFF7F4"/>
                </a:solidFill>
              </a:defRPr>
            </a:defPPr>
          </a:lstStyle>
          <a:p xmlns:a="http://schemas.openxmlformats.org/drawingml/2006/main">
            <a:pPr>
              <a:defRPr sz="4350" b="1">
                <a:solidFill>
                  <a:srgbClr val="EFF7F4"/>
                </a:solidFill>
              </a:defRPr>
            </a:pPr>
            <a:r>
              <a:rPr sz="4350" b="1">
                <a:solidFill>
                  <a:srgbClr val="EFF7F4"/>
                </a:solidFill>
              </a:rPr>
              <a:t>Six hours can change a hospital’s response.</a:t>
            </a:r>
          </a:p>
        </p:txBody>
      </p:sp>
      <p:sp>
        <p:nvSpPr>
          <p:cNvPr id="7" name="">
            <a:extLst xmlns:a="http://schemas.openxmlformats.org/drawingml/2006/main">
              <a:ext uri="{FF2B5EF4-FFF2-40B4-BE49-F238E27FC236}">
                <a16:creationId xmlns:a16="http://schemas.microsoft.com/office/drawing/2014/main" id="{6F5CDEC2-2151-4915-8992-277F8F99A2E6}"/>
              </a:ext>
            </a:extLst>
          </p:cNvPr>
          <p:cNvSpPr>
            <a:spLocks xmlns:a="http://schemas.openxmlformats.org/drawingml/2006/main" noGrp="1"/>
          </p:cNvSpPr>
          <p:nvPr/>
        </p:nvSpPr>
        <p:spPr>
          <a:xfrm xmlns:a="http://schemas.openxmlformats.org/drawingml/2006/main">
            <a:off x="714375" y="3333750"/>
            <a:ext cx="8191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0">
                <a:solidFill>
                  <a:srgbClr val="A9BFC2"/>
                </a:solidFill>
              </a:defRPr>
            </a:defPPr>
          </a:lstStyle>
          <a:p xmlns:a="http://schemas.openxmlformats.org/drawingml/2006/main">
            <a:pPr>
              <a:defRPr sz="1875" b="0">
                <a:solidFill>
                  <a:srgbClr val="A9BFC2"/>
                </a:solidFill>
              </a:defRPr>
            </a:pPr>
            <a:r>
              <a:rPr sz="1875" b="0">
                <a:solidFill>
                  <a:srgbClr val="A9BFC2"/>
                </a:solidFill>
              </a:rPr>
              <a:t>When regional supply tightens, facility teams need time to start backup systems and protect critical loads.</a:t>
            </a:r>
          </a:p>
        </p:txBody>
      </p:sp>
      <p:sp>
        <p:nvSpPr>
          <p:cNvPr id="8" name="">
            <a:extLst xmlns:a="http://schemas.openxmlformats.org/drawingml/2006/main">
              <a:ext uri="{FF2B5EF4-FFF2-40B4-BE49-F238E27FC236}">
                <a16:creationId xmlns:a16="http://schemas.microsoft.com/office/drawing/2014/main" id="{F188F55B-C34F-466C-B30B-09DEA5EF7FBC}"/>
              </a:ext>
            </a:extLst>
          </p:cNvPr>
          <p:cNvSpPr>
            <a:spLocks xmlns:a="http://schemas.openxmlformats.org/drawingml/2006/main" noGrp="1"/>
          </p:cNvSpPr>
          <p:nvPr/>
        </p:nvSpPr>
        <p:spPr>
          <a:xfrm xmlns:a="http://schemas.openxmlformats.org/drawingml/2006/main">
            <a:off x="704850" y="4905375"/>
            <a:ext cx="6953250" cy="19050"/>
          </a:xfrm>
          <a:prstGeom xmlns:a="http://schemas.openxmlformats.org/drawingml/2006/main" prst="rect">
            <a:avLst/>
          </a:prstGeom>
          <a:solidFill xmlns:a="http://schemas.openxmlformats.org/drawingml/2006/main">
            <a:srgbClr val="48E6C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D522C71-D7A8-4DD7-822E-B9B16C2496C1}"/>
              </a:ext>
            </a:extLst>
          </p:cNvPr>
          <p:cNvSpPr>
            <a:spLocks xmlns:a="http://schemas.openxmlformats.org/drawingml/2006/main" noGrp="1"/>
          </p:cNvSpPr>
          <p:nvPr/>
        </p:nvSpPr>
        <p:spPr>
          <a:xfrm xmlns:a="http://schemas.openxmlformats.org/drawingml/2006/main">
            <a:off x="704850" y="5191125"/>
            <a:ext cx="2952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400" b="1">
                <a:solidFill>
                  <a:srgbClr val="48E6C1"/>
                </a:solidFill>
              </a:defRPr>
            </a:defPPr>
          </a:lstStyle>
          <a:p xmlns:a="http://schemas.openxmlformats.org/drawingml/2006/main">
            <a:pPr>
              <a:defRPr sz="2400" b="1">
                <a:solidFill>
                  <a:srgbClr val="48E6C1"/>
                </a:solidFill>
              </a:defRPr>
            </a:pPr>
            <a:r>
              <a:rPr sz="2400" b="1">
                <a:solidFill>
                  <a:srgbClr val="48E6C1"/>
                </a:solidFill>
              </a:rPr>
              <a:t>ALLPOWER</a:t>
            </a:r>
          </a:p>
        </p:txBody>
      </p:sp>
      <p:sp>
        <p:nvSpPr>
          <p:cNvPr id="10" name="">
            <a:extLst xmlns:a="http://schemas.openxmlformats.org/drawingml/2006/main">
              <a:ext uri="{FF2B5EF4-FFF2-40B4-BE49-F238E27FC236}">
                <a16:creationId xmlns:a16="http://schemas.microsoft.com/office/drawing/2014/main" id="{AFA67FB0-989F-4ADB-907E-CA186257F4B3}"/>
              </a:ext>
            </a:extLst>
          </p:cNvPr>
          <p:cNvSpPr>
            <a:spLocks xmlns:a="http://schemas.openxmlformats.org/drawingml/2006/main" noGrp="1"/>
          </p:cNvSpPr>
          <p:nvPr/>
        </p:nvSpPr>
        <p:spPr>
          <a:xfrm xmlns:a="http://schemas.openxmlformats.org/drawingml/2006/main">
            <a:off x="3667125" y="5248275"/>
            <a:ext cx="628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0">
                <a:solidFill>
                  <a:srgbClr val="EFF7F4"/>
                </a:solidFill>
              </a:defRPr>
            </a:defPPr>
          </a:lstStyle>
          <a:p xmlns:a="http://schemas.openxmlformats.org/drawingml/2006/main">
            <a:pPr>
              <a:defRPr sz="1650" b="0">
                <a:solidFill>
                  <a:srgbClr val="EFF7F4"/>
                </a:solidFill>
              </a:defRPr>
            </a:pPr>
            <a:r>
              <a:rPr sz="1650" b="0">
                <a:solidFill>
                  <a:srgbClr val="EFF7F4"/>
                </a:solidFill>
              </a:rPr>
              <a:t>A preparation workflow for power disruption</a:t>
            </a:r>
          </a:p>
        </p:txBody>
      </p:sp>
    </p:spTree>
    <p:extLst>
      <p:ext uri="{BB962C8B-B14F-4D97-AF65-F5344CB8AC3E}">
        <p14:creationId xmlns:p14="http://schemas.microsoft.com/office/powerpoint/2010/main" val="411026345"/>
      </p:ext>
    </p:extLst>
  </p:cSld>
</p:sld>
</file>

<file path=ppt/slides/slide2.xml><?xml version="1.0" encoding="utf-8"?>
<p:sld xmlns:p="http://schemas.openxmlformats.org/presentationml/2006/main">
  <p:cSld>
    <p:bg>
      <p:bgPr>
        <a:solidFill xmlns:a="http://schemas.openxmlformats.org/drawingml/2006/main">
          <a:srgbClr val="0B1C2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904A69E-854E-415A-871C-DAA04792610F}"/>
              </a:ext>
            </a:extLst>
          </p:cNvPr>
          <p:cNvSpPr>
            <a:spLocks xmlns:a="http://schemas.openxmlformats.org/drawingml/2006/main" noGrp="1"/>
          </p:cNvSpPr>
          <p:nvPr/>
        </p:nvSpPr>
        <p:spPr>
          <a:xfrm xmlns:a="http://schemas.openxmlformats.org/drawingml/2006/main">
            <a:off x="685800" y="514350"/>
            <a:ext cx="419100" cy="47625"/>
          </a:xfrm>
          <a:prstGeom xmlns:a="http://schemas.openxmlformats.org/drawingml/2006/main" prst="rect">
            <a:avLst/>
          </a:prstGeom>
          <a:solidFill xmlns:a="http://schemas.openxmlformats.org/drawingml/2006/main">
            <a:srgbClr val="48E6C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71BC4F9-7946-46E7-8C3E-E92EF7EF7557}"/>
              </a:ext>
            </a:extLst>
          </p:cNvPr>
          <p:cNvSpPr>
            <a:spLocks xmlns:a="http://schemas.openxmlformats.org/drawingml/2006/main" noGrp="1"/>
          </p:cNvSpPr>
          <p:nvPr/>
        </p:nvSpPr>
        <p:spPr>
          <a:xfrm xmlns:a="http://schemas.openxmlformats.org/drawingml/2006/main">
            <a:off x="685800" y="66675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48E6C1"/>
                </a:solidFill>
              </a:defRPr>
            </a:defPPr>
          </a:lstStyle>
          <a:p xmlns:a="http://schemas.openxmlformats.org/drawingml/2006/main">
            <a:pPr>
              <a:defRPr sz="975" b="1">
                <a:solidFill>
                  <a:srgbClr val="48E6C1"/>
                </a:solidFill>
              </a:defRPr>
            </a:pPr>
            <a:r>
              <a:rPr sz="975" b="1">
                <a:solidFill>
                  <a:srgbClr val="48E6C1"/>
                </a:solidFill>
              </a:rPr>
              <a:t>ALLPOWER  /  AI FOR GOOD</a:t>
            </a:r>
          </a:p>
        </p:txBody>
      </p:sp>
      <p:sp>
        <p:nvSpPr>
          <p:cNvPr id="3" name="">
            <a:extLst xmlns:a="http://schemas.openxmlformats.org/drawingml/2006/main">
              <a:ext uri="{FF2B5EF4-FFF2-40B4-BE49-F238E27FC236}">
                <a16:creationId xmlns:a16="http://schemas.microsoft.com/office/drawing/2014/main" id="{3CEB7C5C-DAE1-48C8-8124-2B43E340069B}"/>
              </a:ext>
            </a:extLst>
          </p:cNvPr>
          <p:cNvSpPr>
            <a:spLocks xmlns:a="http://schemas.openxmlformats.org/drawingml/2006/main" noGrp="1"/>
          </p:cNvSpPr>
          <p:nvPr/>
        </p:nvSpPr>
        <p:spPr>
          <a:xfrm xmlns:a="http://schemas.openxmlformats.org/drawingml/2006/main">
            <a:off x="11049000" y="590550"/>
            <a:ext cx="47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A9BFC2"/>
                </a:solidFill>
              </a:defRPr>
            </a:defPPr>
          </a:lstStyle>
          <a:p xmlns:a="http://schemas.openxmlformats.org/drawingml/2006/main">
            <a:pPr>
              <a:defRPr sz="1200" b="1">
                <a:solidFill>
                  <a:srgbClr val="A9BFC2"/>
                </a:solidFill>
              </a:defRPr>
            </a:pPr>
            <a:r>
              <a:rPr sz="1200" b="1">
                <a:solidFill>
                  <a:srgbClr val="A9BFC2"/>
                </a:solidFill>
              </a:rPr>
              <a:t>02</a:t>
            </a:r>
          </a:p>
        </p:txBody>
      </p:sp>
      <p:sp>
        <p:nvSpPr>
          <p:cNvPr id="4" name="">
            <a:extLst xmlns:a="http://schemas.openxmlformats.org/drawingml/2006/main">
              <a:ext uri="{FF2B5EF4-FFF2-40B4-BE49-F238E27FC236}">
                <a16:creationId xmlns:a16="http://schemas.microsoft.com/office/drawing/2014/main" id="{66D115F3-D5F7-43C3-9221-989FEBDB295D}"/>
              </a:ext>
            </a:extLst>
          </p:cNvPr>
          <p:cNvSpPr>
            <a:spLocks xmlns:a="http://schemas.openxmlformats.org/drawingml/2006/main" noGrp="1"/>
          </p:cNvSpPr>
          <p:nvPr/>
        </p:nvSpPr>
        <p:spPr>
          <a:xfrm xmlns:a="http://schemas.openxmlformats.org/drawingml/2006/main">
            <a:off x="685800" y="6181725"/>
            <a:ext cx="10820400" cy="9525"/>
          </a:xfrm>
          <a:prstGeom xmlns:a="http://schemas.openxmlformats.org/drawingml/2006/main" prst="rect">
            <a:avLst/>
          </a:prstGeom>
          <a:solidFill xmlns:a="http://schemas.openxmlformats.org/drawingml/2006/main">
            <a:srgbClr val="3A586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37F981D-F0DD-4FD7-8152-8FAEA36476AE}"/>
              </a:ext>
            </a:extLst>
          </p:cNvPr>
          <p:cNvSpPr>
            <a:spLocks xmlns:a="http://schemas.openxmlformats.org/drawingml/2006/main" noGrp="1"/>
          </p:cNvSpPr>
          <p:nvPr/>
        </p:nvSpPr>
        <p:spPr>
          <a:xfrm xmlns:a="http://schemas.openxmlformats.org/drawingml/2006/main">
            <a:off x="685800" y="6296025"/>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b="1">
                <a:solidFill>
                  <a:srgbClr val="A9BFC2"/>
                </a:solidFill>
              </a:defRPr>
            </a:defPPr>
          </a:lstStyle>
          <a:p xmlns:a="http://schemas.openxmlformats.org/drawingml/2006/main">
            <a:pPr>
              <a:defRPr sz="825" b="1">
                <a:solidFill>
                  <a:srgbClr val="A9BFC2"/>
                </a:solidFill>
              </a:defRPr>
            </a:pPr>
            <a:r>
              <a:rPr sz="825" b="1">
                <a:solidFill>
                  <a:srgbClr val="A9BFC2"/>
                </a:solidFill>
              </a:rPr>
              <a:t>THE WORKFLOW</a:t>
            </a:r>
          </a:p>
        </p:txBody>
      </p:sp>
      <p:sp>
        <p:nvSpPr>
          <p:cNvPr id="6" name="">
            <a:extLst xmlns:a="http://schemas.openxmlformats.org/drawingml/2006/main">
              <a:ext uri="{FF2B5EF4-FFF2-40B4-BE49-F238E27FC236}">
                <a16:creationId xmlns:a16="http://schemas.microsoft.com/office/drawing/2014/main" id="{8DF9D021-D5C6-4E30-B97F-AE72ABB223CB}"/>
              </a:ext>
            </a:extLst>
          </p:cNvPr>
          <p:cNvSpPr>
            <a:spLocks xmlns:a="http://schemas.openxmlformats.org/drawingml/2006/main" noGrp="1"/>
          </p:cNvSpPr>
          <p:nvPr/>
        </p:nvSpPr>
        <p:spPr>
          <a:xfrm xmlns:a="http://schemas.openxmlformats.org/drawingml/2006/main">
            <a:off x="685800" y="1143000"/>
            <a:ext cx="10668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900" b="1">
                <a:solidFill>
                  <a:srgbClr val="EFF7F4"/>
                </a:solidFill>
              </a:defRPr>
            </a:defPPr>
          </a:lstStyle>
          <a:p xmlns:a="http://schemas.openxmlformats.org/drawingml/2006/main">
            <a:pPr>
              <a:defRPr sz="3900" b="1">
                <a:solidFill>
                  <a:srgbClr val="EFF7F4"/>
                </a:solidFill>
              </a:defRPr>
            </a:pPr>
            <a:r>
              <a:rPr sz="3900" b="1">
                <a:solidFill>
                  <a:srgbClr val="EFF7F4"/>
                </a:solidFill>
              </a:rPr>
              <a:t>One connected preparation workflow</a:t>
            </a:r>
          </a:p>
        </p:txBody>
      </p:sp>
      <p:sp>
        <p:nvSpPr>
          <p:cNvPr id="7" name="">
            <a:extLst xmlns:a="http://schemas.openxmlformats.org/drawingml/2006/main">
              <a:ext uri="{FF2B5EF4-FFF2-40B4-BE49-F238E27FC236}">
                <a16:creationId xmlns:a16="http://schemas.microsoft.com/office/drawing/2014/main" id="{F852376A-F996-415C-8450-B4FAE4A55056}"/>
              </a:ext>
            </a:extLst>
          </p:cNvPr>
          <p:cNvSpPr>
            <a:spLocks xmlns:a="http://schemas.openxmlformats.org/drawingml/2006/main" noGrp="1"/>
          </p:cNvSpPr>
          <p:nvPr/>
        </p:nvSpPr>
        <p:spPr>
          <a:xfrm xmlns:a="http://schemas.openxmlformats.org/drawingml/2006/main">
            <a:off x="704850" y="2390775"/>
            <a:ext cx="1000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0">
                <a:solidFill>
                  <a:srgbClr val="A9BFC2"/>
                </a:solidFill>
              </a:defRPr>
            </a:defPPr>
          </a:lstStyle>
          <a:p xmlns:a="http://schemas.openxmlformats.org/drawingml/2006/main">
            <a:pPr>
              <a:defRPr sz="1650" b="0">
                <a:solidFill>
                  <a:srgbClr val="A9BFC2"/>
                </a:solidFill>
              </a:defRPr>
            </a:pPr>
            <a:r>
              <a:rPr sz="1650" b="0">
                <a:solidFill>
                  <a:srgbClr val="A9BFC2"/>
                </a:solidFill>
              </a:rPr>
              <a:t>Demand forecast, scenario margin, asset concern and backup plan.</a:t>
            </a:r>
          </a:p>
        </p:txBody>
      </p:sp>
      <p:sp>
        <p:nvSpPr>
          <p:cNvPr id="8" name="">
            <a:extLst xmlns:a="http://schemas.openxmlformats.org/drawingml/2006/main">
              <a:ext uri="{FF2B5EF4-FFF2-40B4-BE49-F238E27FC236}">
                <a16:creationId xmlns:a16="http://schemas.microsoft.com/office/drawing/2014/main" id="{7DB124EB-2640-400F-AB48-7A4BC5B446AC}"/>
              </a:ext>
            </a:extLst>
          </p:cNvPr>
          <p:cNvSpPr>
            <a:spLocks xmlns:a="http://schemas.openxmlformats.org/drawingml/2006/main" noGrp="1"/>
          </p:cNvSpPr>
          <p:nvPr/>
        </p:nvSpPr>
        <p:spPr>
          <a:xfrm xmlns:a="http://schemas.openxmlformats.org/drawingml/2006/main">
            <a:off x="714375" y="3571875"/>
            <a:ext cx="3190875" cy="1762125"/>
          </a:xfrm>
          <a:prstGeom xmlns:a="http://schemas.openxmlformats.org/drawingml/2006/main" prst="rect">
            <a:avLst/>
          </a:prstGeom>
          <a:solidFill xmlns:a="http://schemas.openxmlformats.org/drawingml/2006/main">
            <a:srgbClr val="112B39"/>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BC0A4E8-0F3E-484C-9305-9C817972884A}"/>
              </a:ext>
            </a:extLst>
          </p:cNvPr>
          <p:cNvSpPr>
            <a:spLocks xmlns:a="http://schemas.openxmlformats.org/drawingml/2006/main" noGrp="1"/>
          </p:cNvSpPr>
          <p:nvPr/>
        </p:nvSpPr>
        <p:spPr>
          <a:xfrm xmlns:a="http://schemas.openxmlformats.org/drawingml/2006/main">
            <a:off x="942975" y="3762375"/>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48E6C1"/>
                </a:solidFill>
              </a:defRPr>
            </a:defPPr>
          </a:lstStyle>
          <a:p xmlns:a="http://schemas.openxmlformats.org/drawingml/2006/main">
            <a:pPr>
              <a:defRPr sz="1500" b="1">
                <a:solidFill>
                  <a:srgbClr val="48E6C1"/>
                </a:solidFill>
              </a:defRPr>
            </a:pPr>
            <a:r>
              <a:rPr sz="1500" b="1">
                <a:solidFill>
                  <a:srgbClr val="48E6C1"/>
                </a:solidFill>
              </a:rPr>
              <a:t>01</a:t>
            </a:r>
          </a:p>
        </p:txBody>
      </p:sp>
      <p:sp>
        <p:nvSpPr>
          <p:cNvPr id="10" name="">
            <a:extLst xmlns:a="http://schemas.openxmlformats.org/drawingml/2006/main">
              <a:ext uri="{FF2B5EF4-FFF2-40B4-BE49-F238E27FC236}">
                <a16:creationId xmlns:a16="http://schemas.microsoft.com/office/drawing/2014/main" id="{F0966A3D-B04E-4D24-959C-73A22849848E}"/>
              </a:ext>
            </a:extLst>
          </p:cNvPr>
          <p:cNvSpPr>
            <a:spLocks xmlns:a="http://schemas.openxmlformats.org/drawingml/2006/main" noGrp="1"/>
          </p:cNvSpPr>
          <p:nvPr/>
        </p:nvSpPr>
        <p:spPr>
          <a:xfrm xmlns:a="http://schemas.openxmlformats.org/drawingml/2006/main">
            <a:off x="942975" y="4191000"/>
            <a:ext cx="2762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250" b="1">
                <a:solidFill>
                  <a:srgbClr val="EFF7F4"/>
                </a:solidFill>
              </a:defRPr>
            </a:defPPr>
          </a:lstStyle>
          <a:p xmlns:a="http://schemas.openxmlformats.org/drawingml/2006/main">
            <a:pPr>
              <a:defRPr sz="2250" b="1">
                <a:solidFill>
                  <a:srgbClr val="EFF7F4"/>
                </a:solidFill>
              </a:defRPr>
            </a:pPr>
            <a:r>
              <a:rPr sz="2250" b="1">
                <a:solidFill>
                  <a:srgbClr val="EFF7F4"/>
                </a:solidFill>
              </a:rPr>
              <a:t>Forecast</a:t>
            </a:r>
          </a:p>
        </p:txBody>
      </p:sp>
      <p:sp>
        <p:nvSpPr>
          <p:cNvPr id="11" name="">
            <a:extLst xmlns:a="http://schemas.openxmlformats.org/drawingml/2006/main">
              <a:ext uri="{FF2B5EF4-FFF2-40B4-BE49-F238E27FC236}">
                <a16:creationId xmlns:a16="http://schemas.microsoft.com/office/drawing/2014/main" id="{98A7CD55-C991-41E2-B279-E2164B6F1EDC}"/>
              </a:ext>
            </a:extLst>
          </p:cNvPr>
          <p:cNvSpPr>
            <a:spLocks xmlns:a="http://schemas.openxmlformats.org/drawingml/2006/main" noGrp="1"/>
          </p:cNvSpPr>
          <p:nvPr/>
        </p:nvSpPr>
        <p:spPr>
          <a:xfrm xmlns:a="http://schemas.openxmlformats.org/drawingml/2006/main">
            <a:off x="942975" y="474345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A9BFC2"/>
                </a:solidFill>
              </a:defRPr>
            </a:defPPr>
          </a:lstStyle>
          <a:p xmlns:a="http://schemas.openxmlformats.org/drawingml/2006/main">
            <a:pPr>
              <a:defRPr sz="1350" b="0">
                <a:solidFill>
                  <a:srgbClr val="A9BFC2"/>
                </a:solidFill>
              </a:defRPr>
            </a:pPr>
            <a:r>
              <a:rPr sz="1350" b="0">
                <a:solidFill>
                  <a:srgbClr val="A9BFC2"/>
                </a:solidFill>
              </a:rPr>
              <a:t>Six hourly demand estimates</a:t>
            </a:r>
          </a:p>
        </p:txBody>
      </p:sp>
      <p:sp>
        <p:nvSpPr>
          <p:cNvPr id="12" name="">
            <a:extLst xmlns:a="http://schemas.openxmlformats.org/drawingml/2006/main">
              <a:ext uri="{FF2B5EF4-FFF2-40B4-BE49-F238E27FC236}">
                <a16:creationId xmlns:a16="http://schemas.microsoft.com/office/drawing/2014/main" id="{06510FFD-2375-44D6-8786-04B7F5968B29}"/>
              </a:ext>
            </a:extLst>
          </p:cNvPr>
          <p:cNvSpPr>
            <a:spLocks xmlns:a="http://schemas.openxmlformats.org/drawingml/2006/main" noGrp="1"/>
          </p:cNvSpPr>
          <p:nvPr/>
        </p:nvSpPr>
        <p:spPr>
          <a:xfrm xmlns:a="http://schemas.openxmlformats.org/drawingml/2006/main">
            <a:off x="4333875" y="3571875"/>
            <a:ext cx="3190875" cy="1762125"/>
          </a:xfrm>
          <a:prstGeom xmlns:a="http://schemas.openxmlformats.org/drawingml/2006/main" prst="rect">
            <a:avLst/>
          </a:prstGeom>
          <a:solidFill xmlns:a="http://schemas.openxmlformats.org/drawingml/2006/main">
            <a:srgbClr val="112B3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F9285C8-C4E0-4C5E-A40C-64E233E85EF2}"/>
              </a:ext>
            </a:extLst>
          </p:cNvPr>
          <p:cNvSpPr>
            <a:spLocks xmlns:a="http://schemas.openxmlformats.org/drawingml/2006/main" noGrp="1"/>
          </p:cNvSpPr>
          <p:nvPr/>
        </p:nvSpPr>
        <p:spPr>
          <a:xfrm xmlns:a="http://schemas.openxmlformats.org/drawingml/2006/main">
            <a:off x="4562475" y="3762375"/>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48E6C1"/>
                </a:solidFill>
              </a:defRPr>
            </a:defPPr>
          </a:lstStyle>
          <a:p xmlns:a="http://schemas.openxmlformats.org/drawingml/2006/main">
            <a:pPr>
              <a:defRPr sz="1500" b="1">
                <a:solidFill>
                  <a:srgbClr val="48E6C1"/>
                </a:solidFill>
              </a:defRPr>
            </a:pPr>
            <a:r>
              <a:rPr sz="1500" b="1">
                <a:solidFill>
                  <a:srgbClr val="48E6C1"/>
                </a:solidFill>
              </a:rPr>
              <a:t>02</a:t>
            </a:r>
          </a:p>
        </p:txBody>
      </p:sp>
      <p:sp>
        <p:nvSpPr>
          <p:cNvPr id="14" name="">
            <a:extLst xmlns:a="http://schemas.openxmlformats.org/drawingml/2006/main">
              <a:ext uri="{FF2B5EF4-FFF2-40B4-BE49-F238E27FC236}">
                <a16:creationId xmlns:a16="http://schemas.microsoft.com/office/drawing/2014/main" id="{CE03BC38-4F60-4846-B3A5-B6478F8DEA0D}"/>
              </a:ext>
            </a:extLst>
          </p:cNvPr>
          <p:cNvSpPr>
            <a:spLocks xmlns:a="http://schemas.openxmlformats.org/drawingml/2006/main" noGrp="1"/>
          </p:cNvSpPr>
          <p:nvPr/>
        </p:nvSpPr>
        <p:spPr>
          <a:xfrm xmlns:a="http://schemas.openxmlformats.org/drawingml/2006/main">
            <a:off x="4562475" y="4191000"/>
            <a:ext cx="2762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250" b="1">
                <a:solidFill>
                  <a:srgbClr val="EFF7F4"/>
                </a:solidFill>
              </a:defRPr>
            </a:defPPr>
          </a:lstStyle>
          <a:p xmlns:a="http://schemas.openxmlformats.org/drawingml/2006/main">
            <a:pPr>
              <a:defRPr sz="2250" b="1">
                <a:solidFill>
                  <a:srgbClr val="EFF7F4"/>
                </a:solidFill>
              </a:defRPr>
            </a:pPr>
            <a:r>
              <a:rPr sz="2250" b="1">
                <a:solidFill>
                  <a:srgbClr val="EFF7F4"/>
                </a:solidFill>
              </a:rPr>
              <a:t>Assess</a:t>
            </a:r>
          </a:p>
        </p:txBody>
      </p:sp>
      <p:sp>
        <p:nvSpPr>
          <p:cNvPr id="15" name="">
            <a:extLst xmlns:a="http://schemas.openxmlformats.org/drawingml/2006/main">
              <a:ext uri="{FF2B5EF4-FFF2-40B4-BE49-F238E27FC236}">
                <a16:creationId xmlns:a16="http://schemas.microsoft.com/office/drawing/2014/main" id="{63C75915-E576-416D-B0EA-9FA437F8FEE6}"/>
              </a:ext>
            </a:extLst>
          </p:cNvPr>
          <p:cNvSpPr>
            <a:spLocks xmlns:a="http://schemas.openxmlformats.org/drawingml/2006/main" noGrp="1"/>
          </p:cNvSpPr>
          <p:nvPr/>
        </p:nvSpPr>
        <p:spPr>
          <a:xfrm xmlns:a="http://schemas.openxmlformats.org/drawingml/2006/main">
            <a:off x="4562475" y="474345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A9BFC2"/>
                </a:solidFill>
              </a:defRPr>
            </a:defPPr>
          </a:lstStyle>
          <a:p xmlns:a="http://schemas.openxmlformats.org/drawingml/2006/main">
            <a:pPr>
              <a:defRPr sz="1350" b="0">
                <a:solidFill>
                  <a:srgbClr val="A9BFC2"/>
                </a:solidFill>
              </a:defRPr>
            </a:pPr>
            <a:r>
              <a:rPr sz="1350" b="0">
                <a:solidFill>
                  <a:srgbClr val="A9BFC2"/>
                </a:solidFill>
              </a:rPr>
              <a:t>Supply minus reserve and demand</a:t>
            </a:r>
          </a:p>
        </p:txBody>
      </p:sp>
      <p:sp>
        <p:nvSpPr>
          <p:cNvPr id="16" name="">
            <a:extLst xmlns:a="http://schemas.openxmlformats.org/drawingml/2006/main">
              <a:ext uri="{FF2B5EF4-FFF2-40B4-BE49-F238E27FC236}">
                <a16:creationId xmlns:a16="http://schemas.microsoft.com/office/drawing/2014/main" id="{9658883C-81AF-4D7D-9036-CFCC96E4472E}"/>
              </a:ext>
            </a:extLst>
          </p:cNvPr>
          <p:cNvSpPr>
            <a:spLocks xmlns:a="http://schemas.openxmlformats.org/drawingml/2006/main" noGrp="1"/>
          </p:cNvSpPr>
          <p:nvPr/>
        </p:nvSpPr>
        <p:spPr>
          <a:xfrm xmlns:a="http://schemas.openxmlformats.org/drawingml/2006/main">
            <a:off x="7953375" y="3571875"/>
            <a:ext cx="3190875" cy="1762125"/>
          </a:xfrm>
          <a:prstGeom xmlns:a="http://schemas.openxmlformats.org/drawingml/2006/main" prst="rect">
            <a:avLst/>
          </a:prstGeom>
          <a:solidFill xmlns:a="http://schemas.openxmlformats.org/drawingml/2006/main">
            <a:srgbClr val="112B3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81FD3EA-D2F1-4600-9786-EF35621E25ED}"/>
              </a:ext>
            </a:extLst>
          </p:cNvPr>
          <p:cNvSpPr>
            <a:spLocks xmlns:a="http://schemas.openxmlformats.org/drawingml/2006/main" noGrp="1"/>
          </p:cNvSpPr>
          <p:nvPr/>
        </p:nvSpPr>
        <p:spPr>
          <a:xfrm xmlns:a="http://schemas.openxmlformats.org/drawingml/2006/main">
            <a:off x="8181975" y="3762375"/>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48E6C1"/>
                </a:solidFill>
              </a:defRPr>
            </a:defPPr>
          </a:lstStyle>
          <a:p xmlns:a="http://schemas.openxmlformats.org/drawingml/2006/main">
            <a:pPr>
              <a:defRPr sz="1500" b="1">
                <a:solidFill>
                  <a:srgbClr val="48E6C1"/>
                </a:solidFill>
              </a:defRPr>
            </a:pPr>
            <a:r>
              <a:rPr sz="1500" b="1">
                <a:solidFill>
                  <a:srgbClr val="48E6C1"/>
                </a:solidFill>
              </a:rPr>
              <a:t>03</a:t>
            </a:r>
          </a:p>
        </p:txBody>
      </p:sp>
      <p:sp>
        <p:nvSpPr>
          <p:cNvPr id="18" name="">
            <a:extLst xmlns:a="http://schemas.openxmlformats.org/drawingml/2006/main">
              <a:ext uri="{FF2B5EF4-FFF2-40B4-BE49-F238E27FC236}">
                <a16:creationId xmlns:a16="http://schemas.microsoft.com/office/drawing/2014/main" id="{E50D58E2-F441-43F1-8E10-F8A6F4369803}"/>
              </a:ext>
            </a:extLst>
          </p:cNvPr>
          <p:cNvSpPr>
            <a:spLocks xmlns:a="http://schemas.openxmlformats.org/drawingml/2006/main" noGrp="1"/>
          </p:cNvSpPr>
          <p:nvPr/>
        </p:nvSpPr>
        <p:spPr>
          <a:xfrm xmlns:a="http://schemas.openxmlformats.org/drawingml/2006/main">
            <a:off x="8181975" y="4191000"/>
            <a:ext cx="2762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250" b="1">
                <a:solidFill>
                  <a:srgbClr val="EFF7F4"/>
                </a:solidFill>
              </a:defRPr>
            </a:defPPr>
          </a:lstStyle>
          <a:p xmlns:a="http://schemas.openxmlformats.org/drawingml/2006/main">
            <a:pPr>
              <a:defRPr sz="2250" b="1">
                <a:solidFill>
                  <a:srgbClr val="EFF7F4"/>
                </a:solidFill>
              </a:defRPr>
            </a:pPr>
            <a:r>
              <a:rPr sz="2250" b="1">
                <a:solidFill>
                  <a:srgbClr val="EFF7F4"/>
                </a:solidFill>
              </a:rPr>
              <a:t>Prepare</a:t>
            </a:r>
          </a:p>
        </p:txBody>
      </p:sp>
      <p:sp>
        <p:nvSpPr>
          <p:cNvPr id="19" name="">
            <a:extLst xmlns:a="http://schemas.openxmlformats.org/drawingml/2006/main">
              <a:ext uri="{FF2B5EF4-FFF2-40B4-BE49-F238E27FC236}">
                <a16:creationId xmlns:a16="http://schemas.microsoft.com/office/drawing/2014/main" id="{C8D5E3E3-F06E-4C34-97F3-B7F2217241B5}"/>
              </a:ext>
            </a:extLst>
          </p:cNvPr>
          <p:cNvSpPr>
            <a:spLocks xmlns:a="http://schemas.openxmlformats.org/drawingml/2006/main" noGrp="1"/>
          </p:cNvSpPr>
          <p:nvPr/>
        </p:nvSpPr>
        <p:spPr>
          <a:xfrm xmlns:a="http://schemas.openxmlformats.org/drawingml/2006/main">
            <a:off x="8181975" y="474345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A9BFC2"/>
                </a:solidFill>
              </a:defRPr>
            </a:defPPr>
          </a:lstStyle>
          <a:p xmlns:a="http://schemas.openxmlformats.org/drawingml/2006/main">
            <a:pPr>
              <a:defRPr sz="1350" b="0">
                <a:solidFill>
                  <a:srgbClr val="A9BFC2"/>
                </a:solidFill>
              </a:defRPr>
            </a:pPr>
            <a:r>
              <a:rPr sz="1350" b="0">
                <a:solidFill>
                  <a:srgbClr val="A9BFC2"/>
                </a:solidFill>
              </a:rPr>
              <a:t>Hospital advisory and backup plan</a:t>
            </a:r>
          </a:p>
        </p:txBody>
      </p:sp>
    </p:spTree>
    <p:extLst>
      <p:ext uri="{BB962C8B-B14F-4D97-AF65-F5344CB8AC3E}">
        <p14:creationId xmlns:p14="http://schemas.microsoft.com/office/powerpoint/2010/main" val="1210075626"/>
      </p:ext>
    </p:extLst>
  </p:cSld>
</p:sld>
</file>

<file path=ppt/slides/slide3.xml><?xml version="1.0" encoding="utf-8"?>
<p:sld xmlns:p="http://schemas.openxmlformats.org/presentationml/2006/main">
  <p:cSld>
    <p:bg>
      <p:bgPr>
        <a:solidFill xmlns:a="http://schemas.openxmlformats.org/drawingml/2006/main">
          <a:srgbClr val="0B1C29"/>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DC32BB8-AFBA-48FB-8AF2-D199E2699F89}"/>
              </a:ext>
            </a:extLst>
          </p:cNvPr>
          <p:cNvSpPr>
            <a:spLocks xmlns:a="http://schemas.openxmlformats.org/drawingml/2006/main" noGrp="1"/>
          </p:cNvSpPr>
          <p:nvPr/>
        </p:nvSpPr>
        <p:spPr>
          <a:xfrm xmlns:a="http://schemas.openxmlformats.org/drawingml/2006/main">
            <a:off x="685800" y="514350"/>
            <a:ext cx="419100" cy="47625"/>
          </a:xfrm>
          <a:prstGeom xmlns:a="http://schemas.openxmlformats.org/drawingml/2006/main" prst="rect">
            <a:avLst/>
          </a:prstGeom>
          <a:solidFill xmlns:a="http://schemas.openxmlformats.org/drawingml/2006/main">
            <a:srgbClr val="48E6C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A744161-094E-4226-9FF0-9C37E3B70778}"/>
              </a:ext>
            </a:extLst>
          </p:cNvPr>
          <p:cNvSpPr>
            <a:spLocks xmlns:a="http://schemas.openxmlformats.org/drawingml/2006/main" noGrp="1"/>
          </p:cNvSpPr>
          <p:nvPr/>
        </p:nvSpPr>
        <p:spPr>
          <a:xfrm xmlns:a="http://schemas.openxmlformats.org/drawingml/2006/main">
            <a:off x="685800" y="66675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48E6C1"/>
                </a:solidFill>
              </a:defRPr>
            </a:defPPr>
          </a:lstStyle>
          <a:p xmlns:a="http://schemas.openxmlformats.org/drawingml/2006/main">
            <a:pPr>
              <a:defRPr sz="975" b="1">
                <a:solidFill>
                  <a:srgbClr val="48E6C1"/>
                </a:solidFill>
              </a:defRPr>
            </a:pPr>
            <a:r>
              <a:rPr sz="975" b="1">
                <a:solidFill>
                  <a:srgbClr val="48E6C1"/>
                </a:solidFill>
              </a:rPr>
              <a:t>ALLPOWER  /  AI FOR GOOD</a:t>
            </a:r>
          </a:p>
        </p:txBody>
      </p:sp>
      <p:sp>
        <p:nvSpPr>
          <p:cNvPr id="3" name="">
            <a:extLst xmlns:a="http://schemas.openxmlformats.org/drawingml/2006/main">
              <a:ext uri="{FF2B5EF4-FFF2-40B4-BE49-F238E27FC236}">
                <a16:creationId xmlns:a16="http://schemas.microsoft.com/office/drawing/2014/main" id="{3CAD1E4E-BE83-42FD-A531-6FA43939D741}"/>
              </a:ext>
            </a:extLst>
          </p:cNvPr>
          <p:cNvSpPr>
            <a:spLocks xmlns:a="http://schemas.openxmlformats.org/drawingml/2006/main" noGrp="1"/>
          </p:cNvSpPr>
          <p:nvPr/>
        </p:nvSpPr>
        <p:spPr>
          <a:xfrm xmlns:a="http://schemas.openxmlformats.org/drawingml/2006/main">
            <a:off x="11049000" y="590550"/>
            <a:ext cx="47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A9BFC2"/>
                </a:solidFill>
              </a:defRPr>
            </a:defPPr>
          </a:lstStyle>
          <a:p xmlns:a="http://schemas.openxmlformats.org/drawingml/2006/main">
            <a:pPr>
              <a:defRPr sz="1200" b="1">
                <a:solidFill>
                  <a:srgbClr val="A9BFC2"/>
                </a:solidFill>
              </a:defRPr>
            </a:pPr>
            <a:r>
              <a:rPr sz="1200" b="1">
                <a:solidFill>
                  <a:srgbClr val="A9BFC2"/>
                </a:solidFill>
              </a:rPr>
              <a:t>03</a:t>
            </a:r>
          </a:p>
        </p:txBody>
      </p:sp>
      <p:sp>
        <p:nvSpPr>
          <p:cNvPr id="4" name="">
            <a:extLst xmlns:a="http://schemas.openxmlformats.org/drawingml/2006/main">
              <a:ext uri="{FF2B5EF4-FFF2-40B4-BE49-F238E27FC236}">
                <a16:creationId xmlns:a16="http://schemas.microsoft.com/office/drawing/2014/main" id="{4D8B4484-5313-4A9C-B6C4-03DAF614B345}"/>
              </a:ext>
            </a:extLst>
          </p:cNvPr>
          <p:cNvSpPr>
            <a:spLocks xmlns:a="http://schemas.openxmlformats.org/drawingml/2006/main" noGrp="1"/>
          </p:cNvSpPr>
          <p:nvPr/>
        </p:nvSpPr>
        <p:spPr>
          <a:xfrm xmlns:a="http://schemas.openxmlformats.org/drawingml/2006/main">
            <a:off x="685800" y="6181725"/>
            <a:ext cx="10820400" cy="9525"/>
          </a:xfrm>
          <a:prstGeom xmlns:a="http://schemas.openxmlformats.org/drawingml/2006/main" prst="rect">
            <a:avLst/>
          </a:prstGeom>
          <a:solidFill xmlns:a="http://schemas.openxmlformats.org/drawingml/2006/main">
            <a:srgbClr val="3A586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601B84D-F7B5-485A-B0D2-747261FC980B}"/>
              </a:ext>
            </a:extLst>
          </p:cNvPr>
          <p:cNvSpPr>
            <a:spLocks xmlns:a="http://schemas.openxmlformats.org/drawingml/2006/main" noGrp="1"/>
          </p:cNvSpPr>
          <p:nvPr/>
        </p:nvSpPr>
        <p:spPr>
          <a:xfrm xmlns:a="http://schemas.openxmlformats.org/drawingml/2006/main">
            <a:off x="685800" y="6296025"/>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b="1">
                <a:solidFill>
                  <a:srgbClr val="A9BFC2"/>
                </a:solidFill>
              </a:defRPr>
            </a:defPPr>
          </a:lstStyle>
          <a:p xmlns:a="http://schemas.openxmlformats.org/drawingml/2006/main">
            <a:pPr>
              <a:defRPr sz="825" b="1">
                <a:solidFill>
                  <a:srgbClr val="A9BFC2"/>
                </a:solidFill>
              </a:defRPr>
            </a:pPr>
            <a:r>
              <a:rPr sz="825" b="1">
                <a:solidFill>
                  <a:srgbClr val="A9BFC2"/>
                </a:solidFill>
              </a:rPr>
              <a:t>DATA CONTRACT</a:t>
            </a:r>
          </a:p>
        </p:txBody>
      </p:sp>
      <p:sp>
        <p:nvSpPr>
          <p:cNvPr id="6" name="">
            <a:extLst xmlns:a="http://schemas.openxmlformats.org/drawingml/2006/main">
              <a:ext uri="{FF2B5EF4-FFF2-40B4-BE49-F238E27FC236}">
                <a16:creationId xmlns:a16="http://schemas.microsoft.com/office/drawing/2014/main" id="{83DFD330-E88A-4673-AEB5-7949FFF014A7}"/>
              </a:ext>
            </a:extLst>
          </p:cNvPr>
          <p:cNvSpPr>
            <a:spLocks xmlns:a="http://schemas.openxmlformats.org/drawingml/2006/main" noGrp="1"/>
          </p:cNvSpPr>
          <p:nvPr/>
        </p:nvSpPr>
        <p:spPr>
          <a:xfrm xmlns:a="http://schemas.openxmlformats.org/drawingml/2006/main">
            <a:off x="685800" y="1143000"/>
            <a:ext cx="10668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900" b="1">
                <a:solidFill>
                  <a:srgbClr val="EFF7F4"/>
                </a:solidFill>
              </a:defRPr>
            </a:defPPr>
          </a:lstStyle>
          <a:p xmlns:a="http://schemas.openxmlformats.org/drawingml/2006/main">
            <a:pPr>
              <a:defRPr sz="3900" b="1">
                <a:solidFill>
                  <a:srgbClr val="EFF7F4"/>
                </a:solidFill>
              </a:defRPr>
            </a:pPr>
            <a:r>
              <a:rPr sz="3900" b="1">
                <a:solidFill>
                  <a:srgbClr val="EFF7F4"/>
                </a:solidFill>
              </a:rPr>
              <a:t>Texas setting, clear data boundaries</a:t>
            </a:r>
          </a:p>
        </p:txBody>
      </p:sp>
      <p:sp>
        <p:nvSpPr>
          <p:cNvPr id="7" name="">
            <a:extLst xmlns:a="http://schemas.openxmlformats.org/drawingml/2006/main">
              <a:ext uri="{FF2B5EF4-FFF2-40B4-BE49-F238E27FC236}">
                <a16:creationId xmlns:a16="http://schemas.microsoft.com/office/drawing/2014/main" id="{0DB5D810-DAFC-4C7C-8524-BBA59F20DEF8}"/>
              </a:ext>
            </a:extLst>
          </p:cNvPr>
          <p:cNvSpPr>
            <a:spLocks xmlns:a="http://schemas.openxmlformats.org/drawingml/2006/main" noGrp="1"/>
          </p:cNvSpPr>
          <p:nvPr/>
        </p:nvSpPr>
        <p:spPr>
          <a:xfrm xmlns:a="http://schemas.openxmlformats.org/drawingml/2006/main">
            <a:off x="704850" y="2390775"/>
            <a:ext cx="1000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0">
                <a:solidFill>
                  <a:srgbClr val="A9BFC2"/>
                </a:solidFill>
              </a:defRPr>
            </a:defPPr>
          </a:lstStyle>
          <a:p xmlns:a="http://schemas.openxmlformats.org/drawingml/2006/main">
            <a:pPr>
              <a:defRPr sz="1650" b="0">
                <a:solidFill>
                  <a:srgbClr val="A9BFC2"/>
                </a:solidFill>
              </a:defRPr>
            </a:pPr>
            <a:r>
              <a:rPr sz="1650" b="0">
                <a:solidFill>
                  <a:srgbClr val="A9BFC2"/>
                </a:solidFill>
              </a:rPr>
              <a:t>Southeast Texas is the pilot setting. Bayou Regional Hospital is fictional.</a:t>
            </a:r>
          </a:p>
        </p:txBody>
      </p:sp>
      <p:sp>
        <p:nvSpPr>
          <p:cNvPr id="8" name="">
            <a:extLst xmlns:a="http://schemas.openxmlformats.org/drawingml/2006/main">
              <a:ext uri="{FF2B5EF4-FFF2-40B4-BE49-F238E27FC236}">
                <a16:creationId xmlns:a16="http://schemas.microsoft.com/office/drawing/2014/main" id="{FE7C1212-14DA-47A4-AE03-9B91DC4FD4CD}"/>
              </a:ext>
            </a:extLst>
          </p:cNvPr>
          <p:cNvSpPr>
            <a:spLocks xmlns:a="http://schemas.openxmlformats.org/drawingml/2006/main" noGrp="1"/>
          </p:cNvSpPr>
          <p:nvPr/>
        </p:nvSpPr>
        <p:spPr>
          <a:xfrm xmlns:a="http://schemas.openxmlformats.org/drawingml/2006/main">
            <a:off x="704850" y="3390900"/>
            <a:ext cx="10753725" cy="9525"/>
          </a:xfrm>
          <a:prstGeom xmlns:a="http://schemas.openxmlformats.org/drawingml/2006/main" prst="rect">
            <a:avLst/>
          </a:prstGeom>
          <a:solidFill xmlns:a="http://schemas.openxmlformats.org/drawingml/2006/main">
            <a:srgbClr val="3A586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72965C1-0C00-4368-ABF7-81CE56DFF8E8}"/>
              </a:ext>
            </a:extLst>
          </p:cNvPr>
          <p:cNvSpPr>
            <a:spLocks xmlns:a="http://schemas.openxmlformats.org/drawingml/2006/main" noGrp="1"/>
          </p:cNvSpPr>
          <p:nvPr/>
        </p:nvSpPr>
        <p:spPr>
          <a:xfrm xmlns:a="http://schemas.openxmlformats.org/drawingml/2006/main">
            <a:off x="752475" y="3505200"/>
            <a:ext cx="24288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EFF7F4"/>
                </a:solidFill>
              </a:defRPr>
            </a:defPPr>
          </a:lstStyle>
          <a:p xmlns:a="http://schemas.openxmlformats.org/drawingml/2006/main">
            <a:pPr>
              <a:defRPr sz="1500" b="1">
                <a:solidFill>
                  <a:srgbClr val="EFF7F4"/>
                </a:solidFill>
              </a:defRPr>
            </a:pPr>
            <a:r>
              <a:rPr sz="1500" b="1">
                <a:solidFill>
                  <a:srgbClr val="EFF7F4"/>
                </a:solidFill>
              </a:rPr>
              <a:t>Demand</a:t>
            </a:r>
          </a:p>
        </p:txBody>
      </p:sp>
      <p:sp>
        <p:nvSpPr>
          <p:cNvPr id="10" name="">
            <a:extLst xmlns:a="http://schemas.openxmlformats.org/drawingml/2006/main">
              <a:ext uri="{FF2B5EF4-FFF2-40B4-BE49-F238E27FC236}">
                <a16:creationId xmlns:a16="http://schemas.microsoft.com/office/drawing/2014/main" id="{35E90410-24C2-4B7F-9647-34EC78F0E2E9}"/>
              </a:ext>
            </a:extLst>
          </p:cNvPr>
          <p:cNvSpPr>
            <a:spLocks xmlns:a="http://schemas.openxmlformats.org/drawingml/2006/main" noGrp="1"/>
          </p:cNvSpPr>
          <p:nvPr/>
        </p:nvSpPr>
        <p:spPr>
          <a:xfrm xmlns:a="http://schemas.openxmlformats.org/drawingml/2006/main">
            <a:off x="3429000" y="3505200"/>
            <a:ext cx="3524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FFC06E"/>
                </a:solidFill>
              </a:defRPr>
            </a:defPPr>
          </a:lstStyle>
          <a:p xmlns:a="http://schemas.openxmlformats.org/drawingml/2006/main">
            <a:pPr>
              <a:defRPr sz="1350" b="0">
                <a:solidFill>
                  <a:srgbClr val="FFC06E"/>
                </a:solidFill>
              </a:defRPr>
            </a:pPr>
            <a:r>
              <a:rPr sz="1350" b="0">
                <a:solidFill>
                  <a:srgbClr val="FFC06E"/>
                </a:solidFill>
              </a:rPr>
              <a:t>Simulated in shipped replay</a:t>
            </a:r>
          </a:p>
        </p:txBody>
      </p:sp>
      <p:sp>
        <p:nvSpPr>
          <p:cNvPr id="11" name="">
            <a:extLst xmlns:a="http://schemas.openxmlformats.org/drawingml/2006/main">
              <a:ext uri="{FF2B5EF4-FFF2-40B4-BE49-F238E27FC236}">
                <a16:creationId xmlns:a16="http://schemas.microsoft.com/office/drawing/2014/main" id="{15071A1A-43AD-4CB5-95A4-B40A62B17771}"/>
              </a:ext>
            </a:extLst>
          </p:cNvPr>
          <p:cNvSpPr>
            <a:spLocks xmlns:a="http://schemas.openxmlformats.org/drawingml/2006/main" noGrp="1"/>
          </p:cNvSpPr>
          <p:nvPr/>
        </p:nvSpPr>
        <p:spPr>
          <a:xfrm xmlns:a="http://schemas.openxmlformats.org/drawingml/2006/main">
            <a:off x="7200900" y="3505200"/>
            <a:ext cx="4048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A9BFC2"/>
                </a:solidFill>
              </a:defRPr>
            </a:defPPr>
          </a:lstStyle>
          <a:p xmlns:a="http://schemas.openxmlformats.org/drawingml/2006/main">
            <a:pPr>
              <a:defRPr sz="1275" b="0">
                <a:solidFill>
                  <a:srgbClr val="A9BFC2"/>
                </a:solidFill>
              </a:defRPr>
            </a:pPr>
            <a:r>
              <a:rPr sz="1275" b="0">
                <a:solidFill>
                  <a:srgbClr val="A9BFC2"/>
                </a:solidFill>
              </a:rPr>
              <a:t>Official ERCOT/EIA import path</a:t>
            </a:r>
          </a:p>
        </p:txBody>
      </p:sp>
      <p:sp>
        <p:nvSpPr>
          <p:cNvPr id="12" name="">
            <a:extLst xmlns:a="http://schemas.openxmlformats.org/drawingml/2006/main">
              <a:ext uri="{FF2B5EF4-FFF2-40B4-BE49-F238E27FC236}">
                <a16:creationId xmlns:a16="http://schemas.microsoft.com/office/drawing/2014/main" id="{ADC3DF87-0035-4C54-A641-81992C60C2EE}"/>
              </a:ext>
            </a:extLst>
          </p:cNvPr>
          <p:cNvSpPr>
            <a:spLocks xmlns:a="http://schemas.openxmlformats.org/drawingml/2006/main" noGrp="1"/>
          </p:cNvSpPr>
          <p:nvPr/>
        </p:nvSpPr>
        <p:spPr>
          <a:xfrm xmlns:a="http://schemas.openxmlformats.org/drawingml/2006/main">
            <a:off x="704850" y="4010025"/>
            <a:ext cx="10753725" cy="9525"/>
          </a:xfrm>
          <a:prstGeom xmlns:a="http://schemas.openxmlformats.org/drawingml/2006/main" prst="rect">
            <a:avLst/>
          </a:prstGeom>
          <a:solidFill xmlns:a="http://schemas.openxmlformats.org/drawingml/2006/main">
            <a:srgbClr val="3A586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2752978-A05E-42BB-9803-24EF511BFB32}"/>
              </a:ext>
            </a:extLst>
          </p:cNvPr>
          <p:cNvSpPr>
            <a:spLocks xmlns:a="http://schemas.openxmlformats.org/drawingml/2006/main" noGrp="1"/>
          </p:cNvSpPr>
          <p:nvPr/>
        </p:nvSpPr>
        <p:spPr>
          <a:xfrm xmlns:a="http://schemas.openxmlformats.org/drawingml/2006/main">
            <a:off x="752475" y="4124325"/>
            <a:ext cx="24288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EFF7F4"/>
                </a:solidFill>
              </a:defRPr>
            </a:defPPr>
          </a:lstStyle>
          <a:p xmlns:a="http://schemas.openxmlformats.org/drawingml/2006/main">
            <a:pPr>
              <a:defRPr sz="1500" b="1">
                <a:solidFill>
                  <a:srgbClr val="EFF7F4"/>
                </a:solidFill>
              </a:defRPr>
            </a:pPr>
            <a:r>
              <a:rPr sz="1500" b="1">
                <a:solidFill>
                  <a:srgbClr val="EFF7F4"/>
                </a:solidFill>
              </a:rPr>
              <a:t>Supply and reserve</a:t>
            </a:r>
          </a:p>
        </p:txBody>
      </p:sp>
      <p:sp>
        <p:nvSpPr>
          <p:cNvPr id="14" name="">
            <a:extLst xmlns:a="http://schemas.openxmlformats.org/drawingml/2006/main">
              <a:ext uri="{FF2B5EF4-FFF2-40B4-BE49-F238E27FC236}">
                <a16:creationId xmlns:a16="http://schemas.microsoft.com/office/drawing/2014/main" id="{0200008E-99FC-4A6A-B306-70454D980AEA}"/>
              </a:ext>
            </a:extLst>
          </p:cNvPr>
          <p:cNvSpPr>
            <a:spLocks xmlns:a="http://schemas.openxmlformats.org/drawingml/2006/main" noGrp="1"/>
          </p:cNvSpPr>
          <p:nvPr/>
        </p:nvSpPr>
        <p:spPr>
          <a:xfrm xmlns:a="http://schemas.openxmlformats.org/drawingml/2006/main">
            <a:off x="3429000" y="4124325"/>
            <a:ext cx="3524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FFC06E"/>
                </a:solidFill>
              </a:defRPr>
            </a:defPPr>
          </a:lstStyle>
          <a:p xmlns:a="http://schemas.openxmlformats.org/drawingml/2006/main">
            <a:pPr>
              <a:defRPr sz="1350" b="0">
                <a:solidFill>
                  <a:srgbClr val="FFC06E"/>
                </a:solidFill>
              </a:defRPr>
            </a:pPr>
            <a:r>
              <a:rPr sz="1350" b="0">
                <a:solidFill>
                  <a:srgbClr val="FFC06E"/>
                </a:solidFill>
              </a:rPr>
              <a:t>Scenario assumptions</a:t>
            </a:r>
          </a:p>
        </p:txBody>
      </p:sp>
      <p:sp>
        <p:nvSpPr>
          <p:cNvPr id="15" name="">
            <a:extLst xmlns:a="http://schemas.openxmlformats.org/drawingml/2006/main">
              <a:ext uri="{FF2B5EF4-FFF2-40B4-BE49-F238E27FC236}">
                <a16:creationId xmlns:a16="http://schemas.microsoft.com/office/drawing/2014/main" id="{EEF125B5-FDFB-49C2-A157-D2AEF1F44AEB}"/>
              </a:ext>
            </a:extLst>
          </p:cNvPr>
          <p:cNvSpPr>
            <a:spLocks xmlns:a="http://schemas.openxmlformats.org/drawingml/2006/main" noGrp="1"/>
          </p:cNvSpPr>
          <p:nvPr/>
        </p:nvSpPr>
        <p:spPr>
          <a:xfrm xmlns:a="http://schemas.openxmlformats.org/drawingml/2006/main">
            <a:off x="7200900" y="4124325"/>
            <a:ext cx="4048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A9BFC2"/>
                </a:solidFill>
              </a:defRPr>
            </a:defPPr>
          </a:lstStyle>
          <a:p xmlns:a="http://schemas.openxmlformats.org/drawingml/2006/main">
            <a:pPr>
              <a:defRPr sz="1275" b="0">
                <a:solidFill>
                  <a:srgbClr val="A9BFC2"/>
                </a:solidFill>
              </a:defRPr>
            </a:pPr>
            <a:r>
              <a:rPr sz="1275" b="0">
                <a:solidFill>
                  <a:srgbClr val="A9BFC2"/>
                </a:solidFill>
              </a:rPr>
              <a:t>ERCOT adequacy path to validate</a:t>
            </a:r>
          </a:p>
        </p:txBody>
      </p:sp>
      <p:sp>
        <p:nvSpPr>
          <p:cNvPr id="16" name="">
            <a:extLst xmlns:a="http://schemas.openxmlformats.org/drawingml/2006/main">
              <a:ext uri="{FF2B5EF4-FFF2-40B4-BE49-F238E27FC236}">
                <a16:creationId xmlns:a16="http://schemas.microsoft.com/office/drawing/2014/main" id="{6846175F-C037-4C2E-97F2-D492E996CE68}"/>
              </a:ext>
            </a:extLst>
          </p:cNvPr>
          <p:cNvSpPr>
            <a:spLocks xmlns:a="http://schemas.openxmlformats.org/drawingml/2006/main" noGrp="1"/>
          </p:cNvSpPr>
          <p:nvPr/>
        </p:nvSpPr>
        <p:spPr>
          <a:xfrm xmlns:a="http://schemas.openxmlformats.org/drawingml/2006/main">
            <a:off x="704850" y="4629150"/>
            <a:ext cx="10753725" cy="9525"/>
          </a:xfrm>
          <a:prstGeom xmlns:a="http://schemas.openxmlformats.org/drawingml/2006/main" prst="rect">
            <a:avLst/>
          </a:prstGeom>
          <a:solidFill xmlns:a="http://schemas.openxmlformats.org/drawingml/2006/main">
            <a:srgbClr val="3A5863"/>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35BB9DC-6BBF-4250-8E98-EEAFB021DDE1}"/>
              </a:ext>
            </a:extLst>
          </p:cNvPr>
          <p:cNvSpPr>
            <a:spLocks xmlns:a="http://schemas.openxmlformats.org/drawingml/2006/main" noGrp="1"/>
          </p:cNvSpPr>
          <p:nvPr/>
        </p:nvSpPr>
        <p:spPr>
          <a:xfrm xmlns:a="http://schemas.openxmlformats.org/drawingml/2006/main">
            <a:off x="752475" y="4743450"/>
            <a:ext cx="24288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EFF7F4"/>
                </a:solidFill>
              </a:defRPr>
            </a:defPPr>
          </a:lstStyle>
          <a:p xmlns:a="http://schemas.openxmlformats.org/drawingml/2006/main">
            <a:pPr>
              <a:defRPr sz="1500" b="1">
                <a:solidFill>
                  <a:srgbClr val="EFF7F4"/>
                </a:solidFill>
              </a:defRPr>
            </a:pPr>
            <a:r>
              <a:rPr sz="1500" b="1">
                <a:solidFill>
                  <a:srgbClr val="EFF7F4"/>
                </a:solidFill>
              </a:rPr>
              <a:t>Asset finding</a:t>
            </a:r>
          </a:p>
        </p:txBody>
      </p:sp>
      <p:sp>
        <p:nvSpPr>
          <p:cNvPr id="18" name="">
            <a:extLst xmlns:a="http://schemas.openxmlformats.org/drawingml/2006/main">
              <a:ext uri="{FF2B5EF4-FFF2-40B4-BE49-F238E27FC236}">
                <a16:creationId xmlns:a16="http://schemas.microsoft.com/office/drawing/2014/main" id="{7FF86573-7422-4384-AE54-02948480CB27}"/>
              </a:ext>
            </a:extLst>
          </p:cNvPr>
          <p:cNvSpPr>
            <a:spLocks xmlns:a="http://schemas.openxmlformats.org/drawingml/2006/main" noGrp="1"/>
          </p:cNvSpPr>
          <p:nvPr/>
        </p:nvSpPr>
        <p:spPr>
          <a:xfrm xmlns:a="http://schemas.openxmlformats.org/drawingml/2006/main">
            <a:off x="3429000" y="4743450"/>
            <a:ext cx="3524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FFC06E"/>
                </a:solidFill>
              </a:defRPr>
            </a:defPPr>
          </a:lstStyle>
          <a:p xmlns:a="http://schemas.openxmlformats.org/drawingml/2006/main">
            <a:pPr>
              <a:defRPr sz="1350" b="0">
                <a:solidFill>
                  <a:srgbClr val="FFC06E"/>
                </a:solidFill>
              </a:defRPr>
            </a:pPr>
            <a:r>
              <a:rPr sz="1350" b="0">
                <a:solidFill>
                  <a:srgbClr val="FFC06E"/>
                </a:solidFill>
              </a:rPr>
              <a:t>Scripted scenario concern</a:t>
            </a:r>
          </a:p>
        </p:txBody>
      </p:sp>
      <p:sp>
        <p:nvSpPr>
          <p:cNvPr id="19" name="">
            <a:extLst xmlns:a="http://schemas.openxmlformats.org/drawingml/2006/main">
              <a:ext uri="{FF2B5EF4-FFF2-40B4-BE49-F238E27FC236}">
                <a16:creationId xmlns:a16="http://schemas.microsoft.com/office/drawing/2014/main" id="{9096FBF1-0088-4040-8FAD-25BB3CD55CC8}"/>
              </a:ext>
            </a:extLst>
          </p:cNvPr>
          <p:cNvSpPr>
            <a:spLocks xmlns:a="http://schemas.openxmlformats.org/drawingml/2006/main" noGrp="1"/>
          </p:cNvSpPr>
          <p:nvPr/>
        </p:nvSpPr>
        <p:spPr>
          <a:xfrm xmlns:a="http://schemas.openxmlformats.org/drawingml/2006/main">
            <a:off x="7200900" y="4743450"/>
            <a:ext cx="4048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A9BFC2"/>
                </a:solidFill>
              </a:defRPr>
            </a:defPPr>
          </a:lstStyle>
          <a:p xmlns:a="http://schemas.openxmlformats.org/drawingml/2006/main">
            <a:pPr>
              <a:defRPr sz="1275" b="0">
                <a:solidFill>
                  <a:srgbClr val="A9BFC2"/>
                </a:solidFill>
              </a:defRPr>
            </a:pPr>
            <a:r>
              <a:rPr sz="1275" b="0">
                <a:solidFill>
                  <a:srgbClr val="A9BFC2"/>
                </a:solidFill>
              </a:rPr>
              <a:t>InsPLAD model work is staged</a:t>
            </a:r>
          </a:p>
        </p:txBody>
      </p:sp>
      <p:sp>
        <p:nvSpPr>
          <p:cNvPr id="20" name="">
            <a:extLst xmlns:a="http://schemas.openxmlformats.org/drawingml/2006/main">
              <a:ext uri="{FF2B5EF4-FFF2-40B4-BE49-F238E27FC236}">
                <a16:creationId xmlns:a16="http://schemas.microsoft.com/office/drawing/2014/main" id="{BB56538A-A692-4341-B943-E267A285A680}"/>
              </a:ext>
            </a:extLst>
          </p:cNvPr>
          <p:cNvSpPr>
            <a:spLocks xmlns:a="http://schemas.openxmlformats.org/drawingml/2006/main" noGrp="1"/>
          </p:cNvSpPr>
          <p:nvPr/>
        </p:nvSpPr>
        <p:spPr>
          <a:xfrm xmlns:a="http://schemas.openxmlformats.org/drawingml/2006/main">
            <a:off x="704850" y="5248275"/>
            <a:ext cx="10753725" cy="9525"/>
          </a:xfrm>
          <a:prstGeom xmlns:a="http://schemas.openxmlformats.org/drawingml/2006/main" prst="rect">
            <a:avLst/>
          </a:prstGeom>
          <a:solidFill xmlns:a="http://schemas.openxmlformats.org/drawingml/2006/main">
            <a:srgbClr val="3A5863"/>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9ABDBD5-FE8C-4208-A116-C0E2F1962011}"/>
              </a:ext>
            </a:extLst>
          </p:cNvPr>
          <p:cNvSpPr>
            <a:spLocks xmlns:a="http://schemas.openxmlformats.org/drawingml/2006/main" noGrp="1"/>
          </p:cNvSpPr>
          <p:nvPr/>
        </p:nvSpPr>
        <p:spPr>
          <a:xfrm xmlns:a="http://schemas.openxmlformats.org/drawingml/2006/main">
            <a:off x="752475" y="5362575"/>
            <a:ext cx="24288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EFF7F4"/>
                </a:solidFill>
              </a:defRPr>
            </a:defPPr>
          </a:lstStyle>
          <a:p xmlns:a="http://schemas.openxmlformats.org/drawingml/2006/main">
            <a:pPr>
              <a:defRPr sz="1500" b="1">
                <a:solidFill>
                  <a:srgbClr val="EFF7F4"/>
                </a:solidFill>
              </a:defRPr>
            </a:pPr>
            <a:r>
              <a:rPr sz="1500" b="1">
                <a:solidFill>
                  <a:srgbClr val="EFF7F4"/>
                </a:solidFill>
              </a:rPr>
              <a:t>Hospital resources</a:t>
            </a:r>
          </a:p>
        </p:txBody>
      </p:sp>
      <p:sp>
        <p:nvSpPr>
          <p:cNvPr id="22" name="">
            <a:extLst xmlns:a="http://schemas.openxmlformats.org/drawingml/2006/main">
              <a:ext uri="{FF2B5EF4-FFF2-40B4-BE49-F238E27FC236}">
                <a16:creationId xmlns:a16="http://schemas.microsoft.com/office/drawing/2014/main" id="{382EB7FE-E1B9-4E32-B8E7-33571F90A0C2}"/>
              </a:ext>
            </a:extLst>
          </p:cNvPr>
          <p:cNvSpPr>
            <a:spLocks xmlns:a="http://schemas.openxmlformats.org/drawingml/2006/main" noGrp="1"/>
          </p:cNvSpPr>
          <p:nvPr/>
        </p:nvSpPr>
        <p:spPr>
          <a:xfrm xmlns:a="http://schemas.openxmlformats.org/drawingml/2006/main">
            <a:off x="3429000" y="5362575"/>
            <a:ext cx="3524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FFC06E"/>
                </a:solidFill>
              </a:defRPr>
            </a:defPPr>
          </a:lstStyle>
          <a:p xmlns:a="http://schemas.openxmlformats.org/drawingml/2006/main">
            <a:pPr>
              <a:defRPr sz="1350" b="0">
                <a:solidFill>
                  <a:srgbClr val="FFC06E"/>
                </a:solidFill>
              </a:defRPr>
            </a:pPr>
            <a:r>
              <a:rPr sz="1350" b="0">
                <a:solidFill>
                  <a:srgbClr val="FFC06E"/>
                </a:solidFill>
              </a:rPr>
              <a:t>Fictional assumptions</a:t>
            </a:r>
          </a:p>
        </p:txBody>
      </p:sp>
      <p:sp>
        <p:nvSpPr>
          <p:cNvPr id="23" name="">
            <a:extLst xmlns:a="http://schemas.openxmlformats.org/drawingml/2006/main">
              <a:ext uri="{FF2B5EF4-FFF2-40B4-BE49-F238E27FC236}">
                <a16:creationId xmlns:a16="http://schemas.microsoft.com/office/drawing/2014/main" id="{AC1DA9FE-44FF-444F-8A2D-F7B196EE993A}"/>
              </a:ext>
            </a:extLst>
          </p:cNvPr>
          <p:cNvSpPr>
            <a:spLocks xmlns:a="http://schemas.openxmlformats.org/drawingml/2006/main" noGrp="1"/>
          </p:cNvSpPr>
          <p:nvPr/>
        </p:nvSpPr>
        <p:spPr>
          <a:xfrm xmlns:a="http://schemas.openxmlformats.org/drawingml/2006/main">
            <a:off x="7200900" y="5362575"/>
            <a:ext cx="4048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A9BFC2"/>
                </a:solidFill>
              </a:defRPr>
            </a:defPPr>
          </a:lstStyle>
          <a:p xmlns:a="http://schemas.openxmlformats.org/drawingml/2006/main">
            <a:pPr>
              <a:defRPr sz="1275" b="0">
                <a:solidFill>
                  <a:srgbClr val="A9BFC2"/>
                </a:solidFill>
              </a:defRPr>
            </a:pPr>
            <a:r>
              <a:rPr sz="1275" b="0">
                <a:solidFill>
                  <a:srgbClr val="A9BFC2"/>
                </a:solidFill>
              </a:rPr>
              <a:t>No facility partnership claim</a:t>
            </a:r>
          </a:p>
        </p:txBody>
      </p:sp>
    </p:spTree>
    <p:extLst>
      <p:ext uri="{BB962C8B-B14F-4D97-AF65-F5344CB8AC3E}">
        <p14:creationId xmlns:p14="http://schemas.microsoft.com/office/powerpoint/2010/main" val="1278302520"/>
      </p:ext>
    </p:extLst>
  </p:cSld>
</p:sld>
</file>

<file path=ppt/slides/slide4.xml><?xml version="1.0" encoding="utf-8"?>
<p:sld xmlns:p="http://schemas.openxmlformats.org/presentationml/2006/main">
  <p:cSld>
    <p:bg>
      <p:bgPr>
        <a:solidFill xmlns:a="http://schemas.openxmlformats.org/drawingml/2006/main">
          <a:srgbClr val="0B1C2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4B43FA7-C83B-4467-AF4A-10BBEACE2538}"/>
              </a:ext>
            </a:extLst>
          </p:cNvPr>
          <p:cNvSpPr>
            <a:spLocks xmlns:a="http://schemas.openxmlformats.org/drawingml/2006/main" noGrp="1"/>
          </p:cNvSpPr>
          <p:nvPr/>
        </p:nvSpPr>
        <p:spPr>
          <a:xfrm xmlns:a="http://schemas.openxmlformats.org/drawingml/2006/main">
            <a:off x="685800" y="514350"/>
            <a:ext cx="419100" cy="47625"/>
          </a:xfrm>
          <a:prstGeom xmlns:a="http://schemas.openxmlformats.org/drawingml/2006/main" prst="rect">
            <a:avLst/>
          </a:prstGeom>
          <a:solidFill xmlns:a="http://schemas.openxmlformats.org/drawingml/2006/main">
            <a:srgbClr val="48E6C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92FE1A2-3446-4759-8634-6FE0872C56EF}"/>
              </a:ext>
            </a:extLst>
          </p:cNvPr>
          <p:cNvSpPr>
            <a:spLocks xmlns:a="http://schemas.openxmlformats.org/drawingml/2006/main" noGrp="1"/>
          </p:cNvSpPr>
          <p:nvPr/>
        </p:nvSpPr>
        <p:spPr>
          <a:xfrm xmlns:a="http://schemas.openxmlformats.org/drawingml/2006/main">
            <a:off x="685800" y="66675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48E6C1"/>
                </a:solidFill>
              </a:defRPr>
            </a:defPPr>
          </a:lstStyle>
          <a:p xmlns:a="http://schemas.openxmlformats.org/drawingml/2006/main">
            <a:pPr>
              <a:defRPr sz="975" b="1">
                <a:solidFill>
                  <a:srgbClr val="48E6C1"/>
                </a:solidFill>
              </a:defRPr>
            </a:pPr>
            <a:r>
              <a:rPr sz="975" b="1">
                <a:solidFill>
                  <a:srgbClr val="48E6C1"/>
                </a:solidFill>
              </a:rPr>
              <a:t>ALLPOWER  /  AI FOR GOOD</a:t>
            </a:r>
          </a:p>
        </p:txBody>
      </p:sp>
      <p:sp>
        <p:nvSpPr>
          <p:cNvPr id="3" name="">
            <a:extLst xmlns:a="http://schemas.openxmlformats.org/drawingml/2006/main">
              <a:ext uri="{FF2B5EF4-FFF2-40B4-BE49-F238E27FC236}">
                <a16:creationId xmlns:a16="http://schemas.microsoft.com/office/drawing/2014/main" id="{D0B05F37-237B-4B91-9517-47E508D57E8A}"/>
              </a:ext>
            </a:extLst>
          </p:cNvPr>
          <p:cNvSpPr>
            <a:spLocks xmlns:a="http://schemas.openxmlformats.org/drawingml/2006/main" noGrp="1"/>
          </p:cNvSpPr>
          <p:nvPr/>
        </p:nvSpPr>
        <p:spPr>
          <a:xfrm xmlns:a="http://schemas.openxmlformats.org/drawingml/2006/main">
            <a:off x="11049000" y="590550"/>
            <a:ext cx="47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A9BFC2"/>
                </a:solidFill>
              </a:defRPr>
            </a:defPPr>
          </a:lstStyle>
          <a:p xmlns:a="http://schemas.openxmlformats.org/drawingml/2006/main">
            <a:pPr>
              <a:defRPr sz="1200" b="1">
                <a:solidFill>
                  <a:srgbClr val="A9BFC2"/>
                </a:solidFill>
              </a:defRPr>
            </a:pPr>
            <a:r>
              <a:rPr sz="1200" b="1">
                <a:solidFill>
                  <a:srgbClr val="A9BFC2"/>
                </a:solidFill>
              </a:rPr>
              <a:t>04</a:t>
            </a:r>
          </a:p>
        </p:txBody>
      </p:sp>
      <p:sp>
        <p:nvSpPr>
          <p:cNvPr id="4" name="">
            <a:extLst xmlns:a="http://schemas.openxmlformats.org/drawingml/2006/main">
              <a:ext uri="{FF2B5EF4-FFF2-40B4-BE49-F238E27FC236}">
                <a16:creationId xmlns:a16="http://schemas.microsoft.com/office/drawing/2014/main" id="{ADDE7154-F214-4B48-B878-07B44D3E1495}"/>
              </a:ext>
            </a:extLst>
          </p:cNvPr>
          <p:cNvSpPr>
            <a:spLocks xmlns:a="http://schemas.openxmlformats.org/drawingml/2006/main" noGrp="1"/>
          </p:cNvSpPr>
          <p:nvPr/>
        </p:nvSpPr>
        <p:spPr>
          <a:xfrm xmlns:a="http://schemas.openxmlformats.org/drawingml/2006/main">
            <a:off x="685800" y="6181725"/>
            <a:ext cx="10820400" cy="9525"/>
          </a:xfrm>
          <a:prstGeom xmlns:a="http://schemas.openxmlformats.org/drawingml/2006/main" prst="rect">
            <a:avLst/>
          </a:prstGeom>
          <a:solidFill xmlns:a="http://schemas.openxmlformats.org/drawingml/2006/main">
            <a:srgbClr val="3A586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49B12F4-9BDC-40F2-B62F-55F8409D2F8E}"/>
              </a:ext>
            </a:extLst>
          </p:cNvPr>
          <p:cNvSpPr>
            <a:spLocks xmlns:a="http://schemas.openxmlformats.org/drawingml/2006/main" noGrp="1"/>
          </p:cNvSpPr>
          <p:nvPr/>
        </p:nvSpPr>
        <p:spPr>
          <a:xfrm xmlns:a="http://schemas.openxmlformats.org/drawingml/2006/main">
            <a:off x="685800" y="6296025"/>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b="1">
                <a:solidFill>
                  <a:srgbClr val="A9BFC2"/>
                </a:solidFill>
              </a:defRPr>
            </a:defPPr>
          </a:lstStyle>
          <a:p xmlns:a="http://schemas.openxmlformats.org/drawingml/2006/main">
            <a:pPr>
              <a:defRPr sz="825" b="1">
                <a:solidFill>
                  <a:srgbClr val="A9BFC2"/>
                </a:solidFill>
              </a:defRPr>
            </a:pPr>
            <a:r>
              <a:rPr sz="825" b="1">
                <a:solidFill>
                  <a:srgbClr val="A9BFC2"/>
                </a:solidFill>
              </a:rPr>
              <a:t>THE DEMONSTRATION</a:t>
            </a:r>
          </a:p>
        </p:txBody>
      </p:sp>
      <p:sp>
        <p:nvSpPr>
          <p:cNvPr id="6" name="">
            <a:extLst xmlns:a="http://schemas.openxmlformats.org/drawingml/2006/main">
              <a:ext uri="{FF2B5EF4-FFF2-40B4-BE49-F238E27FC236}">
                <a16:creationId xmlns:a16="http://schemas.microsoft.com/office/drawing/2014/main" id="{44C89E98-F8F4-45FC-BABA-754359292D9F}"/>
              </a:ext>
            </a:extLst>
          </p:cNvPr>
          <p:cNvSpPr>
            <a:spLocks xmlns:a="http://schemas.openxmlformats.org/drawingml/2006/main" noGrp="1"/>
          </p:cNvSpPr>
          <p:nvPr/>
        </p:nvSpPr>
        <p:spPr>
          <a:xfrm xmlns:a="http://schemas.openxmlformats.org/drawingml/2006/main">
            <a:off x="685800" y="1143000"/>
            <a:ext cx="10668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900" b="1">
                <a:solidFill>
                  <a:srgbClr val="EFF7F4"/>
                </a:solidFill>
              </a:defRPr>
            </a:defPPr>
          </a:lstStyle>
          <a:p xmlns:a="http://schemas.openxmlformats.org/drawingml/2006/main">
            <a:pPr>
              <a:defRPr sz="3900" b="1">
                <a:solidFill>
                  <a:srgbClr val="EFF7F4"/>
                </a:solidFill>
              </a:defRPr>
            </a:pPr>
            <a:r>
              <a:rPr sz="3900" b="1">
                <a:solidFill>
                  <a:srgbClr val="EFF7F4"/>
                </a:solidFill>
              </a:rPr>
              <a:t>The supply-loss replay</a:t>
            </a:r>
          </a:p>
        </p:txBody>
      </p:sp>
      <p:sp>
        <p:nvSpPr>
          <p:cNvPr id="7" name="">
            <a:extLst xmlns:a="http://schemas.openxmlformats.org/drawingml/2006/main">
              <a:ext uri="{FF2B5EF4-FFF2-40B4-BE49-F238E27FC236}">
                <a16:creationId xmlns:a16="http://schemas.microsoft.com/office/drawing/2014/main" id="{7D9FADEC-DF14-4C7F-AD58-BB3D8F5BC458}"/>
              </a:ext>
            </a:extLst>
          </p:cNvPr>
          <p:cNvSpPr>
            <a:spLocks xmlns:a="http://schemas.openxmlformats.org/drawingml/2006/main" noGrp="1"/>
          </p:cNvSpPr>
          <p:nvPr/>
        </p:nvSpPr>
        <p:spPr>
          <a:xfrm xmlns:a="http://schemas.openxmlformats.org/drawingml/2006/main">
            <a:off x="704850" y="2390775"/>
            <a:ext cx="1000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0">
                <a:solidFill>
                  <a:srgbClr val="A9BFC2"/>
                </a:solidFill>
              </a:defRPr>
            </a:defPPr>
          </a:lstStyle>
          <a:p xmlns:a="http://schemas.openxmlformats.org/drawingml/2006/main">
            <a:pPr>
              <a:defRPr sz="1650" b="0">
                <a:solidFill>
                  <a:srgbClr val="A9BFC2"/>
                </a:solidFill>
              </a:defRPr>
            </a:pPr>
            <a:r>
              <a:rPr sz="1650" b="0">
                <a:solidFill>
                  <a:srgbClr val="A9BFC2"/>
                </a:solidFill>
              </a:rPr>
              <a:t>A transparent scenario turns a tight margin into a preparation advisory.</a:t>
            </a:r>
          </a:p>
        </p:txBody>
      </p:sp>
      <p:sp>
        <p:nvSpPr>
          <p:cNvPr id="8" name="">
            <a:extLst xmlns:a="http://schemas.openxmlformats.org/drawingml/2006/main">
              <a:ext uri="{FF2B5EF4-FFF2-40B4-BE49-F238E27FC236}">
                <a16:creationId xmlns:a16="http://schemas.microsoft.com/office/drawing/2014/main" id="{42FF778C-738E-41C7-87A9-1CFC7F3EBC90}"/>
              </a:ext>
            </a:extLst>
          </p:cNvPr>
          <p:cNvSpPr>
            <a:spLocks xmlns:a="http://schemas.openxmlformats.org/drawingml/2006/main" noGrp="1"/>
          </p:cNvSpPr>
          <p:nvPr/>
        </p:nvSpPr>
        <p:spPr>
          <a:xfrm xmlns:a="http://schemas.openxmlformats.org/drawingml/2006/main">
            <a:off x="714375" y="328612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475" b="1">
                <a:solidFill>
                  <a:srgbClr val="48E6C1"/>
                </a:solidFill>
              </a:defRPr>
            </a:defPPr>
          </a:lstStyle>
          <a:p xmlns:a="http://schemas.openxmlformats.org/drawingml/2006/main">
            <a:pPr>
              <a:defRPr sz="2475" b="1">
                <a:solidFill>
                  <a:srgbClr val="48E6C1"/>
                </a:solidFill>
              </a:defRPr>
            </a:pPr>
            <a:r>
              <a:rPr sz="2475" b="1">
                <a:solidFill>
                  <a:srgbClr val="48E6C1"/>
                </a:solidFill>
              </a:rPr>
              <a:t>1</a:t>
            </a:r>
          </a:p>
        </p:txBody>
      </p:sp>
      <p:sp>
        <p:nvSpPr>
          <p:cNvPr id="9" name="">
            <a:extLst xmlns:a="http://schemas.openxmlformats.org/drawingml/2006/main">
              <a:ext uri="{FF2B5EF4-FFF2-40B4-BE49-F238E27FC236}">
                <a16:creationId xmlns:a16="http://schemas.microsoft.com/office/drawing/2014/main" id="{F5C66928-A078-4578-8CC5-ECF98EA5A60F}"/>
              </a:ext>
            </a:extLst>
          </p:cNvPr>
          <p:cNvSpPr>
            <a:spLocks xmlns:a="http://schemas.openxmlformats.org/drawingml/2006/main" noGrp="1"/>
          </p:cNvSpPr>
          <p:nvPr/>
        </p:nvSpPr>
        <p:spPr>
          <a:xfrm xmlns:a="http://schemas.openxmlformats.org/drawingml/2006/main">
            <a:off x="1333500" y="3286125"/>
            <a:ext cx="428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EFF7F4"/>
                </a:solidFill>
              </a:defRPr>
            </a:defPPr>
          </a:lstStyle>
          <a:p xmlns:a="http://schemas.openxmlformats.org/drawingml/2006/main">
            <a:pPr>
              <a:defRPr sz="1875" b="1">
                <a:solidFill>
                  <a:srgbClr val="EFF7F4"/>
                </a:solidFill>
              </a:defRPr>
            </a:pPr>
            <a:r>
              <a:rPr sz="1875" b="1">
                <a:solidFill>
                  <a:srgbClr val="EFF7F4"/>
                </a:solidFill>
              </a:rPr>
              <a:t>Run normal</a:t>
            </a:r>
          </a:p>
        </p:txBody>
      </p:sp>
      <p:sp>
        <p:nvSpPr>
          <p:cNvPr id="10" name="">
            <a:extLst xmlns:a="http://schemas.openxmlformats.org/drawingml/2006/main">
              <a:ext uri="{FF2B5EF4-FFF2-40B4-BE49-F238E27FC236}">
                <a16:creationId xmlns:a16="http://schemas.microsoft.com/office/drawing/2014/main" id="{8370AFC0-B469-43B4-8F96-5445673D4D8C}"/>
              </a:ext>
            </a:extLst>
          </p:cNvPr>
          <p:cNvSpPr>
            <a:spLocks xmlns:a="http://schemas.openxmlformats.org/drawingml/2006/main" noGrp="1"/>
          </p:cNvSpPr>
          <p:nvPr/>
        </p:nvSpPr>
        <p:spPr>
          <a:xfrm xmlns:a="http://schemas.openxmlformats.org/drawingml/2006/main">
            <a:off x="1333500" y="3676650"/>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A9BFC2"/>
                </a:solidFill>
              </a:defRPr>
            </a:defPPr>
          </a:lstStyle>
          <a:p xmlns:a="http://schemas.openxmlformats.org/drawingml/2006/main">
            <a:pPr>
              <a:defRPr sz="1275" b="0">
                <a:solidFill>
                  <a:srgbClr val="A9BFC2"/>
                </a:solidFill>
              </a:defRPr>
            </a:pPr>
            <a:r>
              <a:rPr sz="1275" b="0">
                <a:solidFill>
                  <a:srgbClr val="A9BFC2"/>
                </a:solidFill>
              </a:rPr>
              <a:t>No urgent advisory</a:t>
            </a:r>
          </a:p>
        </p:txBody>
      </p:sp>
      <p:sp>
        <p:nvSpPr>
          <p:cNvPr id="11" name="">
            <a:extLst xmlns:a="http://schemas.openxmlformats.org/drawingml/2006/main">
              <a:ext uri="{FF2B5EF4-FFF2-40B4-BE49-F238E27FC236}">
                <a16:creationId xmlns:a16="http://schemas.microsoft.com/office/drawing/2014/main" id="{1F986BF6-A236-4DD5-9BFE-53141DE3F026}"/>
              </a:ext>
            </a:extLst>
          </p:cNvPr>
          <p:cNvSpPr>
            <a:spLocks xmlns:a="http://schemas.openxmlformats.org/drawingml/2006/main" noGrp="1"/>
          </p:cNvSpPr>
          <p:nvPr/>
        </p:nvSpPr>
        <p:spPr>
          <a:xfrm xmlns:a="http://schemas.openxmlformats.org/drawingml/2006/main">
            <a:off x="6191250" y="328612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475" b="1">
                <a:solidFill>
                  <a:srgbClr val="48E6C1"/>
                </a:solidFill>
              </a:defRPr>
            </a:defPPr>
          </a:lstStyle>
          <a:p xmlns:a="http://schemas.openxmlformats.org/drawingml/2006/main">
            <a:pPr>
              <a:defRPr sz="2475" b="1">
                <a:solidFill>
                  <a:srgbClr val="48E6C1"/>
                </a:solidFill>
              </a:defRPr>
            </a:pPr>
            <a:r>
              <a:rPr sz="2475" b="1">
                <a:solidFill>
                  <a:srgbClr val="48E6C1"/>
                </a:solidFill>
              </a:rPr>
              <a:t>2</a:t>
            </a:r>
          </a:p>
        </p:txBody>
      </p:sp>
      <p:sp>
        <p:nvSpPr>
          <p:cNvPr id="12" name="">
            <a:extLst xmlns:a="http://schemas.openxmlformats.org/drawingml/2006/main">
              <a:ext uri="{FF2B5EF4-FFF2-40B4-BE49-F238E27FC236}">
                <a16:creationId xmlns:a16="http://schemas.microsoft.com/office/drawing/2014/main" id="{74ABE7BD-845B-4361-BAE7-848FC52A9DDA}"/>
              </a:ext>
            </a:extLst>
          </p:cNvPr>
          <p:cNvSpPr>
            <a:spLocks xmlns:a="http://schemas.openxmlformats.org/drawingml/2006/main" noGrp="1"/>
          </p:cNvSpPr>
          <p:nvPr/>
        </p:nvSpPr>
        <p:spPr>
          <a:xfrm xmlns:a="http://schemas.openxmlformats.org/drawingml/2006/main">
            <a:off x="6810375" y="3286125"/>
            <a:ext cx="428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EFF7F4"/>
                </a:solidFill>
              </a:defRPr>
            </a:defPPr>
          </a:lstStyle>
          <a:p xmlns:a="http://schemas.openxmlformats.org/drawingml/2006/main">
            <a:pPr>
              <a:defRPr sz="1875" b="1">
                <a:solidFill>
                  <a:srgbClr val="EFF7F4"/>
                </a:solidFill>
              </a:defRPr>
            </a:pPr>
            <a:r>
              <a:rPr sz="1875" b="1">
                <a:solidFill>
                  <a:srgbClr val="EFF7F4"/>
                </a:solidFill>
              </a:rPr>
              <a:t>Reduce supply</a:t>
            </a:r>
          </a:p>
        </p:txBody>
      </p:sp>
      <p:sp>
        <p:nvSpPr>
          <p:cNvPr id="13" name="">
            <a:extLst xmlns:a="http://schemas.openxmlformats.org/drawingml/2006/main">
              <a:ext uri="{FF2B5EF4-FFF2-40B4-BE49-F238E27FC236}">
                <a16:creationId xmlns:a16="http://schemas.microsoft.com/office/drawing/2014/main" id="{FFED21AE-8EA4-48F9-87D3-CA7755DA8D8E}"/>
              </a:ext>
            </a:extLst>
          </p:cNvPr>
          <p:cNvSpPr>
            <a:spLocks xmlns:a="http://schemas.openxmlformats.org/drawingml/2006/main" noGrp="1"/>
          </p:cNvSpPr>
          <p:nvPr/>
        </p:nvSpPr>
        <p:spPr>
          <a:xfrm xmlns:a="http://schemas.openxmlformats.org/drawingml/2006/main">
            <a:off x="6810375" y="3676650"/>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A9BFC2"/>
                </a:solidFill>
              </a:defRPr>
            </a:defPPr>
          </a:lstStyle>
          <a:p xmlns:a="http://schemas.openxmlformats.org/drawingml/2006/main">
            <a:pPr>
              <a:defRPr sz="1275" b="0">
                <a:solidFill>
                  <a:srgbClr val="A9BFC2"/>
                </a:solidFill>
              </a:defRPr>
            </a:pPr>
            <a:r>
              <a:rPr sz="1275" b="0">
                <a:solidFill>
                  <a:srgbClr val="A9BFC2"/>
                </a:solidFill>
              </a:rPr>
              <a:t>A future margin turns negative</a:t>
            </a:r>
          </a:p>
        </p:txBody>
      </p:sp>
      <p:sp>
        <p:nvSpPr>
          <p:cNvPr id="14" name="">
            <a:extLst xmlns:a="http://schemas.openxmlformats.org/drawingml/2006/main">
              <a:ext uri="{FF2B5EF4-FFF2-40B4-BE49-F238E27FC236}">
                <a16:creationId xmlns:a16="http://schemas.microsoft.com/office/drawing/2014/main" id="{578EEC4D-6DAD-48A9-9A79-85BA7BB565D3}"/>
              </a:ext>
            </a:extLst>
          </p:cNvPr>
          <p:cNvSpPr>
            <a:spLocks xmlns:a="http://schemas.openxmlformats.org/drawingml/2006/main" noGrp="1"/>
          </p:cNvSpPr>
          <p:nvPr/>
        </p:nvSpPr>
        <p:spPr>
          <a:xfrm xmlns:a="http://schemas.openxmlformats.org/drawingml/2006/main">
            <a:off x="714375" y="45243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475" b="1">
                <a:solidFill>
                  <a:srgbClr val="48E6C1"/>
                </a:solidFill>
              </a:defRPr>
            </a:defPPr>
          </a:lstStyle>
          <a:p xmlns:a="http://schemas.openxmlformats.org/drawingml/2006/main">
            <a:pPr>
              <a:defRPr sz="2475" b="1">
                <a:solidFill>
                  <a:srgbClr val="48E6C1"/>
                </a:solidFill>
              </a:defRPr>
            </a:pPr>
            <a:r>
              <a:rPr sz="2475" b="1">
                <a:solidFill>
                  <a:srgbClr val="48E6C1"/>
                </a:solidFill>
              </a:rPr>
              <a:t>3</a:t>
            </a:r>
          </a:p>
        </p:txBody>
      </p:sp>
      <p:sp>
        <p:nvSpPr>
          <p:cNvPr id="15" name="">
            <a:extLst xmlns:a="http://schemas.openxmlformats.org/drawingml/2006/main">
              <a:ext uri="{FF2B5EF4-FFF2-40B4-BE49-F238E27FC236}">
                <a16:creationId xmlns:a16="http://schemas.microsoft.com/office/drawing/2014/main" id="{1A1356FC-1D19-498F-B3F4-BC8462BCDCC6}"/>
              </a:ext>
            </a:extLst>
          </p:cNvPr>
          <p:cNvSpPr>
            <a:spLocks xmlns:a="http://schemas.openxmlformats.org/drawingml/2006/main" noGrp="1"/>
          </p:cNvSpPr>
          <p:nvPr/>
        </p:nvSpPr>
        <p:spPr>
          <a:xfrm xmlns:a="http://schemas.openxmlformats.org/drawingml/2006/main">
            <a:off x="1333500" y="4524375"/>
            <a:ext cx="428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EFF7F4"/>
                </a:solidFill>
              </a:defRPr>
            </a:defPPr>
          </a:lstStyle>
          <a:p xmlns:a="http://schemas.openxmlformats.org/drawingml/2006/main">
            <a:pPr>
              <a:defRPr sz="1875" b="1">
                <a:solidFill>
                  <a:srgbClr val="EFF7F4"/>
                </a:solidFill>
              </a:defRPr>
            </a:pPr>
            <a:r>
              <a:rPr sz="1875" b="1">
                <a:solidFill>
                  <a:srgbClr val="EFF7F4"/>
                </a:solidFill>
              </a:rPr>
              <a:t>Prepare hospital</a:t>
            </a:r>
          </a:p>
        </p:txBody>
      </p:sp>
      <p:sp>
        <p:nvSpPr>
          <p:cNvPr id="16" name="">
            <a:extLst xmlns:a="http://schemas.openxmlformats.org/drawingml/2006/main">
              <a:ext uri="{FF2B5EF4-FFF2-40B4-BE49-F238E27FC236}">
                <a16:creationId xmlns:a16="http://schemas.microsoft.com/office/drawing/2014/main" id="{74EEF40C-B4F9-4CD9-8A25-55BA6FBD156D}"/>
              </a:ext>
            </a:extLst>
          </p:cNvPr>
          <p:cNvSpPr>
            <a:spLocks xmlns:a="http://schemas.openxmlformats.org/drawingml/2006/main" noGrp="1"/>
          </p:cNvSpPr>
          <p:nvPr/>
        </p:nvSpPr>
        <p:spPr>
          <a:xfrm xmlns:a="http://schemas.openxmlformats.org/drawingml/2006/main">
            <a:off x="1333500" y="4914900"/>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A9BFC2"/>
                </a:solidFill>
              </a:defRPr>
            </a:defPPr>
          </a:lstStyle>
          <a:p xmlns:a="http://schemas.openxmlformats.org/drawingml/2006/main">
            <a:pPr>
              <a:defRPr sz="1275" b="0">
                <a:solidFill>
                  <a:srgbClr val="A9BFC2"/>
                </a:solidFill>
              </a:defRPr>
            </a:pPr>
            <a:r>
              <a:rPr sz="1275" b="0">
                <a:solidFill>
                  <a:srgbClr val="A9BFC2"/>
                </a:solidFill>
              </a:rPr>
              <a:t>Backup plan and acknowledgment</a:t>
            </a:r>
          </a:p>
        </p:txBody>
      </p:sp>
      <p:sp>
        <p:nvSpPr>
          <p:cNvPr id="17" name="">
            <a:extLst xmlns:a="http://schemas.openxmlformats.org/drawingml/2006/main">
              <a:ext uri="{FF2B5EF4-FFF2-40B4-BE49-F238E27FC236}">
                <a16:creationId xmlns:a16="http://schemas.microsoft.com/office/drawing/2014/main" id="{9C48EA7E-549B-43D6-B641-BDC34EA5F0F8}"/>
              </a:ext>
            </a:extLst>
          </p:cNvPr>
          <p:cNvSpPr>
            <a:spLocks xmlns:a="http://schemas.openxmlformats.org/drawingml/2006/main" noGrp="1"/>
          </p:cNvSpPr>
          <p:nvPr/>
        </p:nvSpPr>
        <p:spPr>
          <a:xfrm xmlns:a="http://schemas.openxmlformats.org/drawingml/2006/main">
            <a:off x="6191250" y="45243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475" b="1">
                <a:solidFill>
                  <a:srgbClr val="48E6C1"/>
                </a:solidFill>
              </a:defRPr>
            </a:defPPr>
          </a:lstStyle>
          <a:p xmlns:a="http://schemas.openxmlformats.org/drawingml/2006/main">
            <a:pPr>
              <a:defRPr sz="2475" b="1">
                <a:solidFill>
                  <a:srgbClr val="48E6C1"/>
                </a:solidFill>
              </a:defRPr>
            </a:pPr>
            <a:r>
              <a:rPr sz="2475" b="1">
                <a:solidFill>
                  <a:srgbClr val="48E6C1"/>
                </a:solidFill>
              </a:rPr>
              <a:t>4</a:t>
            </a:r>
          </a:p>
        </p:txBody>
      </p:sp>
      <p:sp>
        <p:nvSpPr>
          <p:cNvPr id="18" name="">
            <a:extLst xmlns:a="http://schemas.openxmlformats.org/drawingml/2006/main">
              <a:ext uri="{FF2B5EF4-FFF2-40B4-BE49-F238E27FC236}">
                <a16:creationId xmlns:a16="http://schemas.microsoft.com/office/drawing/2014/main" id="{63FC6B73-DBEC-48BA-8A83-24B0C3092BD1}"/>
              </a:ext>
            </a:extLst>
          </p:cNvPr>
          <p:cNvSpPr>
            <a:spLocks xmlns:a="http://schemas.openxmlformats.org/drawingml/2006/main" noGrp="1"/>
          </p:cNvSpPr>
          <p:nvPr/>
        </p:nvSpPr>
        <p:spPr>
          <a:xfrm xmlns:a="http://schemas.openxmlformats.org/drawingml/2006/main">
            <a:off x="6810375" y="4524375"/>
            <a:ext cx="428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EFF7F4"/>
                </a:solidFill>
              </a:defRPr>
            </a:defPPr>
          </a:lstStyle>
          <a:p xmlns:a="http://schemas.openxmlformats.org/drawingml/2006/main">
            <a:pPr>
              <a:defRPr sz="1875" b="1">
                <a:solidFill>
                  <a:srgbClr val="EFF7F4"/>
                </a:solidFill>
              </a:defRPr>
            </a:pPr>
            <a:r>
              <a:rPr sz="1875" b="1">
                <a:solidFill>
                  <a:srgbClr val="EFF7F4"/>
                </a:solidFill>
              </a:rPr>
              <a:t>Recover worker</a:t>
            </a:r>
          </a:p>
        </p:txBody>
      </p:sp>
      <p:sp>
        <p:nvSpPr>
          <p:cNvPr id="19" name="">
            <a:extLst xmlns:a="http://schemas.openxmlformats.org/drawingml/2006/main">
              <a:ext uri="{FF2B5EF4-FFF2-40B4-BE49-F238E27FC236}">
                <a16:creationId xmlns:a16="http://schemas.microsoft.com/office/drawing/2014/main" id="{A8A362BC-A933-4887-9EBF-1D948CA5797B}"/>
              </a:ext>
            </a:extLst>
          </p:cNvPr>
          <p:cNvSpPr>
            <a:spLocks xmlns:a="http://schemas.openxmlformats.org/drawingml/2006/main" noGrp="1"/>
          </p:cNvSpPr>
          <p:nvPr/>
        </p:nvSpPr>
        <p:spPr>
          <a:xfrm xmlns:a="http://schemas.openxmlformats.org/drawingml/2006/main">
            <a:off x="6810375" y="4914900"/>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A9BFC2"/>
                </a:solidFill>
              </a:defRPr>
            </a:defPPr>
          </a:lstStyle>
          <a:p xmlns:a="http://schemas.openxmlformats.org/drawingml/2006/main">
            <a:pPr>
              <a:defRPr sz="1275" b="0">
                <a:solidFill>
                  <a:srgbClr val="A9BFC2"/>
                </a:solidFill>
              </a:defRPr>
            </a:pPr>
            <a:r>
              <a:rPr sz="1275" b="0">
                <a:solidFill>
                  <a:srgbClr val="A9BFC2"/>
                </a:solidFill>
              </a:rPr>
              <a:t>Queued job completes after restart</a:t>
            </a:r>
          </a:p>
        </p:txBody>
      </p:sp>
    </p:spTree>
    <p:extLst>
      <p:ext uri="{BB962C8B-B14F-4D97-AF65-F5344CB8AC3E}">
        <p14:creationId xmlns:p14="http://schemas.microsoft.com/office/powerpoint/2010/main" val="379025444"/>
      </p:ext>
    </p:extLst>
  </p:cSld>
</p:sld>
</file>

<file path=ppt/slides/slide5.xml><?xml version="1.0" encoding="utf-8"?>
<p:sld xmlns:p="http://schemas.openxmlformats.org/presentationml/2006/main">
  <p:cSld>
    <p:bg>
      <p:bgPr>
        <a:solidFill xmlns:a="http://schemas.openxmlformats.org/drawingml/2006/main">
          <a:srgbClr val="0B1C29"/>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A571433-C35E-4B3D-8D6F-DE8A655F1A84}"/>
              </a:ext>
            </a:extLst>
          </p:cNvPr>
          <p:cNvSpPr>
            <a:spLocks xmlns:a="http://schemas.openxmlformats.org/drawingml/2006/main" noGrp="1"/>
          </p:cNvSpPr>
          <p:nvPr/>
        </p:nvSpPr>
        <p:spPr>
          <a:xfrm xmlns:a="http://schemas.openxmlformats.org/drawingml/2006/main">
            <a:off x="685800" y="514350"/>
            <a:ext cx="419100" cy="47625"/>
          </a:xfrm>
          <a:prstGeom xmlns:a="http://schemas.openxmlformats.org/drawingml/2006/main" prst="rect">
            <a:avLst/>
          </a:prstGeom>
          <a:solidFill xmlns:a="http://schemas.openxmlformats.org/drawingml/2006/main">
            <a:srgbClr val="48E6C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7B76C3E-13EA-400C-931B-ED7B27676A6F}"/>
              </a:ext>
            </a:extLst>
          </p:cNvPr>
          <p:cNvSpPr>
            <a:spLocks xmlns:a="http://schemas.openxmlformats.org/drawingml/2006/main" noGrp="1"/>
          </p:cNvSpPr>
          <p:nvPr/>
        </p:nvSpPr>
        <p:spPr>
          <a:xfrm xmlns:a="http://schemas.openxmlformats.org/drawingml/2006/main">
            <a:off x="685800" y="66675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48E6C1"/>
                </a:solidFill>
              </a:defRPr>
            </a:defPPr>
          </a:lstStyle>
          <a:p xmlns:a="http://schemas.openxmlformats.org/drawingml/2006/main">
            <a:pPr>
              <a:defRPr sz="975" b="1">
                <a:solidFill>
                  <a:srgbClr val="48E6C1"/>
                </a:solidFill>
              </a:defRPr>
            </a:pPr>
            <a:r>
              <a:rPr sz="975" b="1">
                <a:solidFill>
                  <a:srgbClr val="48E6C1"/>
                </a:solidFill>
              </a:rPr>
              <a:t>ALLPOWER  /  AI FOR GOOD</a:t>
            </a:r>
          </a:p>
        </p:txBody>
      </p:sp>
      <p:sp>
        <p:nvSpPr>
          <p:cNvPr id="3" name="">
            <a:extLst xmlns:a="http://schemas.openxmlformats.org/drawingml/2006/main">
              <a:ext uri="{FF2B5EF4-FFF2-40B4-BE49-F238E27FC236}">
                <a16:creationId xmlns:a16="http://schemas.microsoft.com/office/drawing/2014/main" id="{1D4AC2FB-7509-4BA9-911A-2C6E95DC74DA}"/>
              </a:ext>
            </a:extLst>
          </p:cNvPr>
          <p:cNvSpPr>
            <a:spLocks xmlns:a="http://schemas.openxmlformats.org/drawingml/2006/main" noGrp="1"/>
          </p:cNvSpPr>
          <p:nvPr/>
        </p:nvSpPr>
        <p:spPr>
          <a:xfrm xmlns:a="http://schemas.openxmlformats.org/drawingml/2006/main">
            <a:off x="11049000" y="590550"/>
            <a:ext cx="47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A9BFC2"/>
                </a:solidFill>
              </a:defRPr>
            </a:defPPr>
          </a:lstStyle>
          <a:p xmlns:a="http://schemas.openxmlformats.org/drawingml/2006/main">
            <a:pPr>
              <a:defRPr sz="1200" b="1">
                <a:solidFill>
                  <a:srgbClr val="A9BFC2"/>
                </a:solidFill>
              </a:defRPr>
            </a:pPr>
            <a:r>
              <a:rPr sz="1200" b="1">
                <a:solidFill>
                  <a:srgbClr val="A9BFC2"/>
                </a:solidFill>
              </a:rPr>
              <a:t>05</a:t>
            </a:r>
          </a:p>
        </p:txBody>
      </p:sp>
      <p:sp>
        <p:nvSpPr>
          <p:cNvPr id="4" name="">
            <a:extLst xmlns:a="http://schemas.openxmlformats.org/drawingml/2006/main">
              <a:ext uri="{FF2B5EF4-FFF2-40B4-BE49-F238E27FC236}">
                <a16:creationId xmlns:a16="http://schemas.microsoft.com/office/drawing/2014/main" id="{A00EF2C1-F9E1-4FF4-AE8B-F375BD4104A4}"/>
              </a:ext>
            </a:extLst>
          </p:cNvPr>
          <p:cNvSpPr>
            <a:spLocks xmlns:a="http://schemas.openxmlformats.org/drawingml/2006/main" noGrp="1"/>
          </p:cNvSpPr>
          <p:nvPr/>
        </p:nvSpPr>
        <p:spPr>
          <a:xfrm xmlns:a="http://schemas.openxmlformats.org/drawingml/2006/main">
            <a:off x="685800" y="6181725"/>
            <a:ext cx="10820400" cy="9525"/>
          </a:xfrm>
          <a:prstGeom xmlns:a="http://schemas.openxmlformats.org/drawingml/2006/main" prst="rect">
            <a:avLst/>
          </a:prstGeom>
          <a:solidFill xmlns:a="http://schemas.openxmlformats.org/drawingml/2006/main">
            <a:srgbClr val="3A586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1B7CC28-5B2D-4692-B909-AF7E7248929E}"/>
              </a:ext>
            </a:extLst>
          </p:cNvPr>
          <p:cNvSpPr>
            <a:spLocks xmlns:a="http://schemas.openxmlformats.org/drawingml/2006/main" noGrp="1"/>
          </p:cNvSpPr>
          <p:nvPr/>
        </p:nvSpPr>
        <p:spPr>
          <a:xfrm xmlns:a="http://schemas.openxmlformats.org/drawingml/2006/main">
            <a:off x="685800" y="6296025"/>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b="1">
                <a:solidFill>
                  <a:srgbClr val="A9BFC2"/>
                </a:solidFill>
              </a:defRPr>
            </a:defPPr>
          </a:lstStyle>
          <a:p xmlns:a="http://schemas.openxmlformats.org/drawingml/2006/main">
            <a:pPr>
              <a:defRPr sz="825" b="1">
                <a:solidFill>
                  <a:srgbClr val="A9BFC2"/>
                </a:solidFill>
              </a:defRPr>
            </a:pPr>
            <a:r>
              <a:rPr sz="825" b="1">
                <a:solidFill>
                  <a:srgbClr val="A9BFC2"/>
                </a:solidFill>
              </a:rPr>
              <a:t>AI AND EVALUATION</a:t>
            </a:r>
          </a:p>
        </p:txBody>
      </p:sp>
      <p:sp>
        <p:nvSpPr>
          <p:cNvPr id="6" name="">
            <a:extLst xmlns:a="http://schemas.openxmlformats.org/drawingml/2006/main">
              <a:ext uri="{FF2B5EF4-FFF2-40B4-BE49-F238E27FC236}">
                <a16:creationId xmlns:a16="http://schemas.microsoft.com/office/drawing/2014/main" id="{B6DC1987-BBF6-4B8E-9FA8-7AE3537FD3EB}"/>
              </a:ext>
            </a:extLst>
          </p:cNvPr>
          <p:cNvSpPr>
            <a:spLocks xmlns:a="http://schemas.openxmlformats.org/drawingml/2006/main" noGrp="1"/>
          </p:cNvSpPr>
          <p:nvPr/>
        </p:nvSpPr>
        <p:spPr>
          <a:xfrm xmlns:a="http://schemas.openxmlformats.org/drawingml/2006/main">
            <a:off x="685800" y="1143000"/>
            <a:ext cx="10668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900" b="1">
                <a:solidFill>
                  <a:srgbClr val="EFF7F4"/>
                </a:solidFill>
              </a:defRPr>
            </a:defPPr>
          </a:lstStyle>
          <a:p xmlns:a="http://schemas.openxmlformats.org/drawingml/2006/main">
            <a:pPr>
              <a:defRPr sz="3900" b="1">
                <a:solidFill>
                  <a:srgbClr val="EFF7F4"/>
                </a:solidFill>
              </a:defRPr>
            </a:pPr>
            <a:r>
              <a:rPr sz="3900" b="1">
                <a:solidFill>
                  <a:srgbClr val="EFF7F4"/>
                </a:solidFill>
              </a:rPr>
              <a:t>Models earn trust through comparison</a:t>
            </a:r>
          </a:p>
        </p:txBody>
      </p:sp>
      <p:sp>
        <p:nvSpPr>
          <p:cNvPr id="7" name="">
            <a:extLst xmlns:a="http://schemas.openxmlformats.org/drawingml/2006/main">
              <a:ext uri="{FF2B5EF4-FFF2-40B4-BE49-F238E27FC236}">
                <a16:creationId xmlns:a16="http://schemas.microsoft.com/office/drawing/2014/main" id="{A3D7176F-1209-410D-85D2-7DD90F93E652}"/>
              </a:ext>
            </a:extLst>
          </p:cNvPr>
          <p:cNvSpPr>
            <a:spLocks xmlns:a="http://schemas.openxmlformats.org/drawingml/2006/main" noGrp="1"/>
          </p:cNvSpPr>
          <p:nvPr/>
        </p:nvSpPr>
        <p:spPr>
          <a:xfrm xmlns:a="http://schemas.openxmlformats.org/drawingml/2006/main">
            <a:off x="704850" y="2390775"/>
            <a:ext cx="1000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0">
                <a:solidFill>
                  <a:srgbClr val="A9BFC2"/>
                </a:solidFill>
              </a:defRPr>
            </a:defPPr>
          </a:lstStyle>
          <a:p xmlns:a="http://schemas.openxmlformats.org/drawingml/2006/main">
            <a:pPr>
              <a:defRPr sz="1650" b="0">
                <a:solidFill>
                  <a:srgbClr val="A9BFC2"/>
                </a:solidFill>
              </a:defRPr>
            </a:pPr>
            <a:r>
              <a:rPr sz="1650" b="0">
                <a:solidFill>
                  <a:srgbClr val="A9BFC2"/>
                </a:solidFill>
              </a:rPr>
              <a:t>The demand model is fitted on synthetic history; real-data validation remains next.</a:t>
            </a:r>
          </a:p>
        </p:txBody>
      </p:sp>
      <p:sp>
        <p:nvSpPr>
          <p:cNvPr id="8" name="">
            <a:extLst xmlns:a="http://schemas.openxmlformats.org/drawingml/2006/main">
              <a:ext uri="{FF2B5EF4-FFF2-40B4-BE49-F238E27FC236}">
                <a16:creationId xmlns:a16="http://schemas.microsoft.com/office/drawing/2014/main" id="{4A26271E-7CBF-4CD2-B494-FA1176F05EAC}"/>
              </a:ext>
            </a:extLst>
          </p:cNvPr>
          <p:cNvSpPr>
            <a:spLocks xmlns:a="http://schemas.openxmlformats.org/drawingml/2006/main" noGrp="1"/>
          </p:cNvSpPr>
          <p:nvPr/>
        </p:nvSpPr>
        <p:spPr>
          <a:xfrm xmlns:a="http://schemas.openxmlformats.org/drawingml/2006/main">
            <a:off x="714375" y="3390900"/>
            <a:ext cx="3286125" cy="1790700"/>
          </a:xfrm>
          <a:prstGeom xmlns:a="http://schemas.openxmlformats.org/drawingml/2006/main" prst="rect">
            <a:avLst/>
          </a:prstGeom>
          <a:solidFill xmlns:a="http://schemas.openxmlformats.org/drawingml/2006/main">
            <a:srgbClr val="112B39"/>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B5BDC67-C79F-4D52-B295-08C83C2BE38B}"/>
              </a:ext>
            </a:extLst>
          </p:cNvPr>
          <p:cNvSpPr>
            <a:spLocks xmlns:a="http://schemas.openxmlformats.org/drawingml/2006/main" noGrp="1"/>
          </p:cNvSpPr>
          <p:nvPr/>
        </p:nvSpPr>
        <p:spPr>
          <a:xfrm xmlns:a="http://schemas.openxmlformats.org/drawingml/2006/main">
            <a:off x="933450" y="3590925"/>
            <a:ext cx="2762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250" b="1">
                <a:solidFill>
                  <a:srgbClr val="48E6C1"/>
                </a:solidFill>
              </a:defRPr>
            </a:defPPr>
          </a:lstStyle>
          <a:p xmlns:a="http://schemas.openxmlformats.org/drawingml/2006/main">
            <a:pPr>
              <a:defRPr sz="2250" b="1">
                <a:solidFill>
                  <a:srgbClr val="48E6C1"/>
                </a:solidFill>
              </a:defRPr>
            </a:pPr>
            <a:r>
              <a:rPr sz="2250" b="1">
                <a:solidFill>
                  <a:srgbClr val="48E6C1"/>
                </a:solidFill>
              </a:rPr>
              <a:t>Demand</a:t>
            </a:r>
          </a:p>
        </p:txBody>
      </p:sp>
      <p:sp>
        <p:nvSpPr>
          <p:cNvPr id="10" name="">
            <a:extLst xmlns:a="http://schemas.openxmlformats.org/drawingml/2006/main">
              <a:ext uri="{FF2B5EF4-FFF2-40B4-BE49-F238E27FC236}">
                <a16:creationId xmlns:a16="http://schemas.microsoft.com/office/drawing/2014/main" id="{C95843CF-B75A-44A4-9B91-7F376FBC56AA}"/>
              </a:ext>
            </a:extLst>
          </p:cNvPr>
          <p:cNvSpPr>
            <a:spLocks xmlns:a="http://schemas.openxmlformats.org/drawingml/2006/main" noGrp="1"/>
          </p:cNvSpPr>
          <p:nvPr/>
        </p:nvSpPr>
        <p:spPr>
          <a:xfrm xmlns:a="http://schemas.openxmlformats.org/drawingml/2006/main">
            <a:off x="933450" y="4114800"/>
            <a:ext cx="2714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EFF7F4"/>
                </a:solidFill>
              </a:defRPr>
            </a:defPPr>
          </a:lstStyle>
          <a:p xmlns:a="http://schemas.openxmlformats.org/drawingml/2006/main">
            <a:pPr>
              <a:defRPr sz="1350" b="0">
                <a:solidFill>
                  <a:srgbClr val="EFF7F4"/>
                </a:solidFill>
              </a:defRPr>
            </a:pPr>
            <a:r>
              <a:rPr sz="1350" b="0">
                <a:solidFill>
                  <a:srgbClr val="EFF7F4"/>
                </a:solidFill>
              </a:rPr>
              <a:t>Six-horizon ridge model runs now. Synthetic test MAE: 513–641 MW. Real-data training path is ready.</a:t>
            </a:r>
          </a:p>
        </p:txBody>
      </p:sp>
      <p:sp>
        <p:nvSpPr>
          <p:cNvPr id="11" name="">
            <a:extLst xmlns:a="http://schemas.openxmlformats.org/drawingml/2006/main">
              <a:ext uri="{FF2B5EF4-FFF2-40B4-BE49-F238E27FC236}">
                <a16:creationId xmlns:a16="http://schemas.microsoft.com/office/drawing/2014/main" id="{AC72BACB-EF17-4417-8DFA-670D8CCD51F4}"/>
              </a:ext>
            </a:extLst>
          </p:cNvPr>
          <p:cNvSpPr>
            <a:spLocks xmlns:a="http://schemas.openxmlformats.org/drawingml/2006/main" noGrp="1"/>
          </p:cNvSpPr>
          <p:nvPr/>
        </p:nvSpPr>
        <p:spPr>
          <a:xfrm xmlns:a="http://schemas.openxmlformats.org/drawingml/2006/main">
            <a:off x="4400550" y="3390900"/>
            <a:ext cx="3286125" cy="1790700"/>
          </a:xfrm>
          <a:prstGeom xmlns:a="http://schemas.openxmlformats.org/drawingml/2006/main" prst="rect">
            <a:avLst/>
          </a:prstGeom>
          <a:solidFill xmlns:a="http://schemas.openxmlformats.org/drawingml/2006/main">
            <a:srgbClr val="112B39"/>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43CDC25-3CE2-4DB1-B04A-4CDC1C8AD352}"/>
              </a:ext>
            </a:extLst>
          </p:cNvPr>
          <p:cNvSpPr>
            <a:spLocks xmlns:a="http://schemas.openxmlformats.org/drawingml/2006/main" noGrp="1"/>
          </p:cNvSpPr>
          <p:nvPr/>
        </p:nvSpPr>
        <p:spPr>
          <a:xfrm xmlns:a="http://schemas.openxmlformats.org/drawingml/2006/main">
            <a:off x="4629150" y="3590925"/>
            <a:ext cx="2762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250" b="1">
                <a:solidFill>
                  <a:srgbClr val="FFC06E"/>
                </a:solidFill>
              </a:defRPr>
            </a:defPPr>
          </a:lstStyle>
          <a:p xmlns:a="http://schemas.openxmlformats.org/drawingml/2006/main">
            <a:pPr>
              <a:defRPr sz="2250" b="1">
                <a:solidFill>
                  <a:srgbClr val="FFC06E"/>
                </a:solidFill>
              </a:defRPr>
            </a:pPr>
            <a:r>
              <a:rPr sz="2250" b="1">
                <a:solidFill>
                  <a:srgbClr val="FFC06E"/>
                </a:solidFill>
              </a:rPr>
              <a:t>Vision</a:t>
            </a:r>
          </a:p>
        </p:txBody>
      </p:sp>
      <p:sp>
        <p:nvSpPr>
          <p:cNvPr id="13" name="">
            <a:extLst xmlns:a="http://schemas.openxmlformats.org/drawingml/2006/main">
              <a:ext uri="{FF2B5EF4-FFF2-40B4-BE49-F238E27FC236}">
                <a16:creationId xmlns:a16="http://schemas.microsoft.com/office/drawing/2014/main" id="{63C35F6A-E6EF-474F-8FF2-6CDBAA94EBBA}"/>
              </a:ext>
            </a:extLst>
          </p:cNvPr>
          <p:cNvSpPr>
            <a:spLocks xmlns:a="http://schemas.openxmlformats.org/drawingml/2006/main" noGrp="1"/>
          </p:cNvSpPr>
          <p:nvPr/>
        </p:nvSpPr>
        <p:spPr>
          <a:xfrm xmlns:a="http://schemas.openxmlformats.org/drawingml/2006/main">
            <a:off x="4629150" y="4114800"/>
            <a:ext cx="2714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EFF7F4"/>
                </a:solidFill>
              </a:defRPr>
            </a:defPPr>
          </a:lstStyle>
          <a:p xmlns:a="http://schemas.openxmlformats.org/drawingml/2006/main">
            <a:pPr>
              <a:defRPr sz="1350" b="0">
                <a:solidFill>
                  <a:srgbClr val="EFF7F4"/>
                </a:solidFill>
              </a:defRPr>
            </a:pPr>
            <a:r>
              <a:rPr sz="1350" b="0">
                <a:solidFill>
                  <a:srgbClr val="EFF7F4"/>
                </a:solidFill>
              </a:rPr>
              <a:t>HOG baseline and compact CNN training code. No live image score or inference is claimed yet.</a:t>
            </a:r>
          </a:p>
        </p:txBody>
      </p:sp>
      <p:sp>
        <p:nvSpPr>
          <p:cNvPr id="14" name="">
            <a:extLst xmlns:a="http://schemas.openxmlformats.org/drawingml/2006/main">
              <a:ext uri="{FF2B5EF4-FFF2-40B4-BE49-F238E27FC236}">
                <a16:creationId xmlns:a16="http://schemas.microsoft.com/office/drawing/2014/main" id="{DC223485-C254-4AA3-9AA8-C5F198DB8DCA}"/>
              </a:ext>
            </a:extLst>
          </p:cNvPr>
          <p:cNvSpPr>
            <a:spLocks xmlns:a="http://schemas.openxmlformats.org/drawingml/2006/main" noGrp="1"/>
          </p:cNvSpPr>
          <p:nvPr/>
        </p:nvSpPr>
        <p:spPr>
          <a:xfrm xmlns:a="http://schemas.openxmlformats.org/drawingml/2006/main">
            <a:off x="8086725" y="3390900"/>
            <a:ext cx="3286125" cy="1790700"/>
          </a:xfrm>
          <a:prstGeom xmlns:a="http://schemas.openxmlformats.org/drawingml/2006/main" prst="rect">
            <a:avLst/>
          </a:prstGeom>
          <a:solidFill xmlns:a="http://schemas.openxmlformats.org/drawingml/2006/main">
            <a:srgbClr val="112B3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662C439-147E-4930-BFB6-41FC9FE2EE5E}"/>
              </a:ext>
            </a:extLst>
          </p:cNvPr>
          <p:cNvSpPr>
            <a:spLocks xmlns:a="http://schemas.openxmlformats.org/drawingml/2006/main" noGrp="1"/>
          </p:cNvSpPr>
          <p:nvPr/>
        </p:nvSpPr>
        <p:spPr>
          <a:xfrm xmlns:a="http://schemas.openxmlformats.org/drawingml/2006/main">
            <a:off x="8315325" y="3590925"/>
            <a:ext cx="2762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250" b="1">
                <a:solidFill>
                  <a:srgbClr val="48E6C1"/>
                </a:solidFill>
              </a:defRPr>
            </a:defPPr>
          </a:lstStyle>
          <a:p xmlns:a="http://schemas.openxmlformats.org/drawingml/2006/main">
            <a:pPr>
              <a:defRPr sz="2250" b="1">
                <a:solidFill>
                  <a:srgbClr val="48E6C1"/>
                </a:solidFill>
              </a:defRPr>
            </a:pPr>
            <a:r>
              <a:rPr sz="2250" b="1">
                <a:solidFill>
                  <a:srgbClr val="48E6C1"/>
                </a:solidFill>
              </a:rPr>
              <a:t>Backup plan</a:t>
            </a:r>
          </a:p>
        </p:txBody>
      </p:sp>
      <p:sp>
        <p:nvSpPr>
          <p:cNvPr id="16" name="">
            <a:extLst xmlns:a="http://schemas.openxmlformats.org/drawingml/2006/main">
              <a:ext uri="{FF2B5EF4-FFF2-40B4-BE49-F238E27FC236}">
                <a16:creationId xmlns:a16="http://schemas.microsoft.com/office/drawing/2014/main" id="{C3B7D6C5-A43A-425F-8A34-B52B52AD451C}"/>
              </a:ext>
            </a:extLst>
          </p:cNvPr>
          <p:cNvSpPr>
            <a:spLocks xmlns:a="http://schemas.openxmlformats.org/drawingml/2006/main" noGrp="1"/>
          </p:cNvSpPr>
          <p:nvPr/>
        </p:nvSpPr>
        <p:spPr>
          <a:xfrm xmlns:a="http://schemas.openxmlformats.org/drawingml/2006/main">
            <a:off x="8315325" y="4114800"/>
            <a:ext cx="2714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EFF7F4"/>
                </a:solidFill>
              </a:defRPr>
            </a:defPPr>
          </a:lstStyle>
          <a:p xmlns:a="http://schemas.openxmlformats.org/drawingml/2006/main">
            <a:pPr>
              <a:defRPr sz="1350" b="0">
                <a:solidFill>
                  <a:srgbClr val="EFF7F4"/>
                </a:solidFill>
              </a:defRPr>
            </a:pPr>
            <a:r>
              <a:rPr sz="1350" b="0">
                <a:solidFill>
                  <a:srgbClr val="EFF7F4"/>
                </a:solidFill>
              </a:rPr>
              <a:t>SciPy linear program when available. Compare modeled critical kWh with a reactive startup policy.</a:t>
            </a:r>
          </a:p>
        </p:txBody>
      </p:sp>
    </p:spTree>
    <p:extLst>
      <p:ext uri="{BB962C8B-B14F-4D97-AF65-F5344CB8AC3E}">
        <p14:creationId xmlns:p14="http://schemas.microsoft.com/office/powerpoint/2010/main" val="1182662713"/>
      </p:ext>
    </p:extLst>
  </p:cSld>
</p:sld>
</file>

<file path=ppt/slides/slide6.xml><?xml version="1.0" encoding="utf-8"?>
<p:sld xmlns:p="http://schemas.openxmlformats.org/presentationml/2006/main">
  <p:cSld>
    <p:bg>
      <p:bgPr>
        <a:solidFill xmlns:a="http://schemas.openxmlformats.org/drawingml/2006/main">
          <a:srgbClr val="0B1C29"/>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1E855AD-5052-4A19-9614-E6C5D6A90FE3}"/>
              </a:ext>
            </a:extLst>
          </p:cNvPr>
          <p:cNvSpPr>
            <a:spLocks xmlns:a="http://schemas.openxmlformats.org/drawingml/2006/main" noGrp="1"/>
          </p:cNvSpPr>
          <p:nvPr/>
        </p:nvSpPr>
        <p:spPr>
          <a:xfrm xmlns:a="http://schemas.openxmlformats.org/drawingml/2006/main">
            <a:off x="685800" y="514350"/>
            <a:ext cx="419100" cy="47625"/>
          </a:xfrm>
          <a:prstGeom xmlns:a="http://schemas.openxmlformats.org/drawingml/2006/main" prst="rect">
            <a:avLst/>
          </a:prstGeom>
          <a:solidFill xmlns:a="http://schemas.openxmlformats.org/drawingml/2006/main">
            <a:srgbClr val="48E6C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60E5D90-27AC-4D46-A54D-3E5A0F622D6F}"/>
              </a:ext>
            </a:extLst>
          </p:cNvPr>
          <p:cNvSpPr>
            <a:spLocks xmlns:a="http://schemas.openxmlformats.org/drawingml/2006/main" noGrp="1"/>
          </p:cNvSpPr>
          <p:nvPr/>
        </p:nvSpPr>
        <p:spPr>
          <a:xfrm xmlns:a="http://schemas.openxmlformats.org/drawingml/2006/main">
            <a:off x="685800" y="66675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48E6C1"/>
                </a:solidFill>
              </a:defRPr>
            </a:defPPr>
          </a:lstStyle>
          <a:p xmlns:a="http://schemas.openxmlformats.org/drawingml/2006/main">
            <a:pPr>
              <a:defRPr sz="975" b="1">
                <a:solidFill>
                  <a:srgbClr val="48E6C1"/>
                </a:solidFill>
              </a:defRPr>
            </a:pPr>
            <a:r>
              <a:rPr sz="975" b="1">
                <a:solidFill>
                  <a:srgbClr val="48E6C1"/>
                </a:solidFill>
              </a:rPr>
              <a:t>ALLPOWER  /  AI FOR GOOD</a:t>
            </a:r>
          </a:p>
        </p:txBody>
      </p:sp>
      <p:sp>
        <p:nvSpPr>
          <p:cNvPr id="3" name="">
            <a:extLst xmlns:a="http://schemas.openxmlformats.org/drawingml/2006/main">
              <a:ext uri="{FF2B5EF4-FFF2-40B4-BE49-F238E27FC236}">
                <a16:creationId xmlns:a16="http://schemas.microsoft.com/office/drawing/2014/main" id="{F4FCEEB3-825D-4CE0-9F6C-475EFCC1DA2D}"/>
              </a:ext>
            </a:extLst>
          </p:cNvPr>
          <p:cNvSpPr>
            <a:spLocks xmlns:a="http://schemas.openxmlformats.org/drawingml/2006/main" noGrp="1"/>
          </p:cNvSpPr>
          <p:nvPr/>
        </p:nvSpPr>
        <p:spPr>
          <a:xfrm xmlns:a="http://schemas.openxmlformats.org/drawingml/2006/main">
            <a:off x="11049000" y="590550"/>
            <a:ext cx="47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A9BFC2"/>
                </a:solidFill>
              </a:defRPr>
            </a:defPPr>
          </a:lstStyle>
          <a:p xmlns:a="http://schemas.openxmlformats.org/drawingml/2006/main">
            <a:pPr>
              <a:defRPr sz="1200" b="1">
                <a:solidFill>
                  <a:srgbClr val="A9BFC2"/>
                </a:solidFill>
              </a:defRPr>
            </a:pPr>
            <a:r>
              <a:rPr sz="1200" b="1">
                <a:solidFill>
                  <a:srgbClr val="A9BFC2"/>
                </a:solidFill>
              </a:rPr>
              <a:t>06</a:t>
            </a:r>
          </a:p>
        </p:txBody>
      </p:sp>
      <p:sp>
        <p:nvSpPr>
          <p:cNvPr id="4" name="">
            <a:extLst xmlns:a="http://schemas.openxmlformats.org/drawingml/2006/main">
              <a:ext uri="{FF2B5EF4-FFF2-40B4-BE49-F238E27FC236}">
                <a16:creationId xmlns:a16="http://schemas.microsoft.com/office/drawing/2014/main" id="{F7E0D866-B958-4418-BFBB-742205F189A7}"/>
              </a:ext>
            </a:extLst>
          </p:cNvPr>
          <p:cNvSpPr>
            <a:spLocks xmlns:a="http://schemas.openxmlformats.org/drawingml/2006/main" noGrp="1"/>
          </p:cNvSpPr>
          <p:nvPr/>
        </p:nvSpPr>
        <p:spPr>
          <a:xfrm xmlns:a="http://schemas.openxmlformats.org/drawingml/2006/main">
            <a:off x="685800" y="6181725"/>
            <a:ext cx="10820400" cy="9525"/>
          </a:xfrm>
          <a:prstGeom xmlns:a="http://schemas.openxmlformats.org/drawingml/2006/main" prst="rect">
            <a:avLst/>
          </a:prstGeom>
          <a:solidFill xmlns:a="http://schemas.openxmlformats.org/drawingml/2006/main">
            <a:srgbClr val="3A586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1E495A4-2372-4B52-A678-FD132E55723D}"/>
              </a:ext>
            </a:extLst>
          </p:cNvPr>
          <p:cNvSpPr>
            <a:spLocks xmlns:a="http://schemas.openxmlformats.org/drawingml/2006/main" noGrp="1"/>
          </p:cNvSpPr>
          <p:nvPr/>
        </p:nvSpPr>
        <p:spPr>
          <a:xfrm xmlns:a="http://schemas.openxmlformats.org/drawingml/2006/main">
            <a:off x="685800" y="6296025"/>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b="1">
                <a:solidFill>
                  <a:srgbClr val="A9BFC2"/>
                </a:solidFill>
              </a:defRPr>
            </a:defPPr>
          </a:lstStyle>
          <a:p xmlns:a="http://schemas.openxmlformats.org/drawingml/2006/main">
            <a:pPr>
              <a:defRPr sz="825" b="1">
                <a:solidFill>
                  <a:srgbClr val="A9BFC2"/>
                </a:solidFill>
              </a:defRPr>
            </a:pPr>
            <a:r>
              <a:rPr sz="825" b="1">
                <a:solidFill>
                  <a:srgbClr val="A9BFC2"/>
                </a:solidFill>
              </a:rPr>
              <a:t>LINUXONE DESIGN</a:t>
            </a:r>
          </a:p>
        </p:txBody>
      </p:sp>
      <p:sp>
        <p:nvSpPr>
          <p:cNvPr id="6" name="">
            <a:extLst xmlns:a="http://schemas.openxmlformats.org/drawingml/2006/main">
              <a:ext uri="{FF2B5EF4-FFF2-40B4-BE49-F238E27FC236}">
                <a16:creationId xmlns:a16="http://schemas.microsoft.com/office/drawing/2014/main" id="{657E2C0E-DAF1-41B0-9355-78CDCA481D90}"/>
              </a:ext>
            </a:extLst>
          </p:cNvPr>
          <p:cNvSpPr>
            <a:spLocks xmlns:a="http://schemas.openxmlformats.org/drawingml/2006/main" noGrp="1"/>
          </p:cNvSpPr>
          <p:nvPr/>
        </p:nvSpPr>
        <p:spPr>
          <a:xfrm xmlns:a="http://schemas.openxmlformats.org/drawingml/2006/main">
            <a:off x="685800" y="1143000"/>
            <a:ext cx="10668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900" b="1">
                <a:solidFill>
                  <a:srgbClr val="EFF7F4"/>
                </a:solidFill>
              </a:defRPr>
            </a:defPPr>
          </a:lstStyle>
          <a:p xmlns:a="http://schemas.openxmlformats.org/drawingml/2006/main">
            <a:pPr>
              <a:defRPr sz="3900" b="1">
                <a:solidFill>
                  <a:srgbClr val="EFF7F4"/>
                </a:solidFill>
              </a:defRPr>
            </a:pPr>
            <a:r>
              <a:rPr sz="3900" b="1">
                <a:solidFill>
                  <a:srgbClr val="EFF7F4"/>
                </a:solidFill>
              </a:rPr>
              <a:t>LinuxONE hosts the whole demonstration</a:t>
            </a:r>
          </a:p>
        </p:txBody>
      </p:sp>
      <p:sp>
        <p:nvSpPr>
          <p:cNvPr id="7" name="">
            <a:extLst xmlns:a="http://schemas.openxmlformats.org/drawingml/2006/main">
              <a:ext uri="{FF2B5EF4-FFF2-40B4-BE49-F238E27FC236}">
                <a16:creationId xmlns:a16="http://schemas.microsoft.com/office/drawing/2014/main" id="{0A80DC1D-1B51-4694-A64F-61D675E30162}"/>
              </a:ext>
            </a:extLst>
          </p:cNvPr>
          <p:cNvSpPr>
            <a:spLocks xmlns:a="http://schemas.openxmlformats.org/drawingml/2006/main" noGrp="1"/>
          </p:cNvSpPr>
          <p:nvPr/>
        </p:nvSpPr>
        <p:spPr>
          <a:xfrm xmlns:a="http://schemas.openxmlformats.org/drawingml/2006/main">
            <a:off x="704850" y="2390775"/>
            <a:ext cx="1000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0">
                <a:solidFill>
                  <a:srgbClr val="A9BFC2"/>
                </a:solidFill>
              </a:defRPr>
            </a:defPPr>
          </a:lstStyle>
          <a:p xmlns:a="http://schemas.openxmlformats.org/drawingml/2006/main">
            <a:pPr>
              <a:defRPr sz="1650" b="0">
                <a:solidFill>
                  <a:srgbClr val="A9BFC2"/>
                </a:solidFill>
              </a:defRPr>
            </a:pPr>
            <a:r>
              <a:rPr sz="1650" b="0">
                <a:solidFill>
                  <a:srgbClr val="A9BFC2"/>
                </a:solidFill>
              </a:rPr>
              <a:t>Web, worker, persistent queue and model artifacts run in containers on s390x.</a:t>
            </a:r>
          </a:p>
        </p:txBody>
      </p:sp>
      <p:sp>
        <p:nvSpPr>
          <p:cNvPr id="8" name="">
            <a:extLst xmlns:a="http://schemas.openxmlformats.org/drawingml/2006/main">
              <a:ext uri="{FF2B5EF4-FFF2-40B4-BE49-F238E27FC236}">
                <a16:creationId xmlns:a16="http://schemas.microsoft.com/office/drawing/2014/main" id="{32DCEC66-A753-4E11-A358-2B5BFBB54C57}"/>
              </a:ext>
            </a:extLst>
          </p:cNvPr>
          <p:cNvSpPr>
            <a:spLocks xmlns:a="http://schemas.openxmlformats.org/drawingml/2006/main" noGrp="1"/>
          </p:cNvSpPr>
          <p:nvPr/>
        </p:nvSpPr>
        <p:spPr>
          <a:xfrm xmlns:a="http://schemas.openxmlformats.org/drawingml/2006/main">
            <a:off x="714375" y="3476625"/>
            <a:ext cx="2381250" cy="1409700"/>
          </a:xfrm>
          <a:prstGeom xmlns:a="http://schemas.openxmlformats.org/drawingml/2006/main" prst="rect">
            <a:avLst/>
          </a:prstGeom>
          <a:solidFill xmlns:a="http://schemas.openxmlformats.org/drawingml/2006/main">
            <a:srgbClr val="112B39"/>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D0DEC90-D75B-45AE-BE02-FD648B42F244}"/>
              </a:ext>
            </a:extLst>
          </p:cNvPr>
          <p:cNvSpPr>
            <a:spLocks xmlns:a="http://schemas.openxmlformats.org/drawingml/2006/main" noGrp="1"/>
          </p:cNvSpPr>
          <p:nvPr/>
        </p:nvSpPr>
        <p:spPr>
          <a:xfrm xmlns:a="http://schemas.openxmlformats.org/drawingml/2006/main">
            <a:off x="885825" y="3657600"/>
            <a:ext cx="20574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48E6C1"/>
                </a:solidFill>
              </a:defRPr>
            </a:defPPr>
          </a:lstStyle>
          <a:p xmlns:a="http://schemas.openxmlformats.org/drawingml/2006/main">
            <a:pPr>
              <a:defRPr sz="1425" b="1">
                <a:solidFill>
                  <a:srgbClr val="48E6C1"/>
                </a:solidFill>
              </a:defRPr>
            </a:pPr>
            <a:r>
              <a:rPr sz="1425" b="1">
                <a:solidFill>
                  <a:srgbClr val="48E6C1"/>
                </a:solidFill>
              </a:rPr>
              <a:t>BROWSER</a:t>
            </a:r>
          </a:p>
        </p:txBody>
      </p:sp>
      <p:sp>
        <p:nvSpPr>
          <p:cNvPr id="10" name="">
            <a:extLst xmlns:a="http://schemas.openxmlformats.org/drawingml/2006/main">
              <a:ext uri="{FF2B5EF4-FFF2-40B4-BE49-F238E27FC236}">
                <a16:creationId xmlns:a16="http://schemas.microsoft.com/office/drawing/2014/main" id="{DE163B0E-0686-4CEC-89E0-91D2A1A06BE9}"/>
              </a:ext>
            </a:extLst>
          </p:cNvPr>
          <p:cNvSpPr>
            <a:spLocks xmlns:a="http://schemas.openxmlformats.org/drawingml/2006/main" noGrp="1"/>
          </p:cNvSpPr>
          <p:nvPr/>
        </p:nvSpPr>
        <p:spPr>
          <a:xfrm xmlns:a="http://schemas.openxmlformats.org/drawingml/2006/main">
            <a:off x="885825" y="4067175"/>
            <a:ext cx="2047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EFF7F4"/>
                </a:solidFill>
              </a:defRPr>
            </a:defPPr>
          </a:lstStyle>
          <a:p xmlns:a="http://schemas.openxmlformats.org/drawingml/2006/main">
            <a:pPr>
              <a:defRPr sz="1350" b="0">
                <a:solidFill>
                  <a:srgbClr val="EFF7F4"/>
                </a:solidFill>
              </a:defRPr>
            </a:pPr>
            <a:r>
              <a:rPr sz="1350" b="0">
                <a:solidFill>
                  <a:srgbClr val="EFF7F4"/>
                </a:solidFill>
              </a:rPr>
              <a:t>SSH tunnel and access token</a:t>
            </a:r>
          </a:p>
        </p:txBody>
      </p:sp>
      <p:sp>
        <p:nvSpPr>
          <p:cNvPr id="11" name="">
            <a:extLst xmlns:a="http://schemas.openxmlformats.org/drawingml/2006/main">
              <a:ext uri="{FF2B5EF4-FFF2-40B4-BE49-F238E27FC236}">
                <a16:creationId xmlns:a16="http://schemas.microsoft.com/office/drawing/2014/main" id="{87DFDDAA-F69F-4CDA-9F8B-074F153E85C4}"/>
              </a:ext>
            </a:extLst>
          </p:cNvPr>
          <p:cNvSpPr>
            <a:spLocks xmlns:a="http://schemas.openxmlformats.org/drawingml/2006/main" noGrp="1"/>
          </p:cNvSpPr>
          <p:nvPr/>
        </p:nvSpPr>
        <p:spPr>
          <a:xfrm xmlns:a="http://schemas.openxmlformats.org/drawingml/2006/main">
            <a:off x="3381375" y="3476625"/>
            <a:ext cx="2381250" cy="1409700"/>
          </a:xfrm>
          <a:prstGeom xmlns:a="http://schemas.openxmlformats.org/drawingml/2006/main" prst="rect">
            <a:avLst/>
          </a:prstGeom>
          <a:solidFill xmlns:a="http://schemas.openxmlformats.org/drawingml/2006/main">
            <a:srgbClr val="112B39"/>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0A5A3D3-707F-431A-BFF0-5CDEB2E1EFDE}"/>
              </a:ext>
            </a:extLst>
          </p:cNvPr>
          <p:cNvSpPr>
            <a:spLocks xmlns:a="http://schemas.openxmlformats.org/drawingml/2006/main" noGrp="1"/>
          </p:cNvSpPr>
          <p:nvPr/>
        </p:nvSpPr>
        <p:spPr>
          <a:xfrm xmlns:a="http://schemas.openxmlformats.org/drawingml/2006/main">
            <a:off x="3552825" y="3657600"/>
            <a:ext cx="20574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48E6C1"/>
                </a:solidFill>
              </a:defRPr>
            </a:defPPr>
          </a:lstStyle>
          <a:p xmlns:a="http://schemas.openxmlformats.org/drawingml/2006/main">
            <a:pPr>
              <a:defRPr sz="1425" b="1">
                <a:solidFill>
                  <a:srgbClr val="48E6C1"/>
                </a:solidFill>
              </a:defRPr>
            </a:pPr>
            <a:r>
              <a:rPr sz="1425" b="1">
                <a:solidFill>
                  <a:srgbClr val="48E6C1"/>
                </a:solidFill>
              </a:rPr>
              <a:t>WEB / API</a:t>
            </a:r>
          </a:p>
        </p:txBody>
      </p:sp>
      <p:sp>
        <p:nvSpPr>
          <p:cNvPr id="13" name="">
            <a:extLst xmlns:a="http://schemas.openxmlformats.org/drawingml/2006/main">
              <a:ext uri="{FF2B5EF4-FFF2-40B4-BE49-F238E27FC236}">
                <a16:creationId xmlns:a16="http://schemas.microsoft.com/office/drawing/2014/main" id="{3D0A15B7-E8F3-4F12-AFB6-EE2CC2D2CA1B}"/>
              </a:ext>
            </a:extLst>
          </p:cNvPr>
          <p:cNvSpPr>
            <a:spLocks xmlns:a="http://schemas.openxmlformats.org/drawingml/2006/main" noGrp="1"/>
          </p:cNvSpPr>
          <p:nvPr/>
        </p:nvSpPr>
        <p:spPr>
          <a:xfrm xmlns:a="http://schemas.openxmlformats.org/drawingml/2006/main">
            <a:off x="3552825" y="4067175"/>
            <a:ext cx="2047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EFF7F4"/>
                </a:solidFill>
              </a:defRPr>
            </a:defPPr>
          </a:lstStyle>
          <a:p xmlns:a="http://schemas.openxmlformats.org/drawingml/2006/main">
            <a:pPr>
              <a:defRPr sz="1350" b="0">
                <a:solidFill>
                  <a:srgbClr val="EFF7F4"/>
                </a:solidFill>
              </a:defRPr>
            </a:pPr>
            <a:r>
              <a:rPr sz="1350" b="0">
                <a:solidFill>
                  <a:srgbClr val="EFF7F4"/>
                </a:solidFill>
              </a:rPr>
              <a:t>Static dashboard and scenario endpoints</a:t>
            </a:r>
          </a:p>
        </p:txBody>
      </p:sp>
      <p:sp>
        <p:nvSpPr>
          <p:cNvPr id="14" name="">
            <a:extLst xmlns:a="http://schemas.openxmlformats.org/drawingml/2006/main">
              <a:ext uri="{FF2B5EF4-FFF2-40B4-BE49-F238E27FC236}">
                <a16:creationId xmlns:a16="http://schemas.microsoft.com/office/drawing/2014/main" id="{E33A4C5A-C161-4A39-AE59-5A6EB8B44710}"/>
              </a:ext>
            </a:extLst>
          </p:cNvPr>
          <p:cNvSpPr>
            <a:spLocks xmlns:a="http://schemas.openxmlformats.org/drawingml/2006/main" noGrp="1"/>
          </p:cNvSpPr>
          <p:nvPr/>
        </p:nvSpPr>
        <p:spPr>
          <a:xfrm xmlns:a="http://schemas.openxmlformats.org/drawingml/2006/main">
            <a:off x="6048375" y="3476625"/>
            <a:ext cx="2381250" cy="1409700"/>
          </a:xfrm>
          <a:prstGeom xmlns:a="http://schemas.openxmlformats.org/drawingml/2006/main" prst="rect">
            <a:avLst/>
          </a:prstGeom>
          <a:solidFill xmlns:a="http://schemas.openxmlformats.org/drawingml/2006/main">
            <a:srgbClr val="1A3D4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BA2084F-434F-41F3-BF53-300F126340C8}"/>
              </a:ext>
            </a:extLst>
          </p:cNvPr>
          <p:cNvSpPr>
            <a:spLocks xmlns:a="http://schemas.openxmlformats.org/drawingml/2006/main" noGrp="1"/>
          </p:cNvSpPr>
          <p:nvPr/>
        </p:nvSpPr>
        <p:spPr>
          <a:xfrm xmlns:a="http://schemas.openxmlformats.org/drawingml/2006/main">
            <a:off x="6219825" y="3657600"/>
            <a:ext cx="20574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48E6C1"/>
                </a:solidFill>
              </a:defRPr>
            </a:defPPr>
          </a:lstStyle>
          <a:p xmlns:a="http://schemas.openxmlformats.org/drawingml/2006/main">
            <a:pPr>
              <a:defRPr sz="1425" b="1">
                <a:solidFill>
                  <a:srgbClr val="48E6C1"/>
                </a:solidFill>
              </a:defRPr>
            </a:pPr>
            <a:r>
              <a:rPr sz="1425" b="1">
                <a:solidFill>
                  <a:srgbClr val="48E6C1"/>
                </a:solidFill>
              </a:rPr>
              <a:t>SQLITE</a:t>
            </a:r>
          </a:p>
        </p:txBody>
      </p:sp>
      <p:sp>
        <p:nvSpPr>
          <p:cNvPr id="16" name="">
            <a:extLst xmlns:a="http://schemas.openxmlformats.org/drawingml/2006/main">
              <a:ext uri="{FF2B5EF4-FFF2-40B4-BE49-F238E27FC236}">
                <a16:creationId xmlns:a16="http://schemas.microsoft.com/office/drawing/2014/main" id="{AD90E346-DFE5-4A84-BDA3-22679DF7B0BE}"/>
              </a:ext>
            </a:extLst>
          </p:cNvPr>
          <p:cNvSpPr>
            <a:spLocks xmlns:a="http://schemas.openxmlformats.org/drawingml/2006/main" noGrp="1"/>
          </p:cNvSpPr>
          <p:nvPr/>
        </p:nvSpPr>
        <p:spPr>
          <a:xfrm xmlns:a="http://schemas.openxmlformats.org/drawingml/2006/main">
            <a:off x="6219825" y="4067175"/>
            <a:ext cx="2047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EFF7F4"/>
                </a:solidFill>
              </a:defRPr>
            </a:defPPr>
          </a:lstStyle>
          <a:p xmlns:a="http://schemas.openxmlformats.org/drawingml/2006/main">
            <a:pPr>
              <a:defRPr sz="1350" b="0">
                <a:solidFill>
                  <a:srgbClr val="EFF7F4"/>
                </a:solidFill>
              </a:defRPr>
            </a:pPr>
            <a:r>
              <a:rPr sz="1350" b="0">
                <a:solidFill>
                  <a:srgbClr val="EFF7F4"/>
                </a:solidFill>
              </a:rPr>
              <a:t>Durable jobs, runs and advisories</a:t>
            </a:r>
          </a:p>
        </p:txBody>
      </p:sp>
      <p:sp>
        <p:nvSpPr>
          <p:cNvPr id="17" name="">
            <a:extLst xmlns:a="http://schemas.openxmlformats.org/drawingml/2006/main">
              <a:ext uri="{FF2B5EF4-FFF2-40B4-BE49-F238E27FC236}">
                <a16:creationId xmlns:a16="http://schemas.microsoft.com/office/drawing/2014/main" id="{09C6F6C2-10E0-4509-B129-0CCF2612405D}"/>
              </a:ext>
            </a:extLst>
          </p:cNvPr>
          <p:cNvSpPr>
            <a:spLocks xmlns:a="http://schemas.openxmlformats.org/drawingml/2006/main" noGrp="1"/>
          </p:cNvSpPr>
          <p:nvPr/>
        </p:nvSpPr>
        <p:spPr>
          <a:xfrm xmlns:a="http://schemas.openxmlformats.org/drawingml/2006/main">
            <a:off x="8715375" y="3476625"/>
            <a:ext cx="2381250" cy="1409700"/>
          </a:xfrm>
          <a:prstGeom xmlns:a="http://schemas.openxmlformats.org/drawingml/2006/main" prst="rect">
            <a:avLst/>
          </a:prstGeom>
          <a:solidFill xmlns:a="http://schemas.openxmlformats.org/drawingml/2006/main">
            <a:srgbClr val="112B3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1EA98FA-A859-45AC-9F46-9705BC977BAD}"/>
              </a:ext>
            </a:extLst>
          </p:cNvPr>
          <p:cNvSpPr>
            <a:spLocks xmlns:a="http://schemas.openxmlformats.org/drawingml/2006/main" noGrp="1"/>
          </p:cNvSpPr>
          <p:nvPr/>
        </p:nvSpPr>
        <p:spPr>
          <a:xfrm xmlns:a="http://schemas.openxmlformats.org/drawingml/2006/main">
            <a:off x="8886825" y="3657600"/>
            <a:ext cx="20574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48E6C1"/>
                </a:solidFill>
              </a:defRPr>
            </a:defPPr>
          </a:lstStyle>
          <a:p xmlns:a="http://schemas.openxmlformats.org/drawingml/2006/main">
            <a:pPr>
              <a:defRPr sz="1425" b="1">
                <a:solidFill>
                  <a:srgbClr val="48E6C1"/>
                </a:solidFill>
              </a:defRPr>
            </a:pPr>
            <a:r>
              <a:rPr sz="1425" b="1">
                <a:solidFill>
                  <a:srgbClr val="48E6C1"/>
                </a:solidFill>
              </a:rPr>
              <a:t>WORKER</a:t>
            </a:r>
          </a:p>
        </p:txBody>
      </p:sp>
      <p:sp>
        <p:nvSpPr>
          <p:cNvPr id="19" name="">
            <a:extLst xmlns:a="http://schemas.openxmlformats.org/drawingml/2006/main">
              <a:ext uri="{FF2B5EF4-FFF2-40B4-BE49-F238E27FC236}">
                <a16:creationId xmlns:a16="http://schemas.microsoft.com/office/drawing/2014/main" id="{C3378580-2767-4C42-A250-674992C0D4D2}"/>
              </a:ext>
            </a:extLst>
          </p:cNvPr>
          <p:cNvSpPr>
            <a:spLocks xmlns:a="http://schemas.openxmlformats.org/drawingml/2006/main" noGrp="1"/>
          </p:cNvSpPr>
          <p:nvPr/>
        </p:nvSpPr>
        <p:spPr>
          <a:xfrm xmlns:a="http://schemas.openxmlformats.org/drawingml/2006/main">
            <a:off x="8886825" y="4067175"/>
            <a:ext cx="2047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EFF7F4"/>
                </a:solidFill>
              </a:defRPr>
            </a:defPPr>
          </a:lstStyle>
          <a:p xmlns:a="http://schemas.openxmlformats.org/drawingml/2006/main">
            <a:pPr>
              <a:defRPr sz="1350" b="0">
                <a:solidFill>
                  <a:srgbClr val="EFF7F4"/>
                </a:solidFill>
              </a:defRPr>
            </a:pPr>
            <a:r>
              <a:rPr sz="1350" b="0">
                <a:solidFill>
                  <a:srgbClr val="EFF7F4"/>
                </a:solidFill>
              </a:rPr>
              <a:t>Demand, risk and backup computation</a:t>
            </a:r>
          </a:p>
        </p:txBody>
      </p:sp>
      <p:sp>
        <p:nvSpPr>
          <p:cNvPr id="20" name="">
            <a:extLst xmlns:a="http://schemas.openxmlformats.org/drawingml/2006/main">
              <a:ext uri="{FF2B5EF4-FFF2-40B4-BE49-F238E27FC236}">
                <a16:creationId xmlns:a16="http://schemas.microsoft.com/office/drawing/2014/main" id="{22C8B7D7-C9CC-4D0F-A2B1-239629EF2191}"/>
              </a:ext>
            </a:extLst>
          </p:cNvPr>
          <p:cNvSpPr>
            <a:spLocks xmlns:a="http://schemas.openxmlformats.org/drawingml/2006/main" noGrp="1"/>
          </p:cNvSpPr>
          <p:nvPr/>
        </p:nvSpPr>
        <p:spPr>
          <a:xfrm xmlns:a="http://schemas.openxmlformats.org/drawingml/2006/main">
            <a:off x="723900" y="5353050"/>
            <a:ext cx="1057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FFC06E"/>
                </a:solidFill>
              </a:defRPr>
            </a:defPPr>
          </a:lstStyle>
          <a:p xmlns:a="http://schemas.openxmlformats.org/drawingml/2006/main">
            <a:pPr>
              <a:defRPr sz="1500" b="0">
                <a:solidFill>
                  <a:srgbClr val="FFC06E"/>
                </a:solidFill>
              </a:defRPr>
            </a:pPr>
            <a:r>
              <a:rPr sz="1500" b="0">
                <a:solidFill>
                  <a:srgbClr val="FFC06E"/>
                </a:solidFill>
              </a:rPr>
              <a:t>Demonstrated after VM verification: s390x runtime, container inference, persistent acknowledgment and worker recovery.</a:t>
            </a:r>
          </a:p>
        </p:txBody>
      </p:sp>
    </p:spTree>
    <p:extLst>
      <p:ext uri="{BB962C8B-B14F-4D97-AF65-F5344CB8AC3E}">
        <p14:creationId xmlns:p14="http://schemas.microsoft.com/office/powerpoint/2010/main" val="286681219"/>
      </p:ext>
    </p:extLst>
  </p:cSld>
</p:sld>
</file>

<file path=ppt/slides/slide7.xml><?xml version="1.0" encoding="utf-8"?>
<p:sld xmlns:p="http://schemas.openxmlformats.org/presentationml/2006/main">
  <p:cSld>
    <p:bg>
      <p:bgPr>
        <a:solidFill xmlns:a="http://schemas.openxmlformats.org/drawingml/2006/main">
          <a:srgbClr val="0B1C29"/>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E948013-ED4D-48C9-8743-BE5860FCE3E5}"/>
              </a:ext>
            </a:extLst>
          </p:cNvPr>
          <p:cNvSpPr>
            <a:spLocks xmlns:a="http://schemas.openxmlformats.org/drawingml/2006/main" noGrp="1"/>
          </p:cNvSpPr>
          <p:nvPr/>
        </p:nvSpPr>
        <p:spPr>
          <a:xfrm xmlns:a="http://schemas.openxmlformats.org/drawingml/2006/main">
            <a:off x="685800" y="514350"/>
            <a:ext cx="419100" cy="47625"/>
          </a:xfrm>
          <a:prstGeom xmlns:a="http://schemas.openxmlformats.org/drawingml/2006/main" prst="rect">
            <a:avLst/>
          </a:prstGeom>
          <a:solidFill xmlns:a="http://schemas.openxmlformats.org/drawingml/2006/main">
            <a:srgbClr val="48E6C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5DB5005-CF59-4563-A0D3-4722A337BF3B}"/>
              </a:ext>
            </a:extLst>
          </p:cNvPr>
          <p:cNvSpPr>
            <a:spLocks xmlns:a="http://schemas.openxmlformats.org/drawingml/2006/main" noGrp="1"/>
          </p:cNvSpPr>
          <p:nvPr/>
        </p:nvSpPr>
        <p:spPr>
          <a:xfrm xmlns:a="http://schemas.openxmlformats.org/drawingml/2006/main">
            <a:off x="685800" y="66675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48E6C1"/>
                </a:solidFill>
              </a:defRPr>
            </a:defPPr>
          </a:lstStyle>
          <a:p xmlns:a="http://schemas.openxmlformats.org/drawingml/2006/main">
            <a:pPr>
              <a:defRPr sz="975" b="1">
                <a:solidFill>
                  <a:srgbClr val="48E6C1"/>
                </a:solidFill>
              </a:defRPr>
            </a:pPr>
            <a:r>
              <a:rPr sz="975" b="1">
                <a:solidFill>
                  <a:srgbClr val="48E6C1"/>
                </a:solidFill>
              </a:rPr>
              <a:t>ALLPOWER  /  AI FOR GOOD</a:t>
            </a:r>
          </a:p>
        </p:txBody>
      </p:sp>
      <p:sp>
        <p:nvSpPr>
          <p:cNvPr id="3" name="">
            <a:extLst xmlns:a="http://schemas.openxmlformats.org/drawingml/2006/main">
              <a:ext uri="{FF2B5EF4-FFF2-40B4-BE49-F238E27FC236}">
                <a16:creationId xmlns:a16="http://schemas.microsoft.com/office/drawing/2014/main" id="{BF0EF900-81EE-4C36-83E4-FCF14BF39DA5}"/>
              </a:ext>
            </a:extLst>
          </p:cNvPr>
          <p:cNvSpPr>
            <a:spLocks xmlns:a="http://schemas.openxmlformats.org/drawingml/2006/main" noGrp="1"/>
          </p:cNvSpPr>
          <p:nvPr/>
        </p:nvSpPr>
        <p:spPr>
          <a:xfrm xmlns:a="http://schemas.openxmlformats.org/drawingml/2006/main">
            <a:off x="11049000" y="590550"/>
            <a:ext cx="47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A9BFC2"/>
                </a:solidFill>
              </a:defRPr>
            </a:defPPr>
          </a:lstStyle>
          <a:p xmlns:a="http://schemas.openxmlformats.org/drawingml/2006/main">
            <a:pPr>
              <a:defRPr sz="1200" b="1">
                <a:solidFill>
                  <a:srgbClr val="A9BFC2"/>
                </a:solidFill>
              </a:defRPr>
            </a:pPr>
            <a:r>
              <a:rPr sz="1200" b="1">
                <a:solidFill>
                  <a:srgbClr val="A9BFC2"/>
                </a:solidFill>
              </a:rPr>
              <a:t>07</a:t>
            </a:r>
          </a:p>
        </p:txBody>
      </p:sp>
      <p:sp>
        <p:nvSpPr>
          <p:cNvPr id="4" name="">
            <a:extLst xmlns:a="http://schemas.openxmlformats.org/drawingml/2006/main">
              <a:ext uri="{FF2B5EF4-FFF2-40B4-BE49-F238E27FC236}">
                <a16:creationId xmlns:a16="http://schemas.microsoft.com/office/drawing/2014/main" id="{F6E7B646-A9D6-47C9-B774-ABB41BCF3A56}"/>
              </a:ext>
            </a:extLst>
          </p:cNvPr>
          <p:cNvSpPr>
            <a:spLocks xmlns:a="http://schemas.openxmlformats.org/drawingml/2006/main" noGrp="1"/>
          </p:cNvSpPr>
          <p:nvPr/>
        </p:nvSpPr>
        <p:spPr>
          <a:xfrm xmlns:a="http://schemas.openxmlformats.org/drawingml/2006/main">
            <a:off x="685800" y="6181725"/>
            <a:ext cx="10820400" cy="9525"/>
          </a:xfrm>
          <a:prstGeom xmlns:a="http://schemas.openxmlformats.org/drawingml/2006/main" prst="rect">
            <a:avLst/>
          </a:prstGeom>
          <a:solidFill xmlns:a="http://schemas.openxmlformats.org/drawingml/2006/main">
            <a:srgbClr val="3A586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FA17EA8-9325-4407-9062-91E45E4AA10C}"/>
              </a:ext>
            </a:extLst>
          </p:cNvPr>
          <p:cNvSpPr>
            <a:spLocks xmlns:a="http://schemas.openxmlformats.org/drawingml/2006/main" noGrp="1"/>
          </p:cNvSpPr>
          <p:nvPr/>
        </p:nvSpPr>
        <p:spPr>
          <a:xfrm xmlns:a="http://schemas.openxmlformats.org/drawingml/2006/main">
            <a:off x="685800" y="6296025"/>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b="1">
                <a:solidFill>
                  <a:srgbClr val="A9BFC2"/>
                </a:solidFill>
              </a:defRPr>
            </a:defPPr>
          </a:lstStyle>
          <a:p xmlns:a="http://schemas.openxmlformats.org/drawingml/2006/main">
            <a:pPr>
              <a:defRPr sz="825" b="1">
                <a:solidFill>
                  <a:srgbClr val="A9BFC2"/>
                </a:solidFill>
              </a:defRPr>
            </a:pPr>
            <a:r>
              <a:rPr sz="825" b="1">
                <a:solidFill>
                  <a:srgbClr val="A9BFC2"/>
                </a:solidFill>
              </a:rPr>
              <a:t>MODELED BENEFIT</a:t>
            </a:r>
          </a:p>
        </p:txBody>
      </p:sp>
      <p:sp>
        <p:nvSpPr>
          <p:cNvPr id="6" name="">
            <a:extLst xmlns:a="http://schemas.openxmlformats.org/drawingml/2006/main">
              <a:ext uri="{FF2B5EF4-FFF2-40B4-BE49-F238E27FC236}">
                <a16:creationId xmlns:a16="http://schemas.microsoft.com/office/drawing/2014/main" id="{27AF745D-81D9-485C-B94D-C3E7EEAE2350}"/>
              </a:ext>
            </a:extLst>
          </p:cNvPr>
          <p:cNvSpPr>
            <a:spLocks xmlns:a="http://schemas.openxmlformats.org/drawingml/2006/main" noGrp="1"/>
          </p:cNvSpPr>
          <p:nvPr/>
        </p:nvSpPr>
        <p:spPr>
          <a:xfrm xmlns:a="http://schemas.openxmlformats.org/drawingml/2006/main">
            <a:off x="685800" y="1143000"/>
            <a:ext cx="10668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900" b="1">
                <a:solidFill>
                  <a:srgbClr val="EFF7F4"/>
                </a:solidFill>
              </a:defRPr>
            </a:defPPr>
          </a:lstStyle>
          <a:p xmlns:a="http://schemas.openxmlformats.org/drawingml/2006/main">
            <a:pPr>
              <a:defRPr sz="3900" b="1">
                <a:solidFill>
                  <a:srgbClr val="EFF7F4"/>
                </a:solidFill>
              </a:defRPr>
            </a:pPr>
            <a:r>
              <a:rPr sz="3900" b="1">
                <a:solidFill>
                  <a:srgbClr val="EFF7F4"/>
                </a:solidFill>
              </a:rPr>
              <a:t>A plan the facility can act on</a:t>
            </a:r>
          </a:p>
        </p:txBody>
      </p:sp>
      <p:sp>
        <p:nvSpPr>
          <p:cNvPr id="7" name="">
            <a:extLst xmlns:a="http://schemas.openxmlformats.org/drawingml/2006/main">
              <a:ext uri="{FF2B5EF4-FFF2-40B4-BE49-F238E27FC236}">
                <a16:creationId xmlns:a16="http://schemas.microsoft.com/office/drawing/2014/main" id="{C126A572-5AAE-469B-BE72-D5A128CDAD75}"/>
              </a:ext>
            </a:extLst>
          </p:cNvPr>
          <p:cNvSpPr>
            <a:spLocks xmlns:a="http://schemas.openxmlformats.org/drawingml/2006/main" noGrp="1"/>
          </p:cNvSpPr>
          <p:nvPr/>
        </p:nvSpPr>
        <p:spPr>
          <a:xfrm xmlns:a="http://schemas.openxmlformats.org/drawingml/2006/main">
            <a:off x="704850" y="2390775"/>
            <a:ext cx="1000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0">
                <a:solidFill>
                  <a:srgbClr val="A9BFC2"/>
                </a:solidFill>
              </a:defRPr>
            </a:defPPr>
          </a:lstStyle>
          <a:p xmlns:a="http://schemas.openxmlformats.org/drawingml/2006/main">
            <a:pPr>
              <a:defRPr sz="1650" b="0">
                <a:solidFill>
                  <a:srgbClr val="A9BFC2"/>
                </a:solidFill>
              </a:defRPr>
            </a:pPr>
            <a:r>
              <a:rPr sz="1650" b="0">
                <a:solidFill>
                  <a:srgbClr val="A9BFC2"/>
                </a:solidFill>
              </a:rPr>
              <a:t>The key measure is modeled critical energy served over six hours.</a:t>
            </a:r>
          </a:p>
        </p:txBody>
      </p:sp>
      <p:sp>
        <p:nvSpPr>
          <p:cNvPr id="8" name="">
            <a:extLst xmlns:a="http://schemas.openxmlformats.org/drawingml/2006/main">
              <a:ext uri="{FF2B5EF4-FFF2-40B4-BE49-F238E27FC236}">
                <a16:creationId xmlns:a16="http://schemas.microsoft.com/office/drawing/2014/main" id="{162C9F4E-4AD2-49B0-BB36-3D47ECDB4665}"/>
              </a:ext>
            </a:extLst>
          </p:cNvPr>
          <p:cNvSpPr>
            <a:spLocks xmlns:a="http://schemas.openxmlformats.org/drawingml/2006/main" noGrp="1"/>
          </p:cNvSpPr>
          <p:nvPr/>
        </p:nvSpPr>
        <p:spPr>
          <a:xfrm xmlns:a="http://schemas.openxmlformats.org/drawingml/2006/main">
            <a:off x="714375" y="3543300"/>
            <a:ext cx="3143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48E6C1"/>
                </a:solidFill>
              </a:defRPr>
            </a:defPPr>
          </a:lstStyle>
          <a:p xmlns:a="http://schemas.openxmlformats.org/drawingml/2006/main">
            <a:pPr>
              <a:defRPr sz="1650" b="1">
                <a:solidFill>
                  <a:srgbClr val="48E6C1"/>
                </a:solidFill>
              </a:defRPr>
            </a:pPr>
            <a:r>
              <a:rPr sz="1650" b="1">
                <a:solidFill>
                  <a:srgbClr val="48E6C1"/>
                </a:solidFill>
              </a:rPr>
              <a:t>Prepared plan</a:t>
            </a:r>
          </a:p>
        </p:txBody>
      </p:sp>
      <p:sp>
        <p:nvSpPr>
          <p:cNvPr id="9" name="">
            <a:extLst xmlns:a="http://schemas.openxmlformats.org/drawingml/2006/main">
              <a:ext uri="{FF2B5EF4-FFF2-40B4-BE49-F238E27FC236}">
                <a16:creationId xmlns:a16="http://schemas.microsoft.com/office/drawing/2014/main" id="{92DB7DDF-B653-4034-BD13-0CED9DCF590F}"/>
              </a:ext>
            </a:extLst>
          </p:cNvPr>
          <p:cNvSpPr>
            <a:spLocks xmlns:a="http://schemas.openxmlformats.org/drawingml/2006/main" noGrp="1"/>
          </p:cNvSpPr>
          <p:nvPr/>
        </p:nvSpPr>
        <p:spPr>
          <a:xfrm xmlns:a="http://schemas.openxmlformats.org/drawingml/2006/main">
            <a:off x="714375" y="4000500"/>
            <a:ext cx="8096250" cy="257175"/>
          </a:xfrm>
          <a:prstGeom xmlns:a="http://schemas.openxmlformats.org/drawingml/2006/main" prst="rect">
            <a:avLst/>
          </a:prstGeom>
          <a:solidFill xmlns:a="http://schemas.openxmlformats.org/drawingml/2006/main">
            <a:srgbClr val="48E6C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6FDE163-6D6C-4386-8029-F86CC5AC5AB2}"/>
              </a:ext>
            </a:extLst>
          </p:cNvPr>
          <p:cNvSpPr>
            <a:spLocks xmlns:a="http://schemas.openxmlformats.org/drawingml/2006/main" noGrp="1"/>
          </p:cNvSpPr>
          <p:nvPr/>
        </p:nvSpPr>
        <p:spPr>
          <a:xfrm xmlns:a="http://schemas.openxmlformats.org/drawingml/2006/main">
            <a:off x="714375" y="4543425"/>
            <a:ext cx="3810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FFC06E"/>
                </a:solidFill>
              </a:defRPr>
            </a:defPPr>
          </a:lstStyle>
          <a:p xmlns:a="http://schemas.openxmlformats.org/drawingml/2006/main">
            <a:pPr>
              <a:defRPr sz="1650" b="1">
                <a:solidFill>
                  <a:srgbClr val="FFC06E"/>
                </a:solidFill>
              </a:defRPr>
            </a:pPr>
            <a:r>
              <a:rPr sz="1650" b="1">
                <a:solidFill>
                  <a:srgbClr val="FFC06E"/>
                </a:solidFill>
              </a:rPr>
              <a:t>Reactive startup policy</a:t>
            </a:r>
          </a:p>
        </p:txBody>
      </p:sp>
      <p:sp>
        <p:nvSpPr>
          <p:cNvPr id="11" name="">
            <a:extLst xmlns:a="http://schemas.openxmlformats.org/drawingml/2006/main">
              <a:ext uri="{FF2B5EF4-FFF2-40B4-BE49-F238E27FC236}">
                <a16:creationId xmlns:a16="http://schemas.microsoft.com/office/drawing/2014/main" id="{0A493C65-87BB-47C6-AE24-25C431EEE3D3}"/>
              </a:ext>
            </a:extLst>
          </p:cNvPr>
          <p:cNvSpPr>
            <a:spLocks xmlns:a="http://schemas.openxmlformats.org/drawingml/2006/main" noGrp="1"/>
          </p:cNvSpPr>
          <p:nvPr/>
        </p:nvSpPr>
        <p:spPr>
          <a:xfrm xmlns:a="http://schemas.openxmlformats.org/drawingml/2006/main">
            <a:off x="714375" y="5000625"/>
            <a:ext cx="6191250" cy="257175"/>
          </a:xfrm>
          <a:prstGeom xmlns:a="http://schemas.openxmlformats.org/drawingml/2006/main" prst="rect">
            <a:avLst/>
          </a:prstGeom>
          <a:solidFill xmlns:a="http://schemas.openxmlformats.org/drawingml/2006/main">
            <a:srgbClr val="FFC06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DBB789A-7EAA-4EF4-A205-41BC93FD2197}"/>
              </a:ext>
            </a:extLst>
          </p:cNvPr>
          <p:cNvSpPr>
            <a:spLocks xmlns:a="http://schemas.openxmlformats.org/drawingml/2006/main" noGrp="1"/>
          </p:cNvSpPr>
          <p:nvPr/>
        </p:nvSpPr>
        <p:spPr>
          <a:xfrm xmlns:a="http://schemas.openxmlformats.org/drawingml/2006/main">
            <a:off x="714375" y="5524500"/>
            <a:ext cx="1019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A9BFC2"/>
                </a:solidFill>
              </a:defRPr>
            </a:defPPr>
          </a:lstStyle>
          <a:p xmlns:a="http://schemas.openxmlformats.org/drawingml/2006/main">
            <a:pPr>
              <a:defRPr sz="1275" b="0">
                <a:solidFill>
                  <a:srgbClr val="A9BFC2"/>
                </a:solidFill>
              </a:defRPr>
            </a:pPr>
            <a:r>
              <a:rPr sz="1275" b="0">
                <a:solidFill>
                  <a:srgbClr val="A9BFC2"/>
                </a:solidFill>
              </a:rPr>
              <a:t>Illustrative scale only. Exact kWh depend on scenario run and installed SciPy.</a:t>
            </a:r>
          </a:p>
        </p:txBody>
      </p:sp>
    </p:spTree>
    <p:extLst>
      <p:ext uri="{BB962C8B-B14F-4D97-AF65-F5344CB8AC3E}">
        <p14:creationId xmlns:p14="http://schemas.microsoft.com/office/powerpoint/2010/main" val="1532475415"/>
      </p:ext>
    </p:extLst>
  </p:cSld>
</p:sld>
</file>

<file path=ppt/slides/slide8.xml><?xml version="1.0" encoding="utf-8"?>
<p:sld xmlns:p="http://schemas.openxmlformats.org/presentationml/2006/main">
  <p:cSld>
    <p:bg>
      <p:bgPr>
        <a:solidFill xmlns:a="http://schemas.openxmlformats.org/drawingml/2006/main">
          <a:srgbClr val="0B1C2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E5DAD1F-F452-4827-B319-1CC6F37A2A1E}"/>
              </a:ext>
            </a:extLst>
          </p:cNvPr>
          <p:cNvSpPr>
            <a:spLocks xmlns:a="http://schemas.openxmlformats.org/drawingml/2006/main" noGrp="1"/>
          </p:cNvSpPr>
          <p:nvPr/>
        </p:nvSpPr>
        <p:spPr>
          <a:xfrm xmlns:a="http://schemas.openxmlformats.org/drawingml/2006/main">
            <a:off x="685800" y="514350"/>
            <a:ext cx="419100" cy="47625"/>
          </a:xfrm>
          <a:prstGeom xmlns:a="http://schemas.openxmlformats.org/drawingml/2006/main" prst="rect">
            <a:avLst/>
          </a:prstGeom>
          <a:solidFill xmlns:a="http://schemas.openxmlformats.org/drawingml/2006/main">
            <a:srgbClr val="48E6C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F40576A-18CC-44CF-8C4E-A087AECAEC96}"/>
              </a:ext>
            </a:extLst>
          </p:cNvPr>
          <p:cNvSpPr>
            <a:spLocks xmlns:a="http://schemas.openxmlformats.org/drawingml/2006/main" noGrp="1"/>
          </p:cNvSpPr>
          <p:nvPr/>
        </p:nvSpPr>
        <p:spPr>
          <a:xfrm xmlns:a="http://schemas.openxmlformats.org/drawingml/2006/main">
            <a:off x="685800" y="66675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48E6C1"/>
                </a:solidFill>
              </a:defRPr>
            </a:defPPr>
          </a:lstStyle>
          <a:p xmlns:a="http://schemas.openxmlformats.org/drawingml/2006/main">
            <a:pPr>
              <a:defRPr sz="975" b="1">
                <a:solidFill>
                  <a:srgbClr val="48E6C1"/>
                </a:solidFill>
              </a:defRPr>
            </a:pPr>
            <a:r>
              <a:rPr sz="975" b="1">
                <a:solidFill>
                  <a:srgbClr val="48E6C1"/>
                </a:solidFill>
              </a:rPr>
              <a:t>ALLPOWER  /  AI FOR GOOD</a:t>
            </a:r>
          </a:p>
        </p:txBody>
      </p:sp>
      <p:sp>
        <p:nvSpPr>
          <p:cNvPr id="3" name="">
            <a:extLst xmlns:a="http://schemas.openxmlformats.org/drawingml/2006/main">
              <a:ext uri="{FF2B5EF4-FFF2-40B4-BE49-F238E27FC236}">
                <a16:creationId xmlns:a16="http://schemas.microsoft.com/office/drawing/2014/main" id="{BB3D1939-2B3D-445B-B1E0-49CE44296F19}"/>
              </a:ext>
            </a:extLst>
          </p:cNvPr>
          <p:cNvSpPr>
            <a:spLocks xmlns:a="http://schemas.openxmlformats.org/drawingml/2006/main" noGrp="1"/>
          </p:cNvSpPr>
          <p:nvPr/>
        </p:nvSpPr>
        <p:spPr>
          <a:xfrm xmlns:a="http://schemas.openxmlformats.org/drawingml/2006/main">
            <a:off x="11049000" y="590550"/>
            <a:ext cx="47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A9BFC2"/>
                </a:solidFill>
              </a:defRPr>
            </a:defPPr>
          </a:lstStyle>
          <a:p xmlns:a="http://schemas.openxmlformats.org/drawingml/2006/main">
            <a:pPr>
              <a:defRPr sz="1200" b="1">
                <a:solidFill>
                  <a:srgbClr val="A9BFC2"/>
                </a:solidFill>
              </a:defRPr>
            </a:pPr>
            <a:r>
              <a:rPr sz="1200" b="1">
                <a:solidFill>
                  <a:srgbClr val="A9BFC2"/>
                </a:solidFill>
              </a:rPr>
              <a:t>08</a:t>
            </a:r>
          </a:p>
        </p:txBody>
      </p:sp>
      <p:sp>
        <p:nvSpPr>
          <p:cNvPr id="4" name="">
            <a:extLst xmlns:a="http://schemas.openxmlformats.org/drawingml/2006/main">
              <a:ext uri="{FF2B5EF4-FFF2-40B4-BE49-F238E27FC236}">
                <a16:creationId xmlns:a16="http://schemas.microsoft.com/office/drawing/2014/main" id="{B836FEB0-C3B2-4537-9A2C-98379BA3ED1B}"/>
              </a:ext>
            </a:extLst>
          </p:cNvPr>
          <p:cNvSpPr>
            <a:spLocks xmlns:a="http://schemas.openxmlformats.org/drawingml/2006/main" noGrp="1"/>
          </p:cNvSpPr>
          <p:nvPr/>
        </p:nvSpPr>
        <p:spPr>
          <a:xfrm xmlns:a="http://schemas.openxmlformats.org/drawingml/2006/main">
            <a:off x="685800" y="6181725"/>
            <a:ext cx="10820400" cy="9525"/>
          </a:xfrm>
          <a:prstGeom xmlns:a="http://schemas.openxmlformats.org/drawingml/2006/main" prst="rect">
            <a:avLst/>
          </a:prstGeom>
          <a:solidFill xmlns:a="http://schemas.openxmlformats.org/drawingml/2006/main">
            <a:srgbClr val="3A586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0A49E91-77B7-44DD-B47A-06385EC12A3E}"/>
              </a:ext>
            </a:extLst>
          </p:cNvPr>
          <p:cNvSpPr>
            <a:spLocks xmlns:a="http://schemas.openxmlformats.org/drawingml/2006/main" noGrp="1"/>
          </p:cNvSpPr>
          <p:nvPr/>
        </p:nvSpPr>
        <p:spPr>
          <a:xfrm xmlns:a="http://schemas.openxmlformats.org/drawingml/2006/main">
            <a:off x="685800" y="6296025"/>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b="1">
                <a:solidFill>
                  <a:srgbClr val="A9BFC2"/>
                </a:solidFill>
              </a:defRPr>
            </a:defPPr>
          </a:lstStyle>
          <a:p xmlns:a="http://schemas.openxmlformats.org/drawingml/2006/main">
            <a:pPr>
              <a:defRPr sz="825" b="1">
                <a:solidFill>
                  <a:srgbClr val="A9BFC2"/>
                </a:solidFill>
              </a:defRPr>
            </a:pPr>
            <a:r>
              <a:rPr sz="825" b="1">
                <a:solidFill>
                  <a:srgbClr val="A9BFC2"/>
                </a:solidFill>
              </a:rPr>
              <a:t>CLOSE</a:t>
            </a:r>
          </a:p>
        </p:txBody>
      </p:sp>
      <p:sp>
        <p:nvSpPr>
          <p:cNvPr id="6" name="">
            <a:extLst xmlns:a="http://schemas.openxmlformats.org/drawingml/2006/main">
              <a:ext uri="{FF2B5EF4-FFF2-40B4-BE49-F238E27FC236}">
                <a16:creationId xmlns:a16="http://schemas.microsoft.com/office/drawing/2014/main" id="{DB9D4E36-1382-4E2F-9B35-9BA65CAD1E07}"/>
              </a:ext>
            </a:extLst>
          </p:cNvPr>
          <p:cNvSpPr>
            <a:spLocks xmlns:a="http://schemas.openxmlformats.org/drawingml/2006/main" noGrp="1"/>
          </p:cNvSpPr>
          <p:nvPr/>
        </p:nvSpPr>
        <p:spPr>
          <a:xfrm xmlns:a="http://schemas.openxmlformats.org/drawingml/2006/main">
            <a:off x="695325" y="1409700"/>
            <a:ext cx="9906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4650" b="1">
                <a:solidFill>
                  <a:srgbClr val="EFF7F4"/>
                </a:solidFill>
              </a:defRPr>
            </a:defPPr>
          </a:lstStyle>
          <a:p xmlns:a="http://schemas.openxmlformats.org/drawingml/2006/main">
            <a:pPr>
              <a:defRPr sz="4650" b="1">
                <a:solidFill>
                  <a:srgbClr val="EFF7F4"/>
                </a:solidFill>
              </a:defRPr>
            </a:pPr>
            <a:r>
              <a:rPr sz="4650" b="1">
                <a:solidFill>
                  <a:srgbClr val="EFF7F4"/>
                </a:solidFill>
              </a:rPr>
              <a:t>From warning to readiness.</a:t>
            </a:r>
          </a:p>
        </p:txBody>
      </p:sp>
      <p:sp>
        <p:nvSpPr>
          <p:cNvPr id="7" name="">
            <a:extLst xmlns:a="http://schemas.openxmlformats.org/drawingml/2006/main">
              <a:ext uri="{FF2B5EF4-FFF2-40B4-BE49-F238E27FC236}">
                <a16:creationId xmlns:a16="http://schemas.microsoft.com/office/drawing/2014/main" id="{945E6821-F5D4-4993-8BC3-536A8807413B}"/>
              </a:ext>
            </a:extLst>
          </p:cNvPr>
          <p:cNvSpPr>
            <a:spLocks xmlns:a="http://schemas.openxmlformats.org/drawingml/2006/main" noGrp="1"/>
          </p:cNvSpPr>
          <p:nvPr/>
        </p:nvSpPr>
        <p:spPr>
          <a:xfrm xmlns:a="http://schemas.openxmlformats.org/drawingml/2006/main">
            <a:off x="723900" y="2971800"/>
            <a:ext cx="8667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175" b="0">
                <a:solidFill>
                  <a:srgbClr val="A9BFC2"/>
                </a:solidFill>
              </a:defRPr>
            </a:defPPr>
          </a:lstStyle>
          <a:p xmlns:a="http://schemas.openxmlformats.org/drawingml/2006/main">
            <a:pPr>
              <a:defRPr sz="2175" b="0">
                <a:solidFill>
                  <a:srgbClr val="A9BFC2"/>
                </a:solidFill>
              </a:defRPr>
            </a:pPr>
            <a:r>
              <a:rPr sz="2175" b="0">
                <a:solidFill>
                  <a:srgbClr val="A9BFC2"/>
                </a:solidFill>
              </a:rPr>
              <a:t>Forecast the next six hours. Show the assumption. Give a hospital a concrete next action.</a:t>
            </a:r>
          </a:p>
        </p:txBody>
      </p:sp>
      <p:sp>
        <p:nvSpPr>
          <p:cNvPr id="8" name="">
            <a:extLst xmlns:a="http://schemas.openxmlformats.org/drawingml/2006/main">
              <a:ext uri="{FF2B5EF4-FFF2-40B4-BE49-F238E27FC236}">
                <a16:creationId xmlns:a16="http://schemas.microsoft.com/office/drawing/2014/main" id="{B6F88F7F-37EC-4B07-981D-AB43B481A0E8}"/>
              </a:ext>
            </a:extLst>
          </p:cNvPr>
          <p:cNvSpPr>
            <a:spLocks xmlns:a="http://schemas.openxmlformats.org/drawingml/2006/main" noGrp="1"/>
          </p:cNvSpPr>
          <p:nvPr/>
        </p:nvSpPr>
        <p:spPr>
          <a:xfrm xmlns:a="http://schemas.openxmlformats.org/drawingml/2006/main">
            <a:off x="714375" y="4638675"/>
            <a:ext cx="7048500" cy="28575"/>
          </a:xfrm>
          <a:prstGeom xmlns:a="http://schemas.openxmlformats.org/drawingml/2006/main" prst="rect">
            <a:avLst/>
          </a:prstGeom>
          <a:solidFill xmlns:a="http://schemas.openxmlformats.org/drawingml/2006/main">
            <a:srgbClr val="48E6C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FB4C564-2FC6-4A87-8F9A-A1D3447452C8}"/>
              </a:ext>
            </a:extLst>
          </p:cNvPr>
          <p:cNvSpPr>
            <a:spLocks xmlns:a="http://schemas.openxmlformats.org/drawingml/2006/main" noGrp="1"/>
          </p:cNvSpPr>
          <p:nvPr/>
        </p:nvSpPr>
        <p:spPr>
          <a:xfrm xmlns:a="http://schemas.openxmlformats.org/drawingml/2006/main">
            <a:off x="714375" y="4981575"/>
            <a:ext cx="10477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1">
                <a:solidFill>
                  <a:srgbClr val="48E6C1"/>
                </a:solidFill>
              </a:defRPr>
            </a:defPPr>
          </a:lstStyle>
          <a:p xmlns:a="http://schemas.openxmlformats.org/drawingml/2006/main">
            <a:pPr>
              <a:defRPr sz="1800" b="1">
                <a:solidFill>
                  <a:srgbClr val="48E6C1"/>
                </a:solidFill>
              </a:defRPr>
            </a:pPr>
            <a:r>
              <a:rPr sz="1800" b="1">
                <a:solidFill>
                  <a:srgbClr val="48E6C1"/>
                </a:solidFill>
              </a:rPr>
              <a:t>NEXT: validate on LinuxONE with official demand and licensed inspection images.</a:t>
            </a:r>
          </a:p>
        </p:txBody>
      </p:sp>
    </p:spTree>
    <p:extLst>
      <p:ext uri="{BB962C8B-B14F-4D97-AF65-F5344CB8AC3E}">
        <p14:creationId xmlns:p14="http://schemas.microsoft.com/office/powerpoint/2010/main" val="15575885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2026-10-17T23:19:54.3280000Z</dcterms:created>
  <dcterms:modified xsi:type="dcterms:W3CDTF">2026-10-17T23:19:54.3280000Z</dcterms:modified>
</coreProperties>
</file>