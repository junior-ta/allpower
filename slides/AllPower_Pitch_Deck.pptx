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02d217fecad4c3f" /><Relationship Type="http://schemas.openxmlformats.org/officeDocument/2006/relationships/extended-properties" Target="/docProps/app.xml" Id="Rbb941b68e1f54747" /><Relationship Type="http://schemas.openxmlformats.org/officeDocument/2006/relationships/officeDocument" Target="/ppt/presentation.xml" Id="Rd3061c953d7c48a9" /></Relationships>
</file>

<file path=ppt/presentation.xml><?xml version="1.0" encoding="utf-8"?>
<p:presentation xmlns:p="http://schemas.openxmlformats.org/presentationml/2006/main">
  <p:sldMasterIdLst>
    <p:sldMasterId xmlns:r="http://schemas.openxmlformats.org/officeDocument/2006/relationships" id="2147483648" r:id="R58f4a6cfcdc140f4"/>
  </p:sldMasterIdLst>
  <p:notesMasterIdLst>
    <p:notesMasterId xmlns:r="http://schemas.openxmlformats.org/officeDocument/2006/relationships" r:id="R8b5eecb462a64130"/>
  </p:notesMasterIdLst>
  <p:sldIdLst>
    <p:sldId xmlns:r="http://schemas.openxmlformats.org/officeDocument/2006/relationships" id="256" r:id="R9244b7f004f34464"/>
    <p:sldId xmlns:r="http://schemas.openxmlformats.org/officeDocument/2006/relationships" id="257" r:id="Rb602531e26104222"/>
    <p:sldId xmlns:r="http://schemas.openxmlformats.org/officeDocument/2006/relationships" id="258" r:id="R0740352b39ae4686"/>
    <p:sldId xmlns:r="http://schemas.openxmlformats.org/officeDocument/2006/relationships" id="259" r:id="Rc999399f17aa4b58"/>
    <p:sldId xmlns:r="http://schemas.openxmlformats.org/officeDocument/2006/relationships" id="260" r:id="Rf04086abe5824020"/>
    <p:sldId xmlns:r="http://schemas.openxmlformats.org/officeDocument/2006/relationships" id="261" r:id="R5bea4051dfa44d28"/>
    <p:sldId xmlns:r="http://schemas.openxmlformats.org/officeDocument/2006/relationships" id="262" r:id="Rc5b8347399b74da1"/>
    <p:sldId xmlns:r="http://schemas.openxmlformats.org/officeDocument/2006/relationships" id="263" r:id="R7a0b5351a20d4a3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1b4eb0e9a944d42" /><Relationship Type="http://schemas.openxmlformats.org/officeDocument/2006/relationships/slideMaster" Target="/ppt/slideMasters/slideMaster1.xml" Id="R58f4a6cfcdc140f4" /><Relationship Type="http://schemas.openxmlformats.org/officeDocument/2006/relationships/notesMaster" Target="/ppt/notesMasters/notesMaster1.xml" Id="R8b5eecb462a64130" /><Relationship Type="http://schemas.openxmlformats.org/officeDocument/2006/relationships/presProps" Target="/ppt/presProps.xml" Id="R7aad030c73f44729" /><Relationship Type="http://schemas.openxmlformats.org/officeDocument/2006/relationships/tableStyles" Target="/ppt/tableStyles.xml" Id="R1be6182d6e774eee" /><Relationship Type="http://schemas.openxmlformats.org/officeDocument/2006/relationships/slide" Target="/ppt/slides/slide1.xml" Id="R9244b7f004f34464" /><Relationship Type="http://schemas.openxmlformats.org/officeDocument/2006/relationships/slide" Target="/ppt/slides/slide2.xml" Id="Rb602531e26104222" /><Relationship Type="http://schemas.openxmlformats.org/officeDocument/2006/relationships/slide" Target="/ppt/slides/slide3.xml" Id="R0740352b39ae4686" /><Relationship Type="http://schemas.openxmlformats.org/officeDocument/2006/relationships/slide" Target="/ppt/slides/slide4.xml" Id="Rc999399f17aa4b58" /><Relationship Type="http://schemas.openxmlformats.org/officeDocument/2006/relationships/slide" Target="/ppt/slides/slide5.xml" Id="Rf04086abe5824020" /><Relationship Type="http://schemas.openxmlformats.org/officeDocument/2006/relationships/slide" Target="/ppt/slides/slide6.xml" Id="R5bea4051dfa44d28" /><Relationship Type="http://schemas.openxmlformats.org/officeDocument/2006/relationships/slide" Target="/ppt/slides/slide7.xml" Id="Rc5b8347399b74da1" /><Relationship Type="http://schemas.openxmlformats.org/officeDocument/2006/relationships/slide" Target="/ppt/slides/slide8.xml" Id="R7a0b5351a20d4a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dfd86f7ed9482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c9a556f32f04753" /><Relationship Type="http://schemas.openxmlformats.org/officeDocument/2006/relationships/notesMaster" Target="/ppt/notesMasters/notesMaster1.xml" Id="R62acabe8f3dc4d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20ceaeb8654efc" /><Relationship Type="http://schemas.openxmlformats.org/officeDocument/2006/relationships/notesMaster" Target="/ppt/notesMasters/notesMaster1.xml" Id="R57a2046a49244b3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60263f1f764474" /><Relationship Type="http://schemas.openxmlformats.org/officeDocument/2006/relationships/notesMaster" Target="/ppt/notesMasters/notesMaster1.xml" Id="R735bbc8ed8d849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8b594113cb45c8" /><Relationship Type="http://schemas.openxmlformats.org/officeDocument/2006/relationships/notesMaster" Target="/ppt/notesMasters/notesMaster1.xml" Id="R7eeb416ca45d4f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7758b40007d74f51" /><Relationship Type="http://schemas.openxmlformats.org/officeDocument/2006/relationships/notesMaster" Target="/ppt/notesMasters/notesMaster1.xml" Id="R09c36e6a472347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7c7319d4044d9f" /><Relationship Type="http://schemas.openxmlformats.org/officeDocument/2006/relationships/notesMaster" Target="/ppt/notesMasters/notesMaster1.xml" Id="R45b720b1f879401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ae5d78127645f9" /><Relationship Type="http://schemas.openxmlformats.org/officeDocument/2006/relationships/notesMaster" Target="/ppt/notesMasters/notesMaster1.xml" Id="R0f46535b613e4613"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fa7d809d3c4de8" /><Relationship Type="http://schemas.openxmlformats.org/officeDocument/2006/relationships/notesMaster" Target="/ppt/notesMasters/notesMaster1.xml" Id="R2609ad2313b944f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hospital operations problem. Bayou Regional Hospital is fictional. This is a research prototype; no clinical or utility partner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model forecasts demand. The shortage assessment compares it with available supply and reserve. In this submitted replay, supply and hospital interruption are explicit simulations.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Disclose the data gap before the demo. No official demand rows are bundled because the build workspace could not reach the source host. The repo contains the importer and chronological evaluation workflow. Sources: https://www.ercot.com/gridinfo/load/load_hist ; https://www.eia.gov/electricity/930-content/about.html ; https://github.com/andreluizbvs/InsPLAD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Click through the website: normal, supply loss, advisory acknowledgment, then worker restart. The worker restart proves one-host application recovery. Keep the simulated banner in frame.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cite invented accuracy. After real data is trained on LinuxONE, replace this slide with the saved MAE/RMSE and vision test metrics. The shipped demand model is a seasonal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actual LinuxONE VM has not been accessed from this workspace. Run the README commands, record architecture and image digest, and capture the restart demo. Production design may add accelerators and platform encryption, but those are not measured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read bar lengths as measured results. Use the live website output for exact values. Both plans use the same fictional battery, generator, solar and critical load. The reactive policy loses an hour to generator startup. No lives-saved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concrete workflow and invite the judge to inspect the repository. State that the current replay is simulated and the next validation step is official data plus LinuxONE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b05632b9d0b49d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e0acf7e78e3486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cbc36880b684ba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5756cc249e74aa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c3df9730099406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b73c7d4cce7439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E7D5AE-9735-4CD1-A93A-FFF82259329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C36E72F-EBF2-4FE5-B69D-48E783EA733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C567283-00BD-4198-806A-EC807380C05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02BE5E0-F764-49E7-BE64-A3A43672CCB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9AA55C4-AC69-4F49-8B61-997E76CC328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5AB20B5-E832-4824-9828-2AA9F0FC98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1A3063D-2AAA-4F6B-A0D1-740EC3ADBA1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AEE7875-BAD2-427E-A9F8-1B47A0E56BA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070D71-2F31-4E13-85EC-0D0D98ED9F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119147-D993-42E5-8D0D-2F9449894B6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3f2ce09b214d62" /><Relationship Type="http://schemas.openxmlformats.org/officeDocument/2006/relationships/slideLayout" Target="/ppt/slideLayouts/slideLayout1.xml" Id="R93d4cf0897bc49ea" /><Relationship Type="http://schemas.openxmlformats.org/officeDocument/2006/relationships/slideLayout" Target="/ppt/slideLayouts/slideLayout2.xml" Id="R6c722b2323b34df8" /><Relationship Type="http://schemas.openxmlformats.org/officeDocument/2006/relationships/slideLayout" Target="/ppt/slideLayouts/slideLayout3.xml" Id="R4b80ea6069ac4a39" /><Relationship Type="http://schemas.openxmlformats.org/officeDocument/2006/relationships/slideLayout" Target="/ppt/slideLayouts/slideLayout4.xml" Id="R57858e9b15cf4979" /><Relationship Type="http://schemas.openxmlformats.org/officeDocument/2006/relationships/slideLayout" Target="/ppt/slideLayouts/slideLayout5.xml" Id="R95d93b2ca1cc4723" /><Relationship Type="http://schemas.openxmlformats.org/officeDocument/2006/relationships/slideLayout" Target="/ppt/slideLayouts/slideLayout6.xml" Id="Rf85ec65275af4e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d4cf0897bc49ea"/>
    <p:sldLayoutId xmlns:r="http://schemas.openxmlformats.org/officeDocument/2006/relationships" id="2147483650" r:id="R6c722b2323b34df8"/>
    <p:sldLayoutId xmlns:r="http://schemas.openxmlformats.org/officeDocument/2006/relationships" id="2147483651" r:id="R4b80ea6069ac4a39"/>
    <p:sldLayoutId xmlns:r="http://schemas.openxmlformats.org/officeDocument/2006/relationships" id="2147483652" r:id="R57858e9b15cf4979"/>
    <p:sldLayoutId xmlns:r="http://schemas.openxmlformats.org/officeDocument/2006/relationships" id="2147483653" r:id="R95d93b2ca1cc4723"/>
    <p:sldLayoutId xmlns:r="http://schemas.openxmlformats.org/officeDocument/2006/relationships" id="2147483654" r:id="Rf85ec65275af4e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d55207309b945fb" /><Relationship Type="http://schemas.openxmlformats.org/officeDocument/2006/relationships/notesSlide" Target="/ppt/notesSlides/notesSlide1.xml" Id="R0f8c29cba39142e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f9340d49ef2448b" /><Relationship Type="http://schemas.openxmlformats.org/officeDocument/2006/relationships/notesSlide" Target="/ppt/notesSlides/notesSlide2.xml" Id="R4412f378494743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e5b02518c594478" /><Relationship Type="http://schemas.openxmlformats.org/officeDocument/2006/relationships/notesSlide" Target="/ppt/notesSlides/notesSlide3.xml" Id="Re1294abc127b4a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17bb506353e4471" /><Relationship Type="http://schemas.openxmlformats.org/officeDocument/2006/relationships/notesSlide" Target="/ppt/notesSlides/notesSlide4.xml" Id="R19e103bdfe45429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a52120fbad64aaf" /><Relationship Type="http://schemas.openxmlformats.org/officeDocument/2006/relationships/notesSlide" Target="/ppt/notesSlides/notesSlide5.xml" Id="R057bfbe7951644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864e8844d5e4e0a" /><Relationship Type="http://schemas.openxmlformats.org/officeDocument/2006/relationships/notesSlide" Target="/ppt/notesSlides/notesSlide6.xml" Id="R9896ca83e9f94a3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1c521dc69a64f48" /><Relationship Type="http://schemas.openxmlformats.org/officeDocument/2006/relationships/notesSlide" Target="/ppt/notesSlides/notesSlide7.xml" Id="R0f8bf643c4034c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4c6677f88fe415c" /><Relationship Type="http://schemas.openxmlformats.org/officeDocument/2006/relationships/notesSlide" Target="/ppt/notesSlides/notesSlide8.xml" Id="Rc9de79b71a644c22" /></Relationships>
</file>

<file path=ppt/slides/slide1.xml><?xml version="1.0" encoding="utf-8"?>
<p:sld xmlns:p="http://schemas.openxmlformats.org/presentationml/2006/main">
  <p:cSld>
    <p:bg>
      <p:bgPr>
        <a:solidFill xmlns:a="http://schemas.openxmlformats.org/drawingml/2006/main">
          <a:srgbClr val="0B1C2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D57CC2-1856-4997-A262-C8D96CBC7C9B}"/>
              </a:ext>
            </a:extLst>
          </p:cNvPr>
          <p:cNvSpPr>
            <a:spLocks xmlns:a="http://schemas.openxmlformats.org/drawingml/2006/main" noGrp="1"/>
          </p:cNvSpPr>
          <p:nvPr/>
        </p:nvSpPr>
        <p:spPr>
          <a:xfrm xmlns:a="http://schemas.openxmlformats.org/drawingml/2006/main">
            <a:off x="685800" y="514350"/>
            <a:ext cx="419100" cy="4762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7F09082-7686-4A59-A23B-D75BFC27B7B6}"/>
              </a:ext>
            </a:extLst>
          </p:cNvPr>
          <p:cNvSpPr>
            <a:spLocks xmlns:a="http://schemas.openxmlformats.org/drawingml/2006/main" noGrp="1"/>
          </p:cNvSpPr>
          <p:nvPr/>
        </p:nvSpPr>
        <p:spPr>
          <a:xfrm xmlns:a="http://schemas.openxmlformats.org/drawingml/2006/main">
            <a:off x="685800" y="666750"/>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8E6C1"/>
                </a:solidFill>
              </a:defRPr>
            </a:defPPr>
          </a:lstStyle>
          <a:p xmlns:a="http://schemas.openxmlformats.org/drawingml/2006/main">
            <a:pPr>
              <a:defRPr sz="975" b="1">
                <a:solidFill>
                  <a:srgbClr val="48E6C1"/>
                </a:solidFill>
              </a:defRPr>
            </a:pPr>
            <a:r>
              <a:rPr sz="975" b="1">
                <a:solidFill>
                  <a:srgbClr val="48E6C1"/>
                </a:solidFill>
              </a:rPr>
              <a:t>ALLPOWER  /  AI FOR GOOD</a:t>
            </a:r>
          </a:p>
        </p:txBody>
      </p:sp>
      <p:sp>
        <p:nvSpPr>
          <p:cNvPr id="3" name="">
            <a:extLst xmlns:a="http://schemas.openxmlformats.org/drawingml/2006/main">
              <a:ext uri="{FF2B5EF4-FFF2-40B4-BE49-F238E27FC236}">
                <a16:creationId xmlns:a16="http://schemas.microsoft.com/office/drawing/2014/main" id="{D4CB4875-0850-4F0F-9EDD-FFE25C8C2057}"/>
              </a:ext>
            </a:extLst>
          </p:cNvPr>
          <p:cNvSpPr>
            <a:spLocks xmlns:a="http://schemas.openxmlformats.org/drawingml/2006/main" noGrp="1"/>
          </p:cNvSpPr>
          <p:nvPr/>
        </p:nvSpPr>
        <p:spPr>
          <a:xfrm xmlns:a="http://schemas.openxmlformats.org/drawingml/2006/main">
            <a:off x="11049000" y="590550"/>
            <a:ext cx="47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A9BFC2"/>
                </a:solidFill>
              </a:defRPr>
            </a:defPPr>
          </a:lstStyle>
          <a:p xmlns:a="http://schemas.openxmlformats.org/drawingml/2006/main">
            <a:pPr>
              <a:defRPr sz="1200" b="1">
                <a:solidFill>
                  <a:srgbClr val="A9BFC2"/>
                </a:solidFill>
              </a:defRPr>
            </a:pPr>
            <a:r>
              <a:rPr sz="1200" b="1">
                <a:solidFill>
                  <a:srgbClr val="A9BFC2"/>
                </a:solidFill>
              </a:rPr>
              <a:t>01</a:t>
            </a:r>
          </a:p>
        </p:txBody>
      </p:sp>
      <p:sp>
        <p:nvSpPr>
          <p:cNvPr id="4" name="">
            <a:extLst xmlns:a="http://schemas.openxmlformats.org/drawingml/2006/main">
              <a:ext uri="{FF2B5EF4-FFF2-40B4-BE49-F238E27FC236}">
                <a16:creationId xmlns:a16="http://schemas.microsoft.com/office/drawing/2014/main" id="{A063E5BB-1551-4306-84A0-F0D12A8CB548}"/>
              </a:ext>
            </a:extLst>
          </p:cNvPr>
          <p:cNvSpPr>
            <a:spLocks xmlns:a="http://schemas.openxmlformats.org/drawingml/2006/main" noGrp="1"/>
          </p:cNvSpPr>
          <p:nvPr/>
        </p:nvSpPr>
        <p:spPr>
          <a:xfrm xmlns:a="http://schemas.openxmlformats.org/drawingml/2006/main">
            <a:off x="685800" y="6181725"/>
            <a:ext cx="10820400"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8587B01-9FFA-442D-A1EA-4C43013424D2}"/>
              </a:ext>
            </a:extLst>
          </p:cNvPr>
          <p:cNvSpPr>
            <a:spLocks xmlns:a="http://schemas.openxmlformats.org/drawingml/2006/main" noGrp="1"/>
          </p:cNvSpPr>
          <p:nvPr/>
        </p:nvSpPr>
        <p:spPr>
          <a:xfrm xmlns:a="http://schemas.openxmlformats.org/drawingml/2006/main">
            <a:off x="685800" y="6296025"/>
            <a:ext cx="762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A9BFC2"/>
                </a:solidFill>
              </a:defRPr>
            </a:defPPr>
          </a:lstStyle>
          <a:p xmlns:a="http://schemas.openxmlformats.org/drawingml/2006/main">
            <a:pPr>
              <a:defRPr sz="825" b="1">
                <a:solidFill>
                  <a:srgbClr val="A9BFC2"/>
                </a:solidFill>
              </a:defRPr>
            </a:pPr>
            <a:r>
              <a:rPr sz="825" b="1">
                <a:solidFill>
                  <a:srgbClr val="A9BFC2"/>
                </a:solidFill>
              </a:rPr>
              <a:t>THE PROBLEM</a:t>
            </a:r>
          </a:p>
        </p:txBody>
      </p:sp>
      <p:sp>
        <p:nvSpPr>
          <p:cNvPr id="6" name="">
            <a:extLst xmlns:a="http://schemas.openxmlformats.org/drawingml/2006/main">
              <a:ext uri="{FF2B5EF4-FFF2-40B4-BE49-F238E27FC236}">
                <a16:creationId xmlns:a16="http://schemas.microsoft.com/office/drawing/2014/main" id="{E27748A0-0C95-4BE2-AE10-F733F8A8EE0E}"/>
              </a:ext>
            </a:extLst>
          </p:cNvPr>
          <p:cNvSpPr>
            <a:spLocks xmlns:a="http://schemas.openxmlformats.org/drawingml/2006/main" noGrp="1"/>
          </p:cNvSpPr>
          <p:nvPr/>
        </p:nvSpPr>
        <p:spPr>
          <a:xfrm xmlns:a="http://schemas.openxmlformats.org/drawingml/2006/main">
            <a:off x="685800" y="1476375"/>
            <a:ext cx="10096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350" b="1">
                <a:solidFill>
                  <a:srgbClr val="EFF7F4"/>
                </a:solidFill>
              </a:defRPr>
            </a:defPPr>
          </a:lstStyle>
          <a:p xmlns:a="http://schemas.openxmlformats.org/drawingml/2006/main">
            <a:pPr>
              <a:defRPr sz="4350" b="1">
                <a:solidFill>
                  <a:srgbClr val="EFF7F4"/>
                </a:solidFill>
              </a:defRPr>
            </a:pPr>
            <a:r>
              <a:rPr sz="4350" b="1">
                <a:solidFill>
                  <a:srgbClr val="EFF7F4"/>
                </a:solidFill>
              </a:rPr>
              <a:t>Six hours can change a hospital’s response.</a:t>
            </a:r>
          </a:p>
        </p:txBody>
      </p:sp>
      <p:sp>
        <p:nvSpPr>
          <p:cNvPr id="7" name="">
            <a:extLst xmlns:a="http://schemas.openxmlformats.org/drawingml/2006/main">
              <a:ext uri="{FF2B5EF4-FFF2-40B4-BE49-F238E27FC236}">
                <a16:creationId xmlns:a16="http://schemas.microsoft.com/office/drawing/2014/main" id="{F0C69E57-72FA-42D3-B26D-0F2374F39219}"/>
              </a:ext>
            </a:extLst>
          </p:cNvPr>
          <p:cNvSpPr>
            <a:spLocks xmlns:a="http://schemas.openxmlformats.org/drawingml/2006/main" noGrp="1"/>
          </p:cNvSpPr>
          <p:nvPr/>
        </p:nvSpPr>
        <p:spPr>
          <a:xfrm xmlns:a="http://schemas.openxmlformats.org/drawingml/2006/main">
            <a:off x="714375" y="3333750"/>
            <a:ext cx="8191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0">
                <a:solidFill>
                  <a:srgbClr val="A9BFC2"/>
                </a:solidFill>
              </a:defRPr>
            </a:defPPr>
          </a:lstStyle>
          <a:p xmlns:a="http://schemas.openxmlformats.org/drawingml/2006/main">
            <a:pPr>
              <a:defRPr sz="1875" b="0">
                <a:solidFill>
                  <a:srgbClr val="A9BFC2"/>
                </a:solidFill>
              </a:defRPr>
            </a:pPr>
            <a:r>
              <a:rPr sz="1875" b="0">
                <a:solidFill>
                  <a:srgbClr val="A9BFC2"/>
                </a:solidFill>
              </a:rPr>
              <a:t>When regional supply tightens, facility teams need time to start backup systems and protect critical loads.</a:t>
            </a:r>
          </a:p>
        </p:txBody>
      </p:sp>
      <p:sp>
        <p:nvSpPr>
          <p:cNvPr id="8" name="">
            <a:extLst xmlns:a="http://schemas.openxmlformats.org/drawingml/2006/main">
              <a:ext uri="{FF2B5EF4-FFF2-40B4-BE49-F238E27FC236}">
                <a16:creationId xmlns:a16="http://schemas.microsoft.com/office/drawing/2014/main" id="{359508EE-9BF0-4D73-B23F-FD07EBC74EBA}"/>
              </a:ext>
            </a:extLst>
          </p:cNvPr>
          <p:cNvSpPr>
            <a:spLocks xmlns:a="http://schemas.openxmlformats.org/drawingml/2006/main" noGrp="1"/>
          </p:cNvSpPr>
          <p:nvPr/>
        </p:nvSpPr>
        <p:spPr>
          <a:xfrm xmlns:a="http://schemas.openxmlformats.org/drawingml/2006/main">
            <a:off x="704850" y="4905375"/>
            <a:ext cx="6953250" cy="19050"/>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F8B68C7-4AEB-4635-B6F2-100ED4EC2597}"/>
              </a:ext>
            </a:extLst>
          </p:cNvPr>
          <p:cNvSpPr>
            <a:spLocks xmlns:a="http://schemas.openxmlformats.org/drawingml/2006/main" noGrp="1"/>
          </p:cNvSpPr>
          <p:nvPr/>
        </p:nvSpPr>
        <p:spPr>
          <a:xfrm xmlns:a="http://schemas.openxmlformats.org/drawingml/2006/main">
            <a:off x="704850" y="5191125"/>
            <a:ext cx="295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400" b="1">
                <a:solidFill>
                  <a:srgbClr val="48E6C1"/>
                </a:solidFill>
              </a:defRPr>
            </a:defPPr>
          </a:lstStyle>
          <a:p xmlns:a="http://schemas.openxmlformats.org/drawingml/2006/main">
            <a:pPr>
              <a:defRPr sz="2400" b="1">
                <a:solidFill>
                  <a:srgbClr val="48E6C1"/>
                </a:solidFill>
              </a:defRPr>
            </a:pPr>
            <a:r>
              <a:rPr sz="2400" b="1">
                <a:solidFill>
                  <a:srgbClr val="48E6C1"/>
                </a:solidFill>
              </a:rPr>
              <a:t>ALLPOWER</a:t>
            </a:r>
          </a:p>
        </p:txBody>
      </p:sp>
      <p:sp>
        <p:nvSpPr>
          <p:cNvPr id="10" name="">
            <a:extLst xmlns:a="http://schemas.openxmlformats.org/drawingml/2006/main">
              <a:ext uri="{FF2B5EF4-FFF2-40B4-BE49-F238E27FC236}">
                <a16:creationId xmlns:a16="http://schemas.microsoft.com/office/drawing/2014/main" id="{5C49A41E-45E2-4163-8275-1617F8B250FB}"/>
              </a:ext>
            </a:extLst>
          </p:cNvPr>
          <p:cNvSpPr>
            <a:spLocks xmlns:a="http://schemas.openxmlformats.org/drawingml/2006/main" noGrp="1"/>
          </p:cNvSpPr>
          <p:nvPr/>
        </p:nvSpPr>
        <p:spPr>
          <a:xfrm xmlns:a="http://schemas.openxmlformats.org/drawingml/2006/main">
            <a:off x="3667125" y="5248275"/>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EFF7F4"/>
                </a:solidFill>
              </a:defRPr>
            </a:defPPr>
          </a:lstStyle>
          <a:p xmlns:a="http://schemas.openxmlformats.org/drawingml/2006/main">
            <a:pPr>
              <a:defRPr sz="1650" b="0">
                <a:solidFill>
                  <a:srgbClr val="EFF7F4"/>
                </a:solidFill>
              </a:defRPr>
            </a:pPr>
            <a:r>
              <a:rPr sz="1650" b="0">
                <a:solidFill>
                  <a:srgbClr val="EFF7F4"/>
                </a:solidFill>
              </a:rPr>
              <a:t>A preparation workflow for power disruption</a:t>
            </a:r>
          </a:p>
        </p:txBody>
      </p:sp>
    </p:spTree>
    <p:extLst>
      <p:ext uri="{BB962C8B-B14F-4D97-AF65-F5344CB8AC3E}">
        <p14:creationId xmlns:p14="http://schemas.microsoft.com/office/powerpoint/2010/main" val="1820471059"/>
      </p:ext>
    </p:extLst>
  </p:cSld>
</p:sld>
</file>

<file path=ppt/slides/slide2.xml><?xml version="1.0" encoding="utf-8"?>
<p:sld xmlns:p="http://schemas.openxmlformats.org/presentationml/2006/main">
  <p:cSld>
    <p:bg>
      <p:bgPr>
        <a:solidFill xmlns:a="http://schemas.openxmlformats.org/drawingml/2006/main">
          <a:srgbClr val="0B1C29"/>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AE297B7-5C4E-4A42-8E38-AC78FCCDD9D3}"/>
              </a:ext>
            </a:extLst>
          </p:cNvPr>
          <p:cNvSpPr>
            <a:spLocks xmlns:a="http://schemas.openxmlformats.org/drawingml/2006/main" noGrp="1"/>
          </p:cNvSpPr>
          <p:nvPr/>
        </p:nvSpPr>
        <p:spPr>
          <a:xfrm xmlns:a="http://schemas.openxmlformats.org/drawingml/2006/main">
            <a:off x="685800" y="514350"/>
            <a:ext cx="419100" cy="4762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E26BF64-9635-43F1-BF42-1C72E912C7D6}"/>
              </a:ext>
            </a:extLst>
          </p:cNvPr>
          <p:cNvSpPr>
            <a:spLocks xmlns:a="http://schemas.openxmlformats.org/drawingml/2006/main" noGrp="1"/>
          </p:cNvSpPr>
          <p:nvPr/>
        </p:nvSpPr>
        <p:spPr>
          <a:xfrm xmlns:a="http://schemas.openxmlformats.org/drawingml/2006/main">
            <a:off x="685800" y="666750"/>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8E6C1"/>
                </a:solidFill>
              </a:defRPr>
            </a:defPPr>
          </a:lstStyle>
          <a:p xmlns:a="http://schemas.openxmlformats.org/drawingml/2006/main">
            <a:pPr>
              <a:defRPr sz="975" b="1">
                <a:solidFill>
                  <a:srgbClr val="48E6C1"/>
                </a:solidFill>
              </a:defRPr>
            </a:pPr>
            <a:r>
              <a:rPr sz="975" b="1">
                <a:solidFill>
                  <a:srgbClr val="48E6C1"/>
                </a:solidFill>
              </a:rPr>
              <a:t>ALLPOWER  /  AI FOR GOOD</a:t>
            </a:r>
          </a:p>
        </p:txBody>
      </p:sp>
      <p:sp>
        <p:nvSpPr>
          <p:cNvPr id="3" name="">
            <a:extLst xmlns:a="http://schemas.openxmlformats.org/drawingml/2006/main">
              <a:ext uri="{FF2B5EF4-FFF2-40B4-BE49-F238E27FC236}">
                <a16:creationId xmlns:a16="http://schemas.microsoft.com/office/drawing/2014/main" id="{8BAA1880-37AB-4418-AB1F-263FECBC081B}"/>
              </a:ext>
            </a:extLst>
          </p:cNvPr>
          <p:cNvSpPr>
            <a:spLocks xmlns:a="http://schemas.openxmlformats.org/drawingml/2006/main" noGrp="1"/>
          </p:cNvSpPr>
          <p:nvPr/>
        </p:nvSpPr>
        <p:spPr>
          <a:xfrm xmlns:a="http://schemas.openxmlformats.org/drawingml/2006/main">
            <a:off x="11049000" y="590550"/>
            <a:ext cx="47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A9BFC2"/>
                </a:solidFill>
              </a:defRPr>
            </a:defPPr>
          </a:lstStyle>
          <a:p xmlns:a="http://schemas.openxmlformats.org/drawingml/2006/main">
            <a:pPr>
              <a:defRPr sz="1200" b="1">
                <a:solidFill>
                  <a:srgbClr val="A9BFC2"/>
                </a:solidFill>
              </a:defRPr>
            </a:pPr>
            <a:r>
              <a:rPr sz="1200" b="1">
                <a:solidFill>
                  <a:srgbClr val="A9BFC2"/>
                </a:solidFill>
              </a:rPr>
              <a:t>02</a:t>
            </a:r>
          </a:p>
        </p:txBody>
      </p:sp>
      <p:sp>
        <p:nvSpPr>
          <p:cNvPr id="4" name="">
            <a:extLst xmlns:a="http://schemas.openxmlformats.org/drawingml/2006/main">
              <a:ext uri="{FF2B5EF4-FFF2-40B4-BE49-F238E27FC236}">
                <a16:creationId xmlns:a16="http://schemas.microsoft.com/office/drawing/2014/main" id="{C6B0AA85-BE8F-4FBF-A66A-166FC308EE90}"/>
              </a:ext>
            </a:extLst>
          </p:cNvPr>
          <p:cNvSpPr>
            <a:spLocks xmlns:a="http://schemas.openxmlformats.org/drawingml/2006/main" noGrp="1"/>
          </p:cNvSpPr>
          <p:nvPr/>
        </p:nvSpPr>
        <p:spPr>
          <a:xfrm xmlns:a="http://schemas.openxmlformats.org/drawingml/2006/main">
            <a:off x="685800" y="6181725"/>
            <a:ext cx="10820400"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81EFEC3-95F7-474D-A085-C18FE97A47CC}"/>
              </a:ext>
            </a:extLst>
          </p:cNvPr>
          <p:cNvSpPr>
            <a:spLocks xmlns:a="http://schemas.openxmlformats.org/drawingml/2006/main" noGrp="1"/>
          </p:cNvSpPr>
          <p:nvPr/>
        </p:nvSpPr>
        <p:spPr>
          <a:xfrm xmlns:a="http://schemas.openxmlformats.org/drawingml/2006/main">
            <a:off x="685800" y="6296025"/>
            <a:ext cx="762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A9BFC2"/>
                </a:solidFill>
              </a:defRPr>
            </a:defPPr>
          </a:lstStyle>
          <a:p xmlns:a="http://schemas.openxmlformats.org/drawingml/2006/main">
            <a:pPr>
              <a:defRPr sz="825" b="1">
                <a:solidFill>
                  <a:srgbClr val="A9BFC2"/>
                </a:solidFill>
              </a:defRPr>
            </a:pPr>
            <a:r>
              <a:rPr sz="825" b="1">
                <a:solidFill>
                  <a:srgbClr val="A9BFC2"/>
                </a:solidFill>
              </a:rPr>
              <a:t>THE WORKFLOW</a:t>
            </a:r>
          </a:p>
        </p:txBody>
      </p:sp>
      <p:sp>
        <p:nvSpPr>
          <p:cNvPr id="6" name="">
            <a:extLst xmlns:a="http://schemas.openxmlformats.org/drawingml/2006/main">
              <a:ext uri="{FF2B5EF4-FFF2-40B4-BE49-F238E27FC236}">
                <a16:creationId xmlns:a16="http://schemas.microsoft.com/office/drawing/2014/main" id="{97578573-1E07-49AA-BFA6-54C58ADE87A8}"/>
              </a:ext>
            </a:extLst>
          </p:cNvPr>
          <p:cNvSpPr>
            <a:spLocks xmlns:a="http://schemas.openxmlformats.org/drawingml/2006/main" noGrp="1"/>
          </p:cNvSpPr>
          <p:nvPr/>
        </p:nvSpPr>
        <p:spPr>
          <a:xfrm xmlns:a="http://schemas.openxmlformats.org/drawingml/2006/main">
            <a:off x="685800" y="1143000"/>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900" b="1">
                <a:solidFill>
                  <a:srgbClr val="EFF7F4"/>
                </a:solidFill>
              </a:defRPr>
            </a:defPPr>
          </a:lstStyle>
          <a:p xmlns:a="http://schemas.openxmlformats.org/drawingml/2006/main">
            <a:pPr>
              <a:defRPr sz="3900" b="1">
                <a:solidFill>
                  <a:srgbClr val="EFF7F4"/>
                </a:solidFill>
              </a:defRPr>
            </a:pPr>
            <a:r>
              <a:rPr sz="3900" b="1">
                <a:solidFill>
                  <a:srgbClr val="EFF7F4"/>
                </a:solidFill>
              </a:rPr>
              <a:t>One connected preparation workflow</a:t>
            </a:r>
          </a:p>
        </p:txBody>
      </p:sp>
      <p:sp>
        <p:nvSpPr>
          <p:cNvPr id="7" name="">
            <a:extLst xmlns:a="http://schemas.openxmlformats.org/drawingml/2006/main">
              <a:ext uri="{FF2B5EF4-FFF2-40B4-BE49-F238E27FC236}">
                <a16:creationId xmlns:a16="http://schemas.microsoft.com/office/drawing/2014/main" id="{D64682E7-5151-44DE-A29D-C50C130DE89F}"/>
              </a:ext>
            </a:extLst>
          </p:cNvPr>
          <p:cNvSpPr>
            <a:spLocks xmlns:a="http://schemas.openxmlformats.org/drawingml/2006/main" noGrp="1"/>
          </p:cNvSpPr>
          <p:nvPr/>
        </p:nvSpPr>
        <p:spPr>
          <a:xfrm xmlns:a="http://schemas.openxmlformats.org/drawingml/2006/main">
            <a:off x="704850" y="2390775"/>
            <a:ext cx="1000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A9BFC2"/>
                </a:solidFill>
              </a:defRPr>
            </a:defPPr>
          </a:lstStyle>
          <a:p xmlns:a="http://schemas.openxmlformats.org/drawingml/2006/main">
            <a:pPr>
              <a:defRPr sz="1650" b="0">
                <a:solidFill>
                  <a:srgbClr val="A9BFC2"/>
                </a:solidFill>
              </a:defRPr>
            </a:pPr>
            <a:r>
              <a:rPr sz="1650" b="0">
                <a:solidFill>
                  <a:srgbClr val="A9BFC2"/>
                </a:solidFill>
              </a:rPr>
              <a:t>Demand forecast, scenario margin, asset concern and backup plan.</a:t>
            </a:r>
          </a:p>
        </p:txBody>
      </p:sp>
      <p:sp>
        <p:nvSpPr>
          <p:cNvPr id="8" name="">
            <a:extLst xmlns:a="http://schemas.openxmlformats.org/drawingml/2006/main">
              <a:ext uri="{FF2B5EF4-FFF2-40B4-BE49-F238E27FC236}">
                <a16:creationId xmlns:a16="http://schemas.microsoft.com/office/drawing/2014/main" id="{D12A8FCB-FF91-41EE-943D-68B802C6ACE1}"/>
              </a:ext>
            </a:extLst>
          </p:cNvPr>
          <p:cNvSpPr>
            <a:spLocks xmlns:a="http://schemas.openxmlformats.org/drawingml/2006/main" noGrp="1"/>
          </p:cNvSpPr>
          <p:nvPr/>
        </p:nvSpPr>
        <p:spPr>
          <a:xfrm xmlns:a="http://schemas.openxmlformats.org/drawingml/2006/main">
            <a:off x="714375" y="3571875"/>
            <a:ext cx="3190875" cy="1762125"/>
          </a:xfrm>
          <a:prstGeom xmlns:a="http://schemas.openxmlformats.org/drawingml/2006/main" prst="rect">
            <a:avLst/>
          </a:prstGeom>
          <a:solidFill xmlns:a="http://schemas.openxmlformats.org/drawingml/2006/main">
            <a:srgbClr val="112B3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60310E8-3DC1-4D72-98F4-4BB631BDDEE5}"/>
              </a:ext>
            </a:extLst>
          </p:cNvPr>
          <p:cNvSpPr>
            <a:spLocks xmlns:a="http://schemas.openxmlformats.org/drawingml/2006/main" noGrp="1"/>
          </p:cNvSpPr>
          <p:nvPr/>
        </p:nvSpPr>
        <p:spPr>
          <a:xfrm xmlns:a="http://schemas.openxmlformats.org/drawingml/2006/main">
            <a:off x="942975" y="3762375"/>
            <a:ext cx="66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48E6C1"/>
                </a:solidFill>
              </a:defRPr>
            </a:defPPr>
          </a:lstStyle>
          <a:p xmlns:a="http://schemas.openxmlformats.org/drawingml/2006/main">
            <a:pPr>
              <a:defRPr sz="1500" b="1">
                <a:solidFill>
                  <a:srgbClr val="48E6C1"/>
                </a:solidFill>
              </a:defRPr>
            </a:pPr>
            <a:r>
              <a:rPr sz="1500" b="1">
                <a:solidFill>
                  <a:srgbClr val="48E6C1"/>
                </a:solidFill>
              </a:rPr>
              <a:t>01</a:t>
            </a:r>
          </a:p>
        </p:txBody>
      </p:sp>
      <p:sp>
        <p:nvSpPr>
          <p:cNvPr id="10" name="">
            <a:extLst xmlns:a="http://schemas.openxmlformats.org/drawingml/2006/main">
              <a:ext uri="{FF2B5EF4-FFF2-40B4-BE49-F238E27FC236}">
                <a16:creationId xmlns:a16="http://schemas.microsoft.com/office/drawing/2014/main" id="{6D2EFF55-35D9-4F3C-B980-9237EDEDE006}"/>
              </a:ext>
            </a:extLst>
          </p:cNvPr>
          <p:cNvSpPr>
            <a:spLocks xmlns:a="http://schemas.openxmlformats.org/drawingml/2006/main" noGrp="1"/>
          </p:cNvSpPr>
          <p:nvPr/>
        </p:nvSpPr>
        <p:spPr>
          <a:xfrm xmlns:a="http://schemas.openxmlformats.org/drawingml/2006/main">
            <a:off x="942975" y="4191000"/>
            <a:ext cx="2762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EFF7F4"/>
                </a:solidFill>
              </a:defRPr>
            </a:defPPr>
          </a:lstStyle>
          <a:p xmlns:a="http://schemas.openxmlformats.org/drawingml/2006/main">
            <a:pPr>
              <a:defRPr sz="2250" b="1">
                <a:solidFill>
                  <a:srgbClr val="EFF7F4"/>
                </a:solidFill>
              </a:defRPr>
            </a:pPr>
            <a:r>
              <a:rPr sz="2250" b="1">
                <a:solidFill>
                  <a:srgbClr val="EFF7F4"/>
                </a:solidFill>
              </a:rPr>
              <a:t>Forecast</a:t>
            </a:r>
          </a:p>
        </p:txBody>
      </p:sp>
      <p:sp>
        <p:nvSpPr>
          <p:cNvPr id="11" name="">
            <a:extLst xmlns:a="http://schemas.openxmlformats.org/drawingml/2006/main">
              <a:ext uri="{FF2B5EF4-FFF2-40B4-BE49-F238E27FC236}">
                <a16:creationId xmlns:a16="http://schemas.microsoft.com/office/drawing/2014/main" id="{9E1FC16D-77DA-4F41-94A8-781CD1FA6ACE}"/>
              </a:ext>
            </a:extLst>
          </p:cNvPr>
          <p:cNvSpPr>
            <a:spLocks xmlns:a="http://schemas.openxmlformats.org/drawingml/2006/main" noGrp="1"/>
          </p:cNvSpPr>
          <p:nvPr/>
        </p:nvSpPr>
        <p:spPr>
          <a:xfrm xmlns:a="http://schemas.openxmlformats.org/drawingml/2006/main">
            <a:off x="942975" y="47434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A9BFC2"/>
                </a:solidFill>
              </a:defRPr>
            </a:defPPr>
          </a:lstStyle>
          <a:p xmlns:a="http://schemas.openxmlformats.org/drawingml/2006/main">
            <a:pPr>
              <a:defRPr sz="1350" b="0">
                <a:solidFill>
                  <a:srgbClr val="A9BFC2"/>
                </a:solidFill>
              </a:defRPr>
            </a:pPr>
            <a:r>
              <a:rPr sz="1350" b="0">
                <a:solidFill>
                  <a:srgbClr val="A9BFC2"/>
                </a:solidFill>
              </a:rPr>
              <a:t>Six hourly demand estimates</a:t>
            </a:r>
          </a:p>
        </p:txBody>
      </p:sp>
      <p:sp>
        <p:nvSpPr>
          <p:cNvPr id="12" name="">
            <a:extLst xmlns:a="http://schemas.openxmlformats.org/drawingml/2006/main">
              <a:ext uri="{FF2B5EF4-FFF2-40B4-BE49-F238E27FC236}">
                <a16:creationId xmlns:a16="http://schemas.microsoft.com/office/drawing/2014/main" id="{3D256643-1CFD-4551-B106-7646C1BF3AAC}"/>
              </a:ext>
            </a:extLst>
          </p:cNvPr>
          <p:cNvSpPr>
            <a:spLocks xmlns:a="http://schemas.openxmlformats.org/drawingml/2006/main" noGrp="1"/>
          </p:cNvSpPr>
          <p:nvPr/>
        </p:nvSpPr>
        <p:spPr>
          <a:xfrm xmlns:a="http://schemas.openxmlformats.org/drawingml/2006/main">
            <a:off x="4333875" y="3571875"/>
            <a:ext cx="3190875" cy="1762125"/>
          </a:xfrm>
          <a:prstGeom xmlns:a="http://schemas.openxmlformats.org/drawingml/2006/main" prst="rect">
            <a:avLst/>
          </a:prstGeom>
          <a:solidFill xmlns:a="http://schemas.openxmlformats.org/drawingml/2006/main">
            <a:srgbClr val="112B3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30491A8-804D-4C36-835B-A7879A2368EB}"/>
              </a:ext>
            </a:extLst>
          </p:cNvPr>
          <p:cNvSpPr>
            <a:spLocks xmlns:a="http://schemas.openxmlformats.org/drawingml/2006/main" noGrp="1"/>
          </p:cNvSpPr>
          <p:nvPr/>
        </p:nvSpPr>
        <p:spPr>
          <a:xfrm xmlns:a="http://schemas.openxmlformats.org/drawingml/2006/main">
            <a:off x="4562475" y="3762375"/>
            <a:ext cx="66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48E6C1"/>
                </a:solidFill>
              </a:defRPr>
            </a:defPPr>
          </a:lstStyle>
          <a:p xmlns:a="http://schemas.openxmlformats.org/drawingml/2006/main">
            <a:pPr>
              <a:defRPr sz="1500" b="1">
                <a:solidFill>
                  <a:srgbClr val="48E6C1"/>
                </a:solidFill>
              </a:defRPr>
            </a:pPr>
            <a:r>
              <a:rPr sz="1500" b="1">
                <a:solidFill>
                  <a:srgbClr val="48E6C1"/>
                </a:solidFill>
              </a:rPr>
              <a:t>02</a:t>
            </a:r>
          </a:p>
        </p:txBody>
      </p:sp>
      <p:sp>
        <p:nvSpPr>
          <p:cNvPr id="14" name="">
            <a:extLst xmlns:a="http://schemas.openxmlformats.org/drawingml/2006/main">
              <a:ext uri="{FF2B5EF4-FFF2-40B4-BE49-F238E27FC236}">
                <a16:creationId xmlns:a16="http://schemas.microsoft.com/office/drawing/2014/main" id="{F76919C4-FC5A-45C0-AC02-F3EDA8DC50F1}"/>
              </a:ext>
            </a:extLst>
          </p:cNvPr>
          <p:cNvSpPr>
            <a:spLocks xmlns:a="http://schemas.openxmlformats.org/drawingml/2006/main" noGrp="1"/>
          </p:cNvSpPr>
          <p:nvPr/>
        </p:nvSpPr>
        <p:spPr>
          <a:xfrm xmlns:a="http://schemas.openxmlformats.org/drawingml/2006/main">
            <a:off x="4562475" y="4191000"/>
            <a:ext cx="2762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EFF7F4"/>
                </a:solidFill>
              </a:defRPr>
            </a:defPPr>
          </a:lstStyle>
          <a:p xmlns:a="http://schemas.openxmlformats.org/drawingml/2006/main">
            <a:pPr>
              <a:defRPr sz="2250" b="1">
                <a:solidFill>
                  <a:srgbClr val="EFF7F4"/>
                </a:solidFill>
              </a:defRPr>
            </a:pPr>
            <a:r>
              <a:rPr sz="2250" b="1">
                <a:solidFill>
                  <a:srgbClr val="EFF7F4"/>
                </a:solidFill>
              </a:rPr>
              <a:t>Assess</a:t>
            </a:r>
          </a:p>
        </p:txBody>
      </p:sp>
      <p:sp>
        <p:nvSpPr>
          <p:cNvPr id="15" name="">
            <a:extLst xmlns:a="http://schemas.openxmlformats.org/drawingml/2006/main">
              <a:ext uri="{FF2B5EF4-FFF2-40B4-BE49-F238E27FC236}">
                <a16:creationId xmlns:a16="http://schemas.microsoft.com/office/drawing/2014/main" id="{D4A54716-2100-453E-A5AB-B4549615B683}"/>
              </a:ext>
            </a:extLst>
          </p:cNvPr>
          <p:cNvSpPr>
            <a:spLocks xmlns:a="http://schemas.openxmlformats.org/drawingml/2006/main" noGrp="1"/>
          </p:cNvSpPr>
          <p:nvPr/>
        </p:nvSpPr>
        <p:spPr>
          <a:xfrm xmlns:a="http://schemas.openxmlformats.org/drawingml/2006/main">
            <a:off x="4562475" y="47434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A9BFC2"/>
                </a:solidFill>
              </a:defRPr>
            </a:defPPr>
          </a:lstStyle>
          <a:p xmlns:a="http://schemas.openxmlformats.org/drawingml/2006/main">
            <a:pPr>
              <a:defRPr sz="1350" b="0">
                <a:solidFill>
                  <a:srgbClr val="A9BFC2"/>
                </a:solidFill>
              </a:defRPr>
            </a:pPr>
            <a:r>
              <a:rPr sz="1350" b="0">
                <a:solidFill>
                  <a:srgbClr val="A9BFC2"/>
                </a:solidFill>
              </a:rPr>
              <a:t>Supply minus reserve and demand</a:t>
            </a:r>
          </a:p>
        </p:txBody>
      </p:sp>
      <p:sp>
        <p:nvSpPr>
          <p:cNvPr id="16" name="">
            <a:extLst xmlns:a="http://schemas.openxmlformats.org/drawingml/2006/main">
              <a:ext uri="{FF2B5EF4-FFF2-40B4-BE49-F238E27FC236}">
                <a16:creationId xmlns:a16="http://schemas.microsoft.com/office/drawing/2014/main" id="{99FAE77A-84D8-4BC1-B5F2-12E39AEA26D0}"/>
              </a:ext>
            </a:extLst>
          </p:cNvPr>
          <p:cNvSpPr>
            <a:spLocks xmlns:a="http://schemas.openxmlformats.org/drawingml/2006/main" noGrp="1"/>
          </p:cNvSpPr>
          <p:nvPr/>
        </p:nvSpPr>
        <p:spPr>
          <a:xfrm xmlns:a="http://schemas.openxmlformats.org/drawingml/2006/main">
            <a:off x="7953375" y="3571875"/>
            <a:ext cx="3190875" cy="1762125"/>
          </a:xfrm>
          <a:prstGeom xmlns:a="http://schemas.openxmlformats.org/drawingml/2006/main" prst="rect">
            <a:avLst/>
          </a:prstGeom>
          <a:solidFill xmlns:a="http://schemas.openxmlformats.org/drawingml/2006/main">
            <a:srgbClr val="112B3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169D345-6087-4448-872F-1144D797C865}"/>
              </a:ext>
            </a:extLst>
          </p:cNvPr>
          <p:cNvSpPr>
            <a:spLocks xmlns:a="http://schemas.openxmlformats.org/drawingml/2006/main" noGrp="1"/>
          </p:cNvSpPr>
          <p:nvPr/>
        </p:nvSpPr>
        <p:spPr>
          <a:xfrm xmlns:a="http://schemas.openxmlformats.org/drawingml/2006/main">
            <a:off x="8181975" y="3762375"/>
            <a:ext cx="66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48E6C1"/>
                </a:solidFill>
              </a:defRPr>
            </a:defPPr>
          </a:lstStyle>
          <a:p xmlns:a="http://schemas.openxmlformats.org/drawingml/2006/main">
            <a:pPr>
              <a:defRPr sz="1500" b="1">
                <a:solidFill>
                  <a:srgbClr val="48E6C1"/>
                </a:solidFill>
              </a:defRPr>
            </a:pPr>
            <a:r>
              <a:rPr sz="1500" b="1">
                <a:solidFill>
                  <a:srgbClr val="48E6C1"/>
                </a:solidFill>
              </a:rPr>
              <a:t>03</a:t>
            </a:r>
          </a:p>
        </p:txBody>
      </p:sp>
      <p:sp>
        <p:nvSpPr>
          <p:cNvPr id="18" name="">
            <a:extLst xmlns:a="http://schemas.openxmlformats.org/drawingml/2006/main">
              <a:ext uri="{FF2B5EF4-FFF2-40B4-BE49-F238E27FC236}">
                <a16:creationId xmlns:a16="http://schemas.microsoft.com/office/drawing/2014/main" id="{C0E2E39D-0289-446D-AAEB-1008BDF027CE}"/>
              </a:ext>
            </a:extLst>
          </p:cNvPr>
          <p:cNvSpPr>
            <a:spLocks xmlns:a="http://schemas.openxmlformats.org/drawingml/2006/main" noGrp="1"/>
          </p:cNvSpPr>
          <p:nvPr/>
        </p:nvSpPr>
        <p:spPr>
          <a:xfrm xmlns:a="http://schemas.openxmlformats.org/drawingml/2006/main">
            <a:off x="8181975" y="4191000"/>
            <a:ext cx="2762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EFF7F4"/>
                </a:solidFill>
              </a:defRPr>
            </a:defPPr>
          </a:lstStyle>
          <a:p xmlns:a="http://schemas.openxmlformats.org/drawingml/2006/main">
            <a:pPr>
              <a:defRPr sz="2250" b="1">
                <a:solidFill>
                  <a:srgbClr val="EFF7F4"/>
                </a:solidFill>
              </a:defRPr>
            </a:pPr>
            <a:r>
              <a:rPr sz="2250" b="1">
                <a:solidFill>
                  <a:srgbClr val="EFF7F4"/>
                </a:solidFill>
              </a:rPr>
              <a:t>Prepare</a:t>
            </a:r>
          </a:p>
        </p:txBody>
      </p:sp>
      <p:sp>
        <p:nvSpPr>
          <p:cNvPr id="19" name="">
            <a:extLst xmlns:a="http://schemas.openxmlformats.org/drawingml/2006/main">
              <a:ext uri="{FF2B5EF4-FFF2-40B4-BE49-F238E27FC236}">
                <a16:creationId xmlns:a16="http://schemas.microsoft.com/office/drawing/2014/main" id="{C76B26BA-A74C-450F-B9D4-C4F22D84470A}"/>
              </a:ext>
            </a:extLst>
          </p:cNvPr>
          <p:cNvSpPr>
            <a:spLocks xmlns:a="http://schemas.openxmlformats.org/drawingml/2006/main" noGrp="1"/>
          </p:cNvSpPr>
          <p:nvPr/>
        </p:nvSpPr>
        <p:spPr>
          <a:xfrm xmlns:a="http://schemas.openxmlformats.org/drawingml/2006/main">
            <a:off x="8181975" y="47434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A9BFC2"/>
                </a:solidFill>
              </a:defRPr>
            </a:defPPr>
          </a:lstStyle>
          <a:p xmlns:a="http://schemas.openxmlformats.org/drawingml/2006/main">
            <a:pPr>
              <a:defRPr sz="1350" b="0">
                <a:solidFill>
                  <a:srgbClr val="A9BFC2"/>
                </a:solidFill>
              </a:defRPr>
            </a:pPr>
            <a:r>
              <a:rPr sz="1350" b="0">
                <a:solidFill>
                  <a:srgbClr val="A9BFC2"/>
                </a:solidFill>
              </a:rPr>
              <a:t>Hospital advisory and backup plan</a:t>
            </a:r>
          </a:p>
        </p:txBody>
      </p:sp>
    </p:spTree>
    <p:extLst>
      <p:ext uri="{BB962C8B-B14F-4D97-AF65-F5344CB8AC3E}">
        <p14:creationId xmlns:p14="http://schemas.microsoft.com/office/powerpoint/2010/main" val="919580070"/>
      </p:ext>
    </p:extLst>
  </p:cSld>
</p:sld>
</file>

<file path=ppt/slides/slide3.xml><?xml version="1.0" encoding="utf-8"?>
<p:sld xmlns:p="http://schemas.openxmlformats.org/presentationml/2006/main">
  <p:cSld>
    <p:bg>
      <p:bgPr>
        <a:solidFill xmlns:a="http://schemas.openxmlformats.org/drawingml/2006/main">
          <a:srgbClr val="0B1C29"/>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E178AB9-DD71-4953-9E1B-5D1140EA9C06}"/>
              </a:ext>
            </a:extLst>
          </p:cNvPr>
          <p:cNvSpPr>
            <a:spLocks xmlns:a="http://schemas.openxmlformats.org/drawingml/2006/main" noGrp="1"/>
          </p:cNvSpPr>
          <p:nvPr/>
        </p:nvSpPr>
        <p:spPr>
          <a:xfrm xmlns:a="http://schemas.openxmlformats.org/drawingml/2006/main">
            <a:off x="685800" y="514350"/>
            <a:ext cx="419100" cy="4762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75CAD42-AC2E-434D-9C22-3351374E55D5}"/>
              </a:ext>
            </a:extLst>
          </p:cNvPr>
          <p:cNvSpPr>
            <a:spLocks xmlns:a="http://schemas.openxmlformats.org/drawingml/2006/main" noGrp="1"/>
          </p:cNvSpPr>
          <p:nvPr/>
        </p:nvSpPr>
        <p:spPr>
          <a:xfrm xmlns:a="http://schemas.openxmlformats.org/drawingml/2006/main">
            <a:off x="685800" y="666750"/>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8E6C1"/>
                </a:solidFill>
              </a:defRPr>
            </a:defPPr>
          </a:lstStyle>
          <a:p xmlns:a="http://schemas.openxmlformats.org/drawingml/2006/main">
            <a:pPr>
              <a:defRPr sz="975" b="1">
                <a:solidFill>
                  <a:srgbClr val="48E6C1"/>
                </a:solidFill>
              </a:defRPr>
            </a:pPr>
            <a:r>
              <a:rPr sz="975" b="1">
                <a:solidFill>
                  <a:srgbClr val="48E6C1"/>
                </a:solidFill>
              </a:rPr>
              <a:t>ALLPOWER  /  AI FOR GOOD</a:t>
            </a:r>
          </a:p>
        </p:txBody>
      </p:sp>
      <p:sp>
        <p:nvSpPr>
          <p:cNvPr id="3" name="">
            <a:extLst xmlns:a="http://schemas.openxmlformats.org/drawingml/2006/main">
              <a:ext uri="{FF2B5EF4-FFF2-40B4-BE49-F238E27FC236}">
                <a16:creationId xmlns:a16="http://schemas.microsoft.com/office/drawing/2014/main" id="{8CB6F98F-9E0E-4888-9059-47E26C53C6CA}"/>
              </a:ext>
            </a:extLst>
          </p:cNvPr>
          <p:cNvSpPr>
            <a:spLocks xmlns:a="http://schemas.openxmlformats.org/drawingml/2006/main" noGrp="1"/>
          </p:cNvSpPr>
          <p:nvPr/>
        </p:nvSpPr>
        <p:spPr>
          <a:xfrm xmlns:a="http://schemas.openxmlformats.org/drawingml/2006/main">
            <a:off x="11049000" y="590550"/>
            <a:ext cx="47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A9BFC2"/>
                </a:solidFill>
              </a:defRPr>
            </a:defPPr>
          </a:lstStyle>
          <a:p xmlns:a="http://schemas.openxmlformats.org/drawingml/2006/main">
            <a:pPr>
              <a:defRPr sz="1200" b="1">
                <a:solidFill>
                  <a:srgbClr val="A9BFC2"/>
                </a:solidFill>
              </a:defRPr>
            </a:pPr>
            <a:r>
              <a:rPr sz="1200" b="1">
                <a:solidFill>
                  <a:srgbClr val="A9BFC2"/>
                </a:solidFill>
              </a:rPr>
              <a:t>03</a:t>
            </a:r>
          </a:p>
        </p:txBody>
      </p:sp>
      <p:sp>
        <p:nvSpPr>
          <p:cNvPr id="4" name="">
            <a:extLst xmlns:a="http://schemas.openxmlformats.org/drawingml/2006/main">
              <a:ext uri="{FF2B5EF4-FFF2-40B4-BE49-F238E27FC236}">
                <a16:creationId xmlns:a16="http://schemas.microsoft.com/office/drawing/2014/main" id="{0C21E2D2-385C-4429-952C-89D55DB46F3C}"/>
              </a:ext>
            </a:extLst>
          </p:cNvPr>
          <p:cNvSpPr>
            <a:spLocks xmlns:a="http://schemas.openxmlformats.org/drawingml/2006/main" noGrp="1"/>
          </p:cNvSpPr>
          <p:nvPr/>
        </p:nvSpPr>
        <p:spPr>
          <a:xfrm xmlns:a="http://schemas.openxmlformats.org/drawingml/2006/main">
            <a:off x="685800" y="6181725"/>
            <a:ext cx="10820400"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99E7FFA-769C-4686-89E1-2EB8F1509041}"/>
              </a:ext>
            </a:extLst>
          </p:cNvPr>
          <p:cNvSpPr>
            <a:spLocks xmlns:a="http://schemas.openxmlformats.org/drawingml/2006/main" noGrp="1"/>
          </p:cNvSpPr>
          <p:nvPr/>
        </p:nvSpPr>
        <p:spPr>
          <a:xfrm xmlns:a="http://schemas.openxmlformats.org/drawingml/2006/main">
            <a:off x="685800" y="6296025"/>
            <a:ext cx="762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A9BFC2"/>
                </a:solidFill>
              </a:defRPr>
            </a:defPPr>
          </a:lstStyle>
          <a:p xmlns:a="http://schemas.openxmlformats.org/drawingml/2006/main">
            <a:pPr>
              <a:defRPr sz="825" b="1">
                <a:solidFill>
                  <a:srgbClr val="A9BFC2"/>
                </a:solidFill>
              </a:defRPr>
            </a:pPr>
            <a:r>
              <a:rPr sz="825" b="1">
                <a:solidFill>
                  <a:srgbClr val="A9BFC2"/>
                </a:solidFill>
              </a:rPr>
              <a:t>DATA CONTRACT</a:t>
            </a:r>
          </a:p>
        </p:txBody>
      </p:sp>
      <p:sp>
        <p:nvSpPr>
          <p:cNvPr id="6" name="">
            <a:extLst xmlns:a="http://schemas.openxmlformats.org/drawingml/2006/main">
              <a:ext uri="{FF2B5EF4-FFF2-40B4-BE49-F238E27FC236}">
                <a16:creationId xmlns:a16="http://schemas.microsoft.com/office/drawing/2014/main" id="{86B261D0-4BF9-4735-8EA5-AADF41295D0E}"/>
              </a:ext>
            </a:extLst>
          </p:cNvPr>
          <p:cNvSpPr>
            <a:spLocks xmlns:a="http://schemas.openxmlformats.org/drawingml/2006/main" noGrp="1"/>
          </p:cNvSpPr>
          <p:nvPr/>
        </p:nvSpPr>
        <p:spPr>
          <a:xfrm xmlns:a="http://schemas.openxmlformats.org/drawingml/2006/main">
            <a:off x="685800" y="1143000"/>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900" b="1">
                <a:solidFill>
                  <a:srgbClr val="EFF7F4"/>
                </a:solidFill>
              </a:defRPr>
            </a:defPPr>
          </a:lstStyle>
          <a:p xmlns:a="http://schemas.openxmlformats.org/drawingml/2006/main">
            <a:pPr>
              <a:defRPr sz="3900" b="1">
                <a:solidFill>
                  <a:srgbClr val="EFF7F4"/>
                </a:solidFill>
              </a:defRPr>
            </a:pPr>
            <a:r>
              <a:rPr sz="3900" b="1">
                <a:solidFill>
                  <a:srgbClr val="EFF7F4"/>
                </a:solidFill>
              </a:rPr>
              <a:t>Texas setting, clear data boundaries</a:t>
            </a:r>
          </a:p>
        </p:txBody>
      </p:sp>
      <p:sp>
        <p:nvSpPr>
          <p:cNvPr id="7" name="">
            <a:extLst xmlns:a="http://schemas.openxmlformats.org/drawingml/2006/main">
              <a:ext uri="{FF2B5EF4-FFF2-40B4-BE49-F238E27FC236}">
                <a16:creationId xmlns:a16="http://schemas.microsoft.com/office/drawing/2014/main" id="{CB24AAD6-467F-4EA5-B7B6-ADFA364E5C65}"/>
              </a:ext>
            </a:extLst>
          </p:cNvPr>
          <p:cNvSpPr>
            <a:spLocks xmlns:a="http://schemas.openxmlformats.org/drawingml/2006/main" noGrp="1"/>
          </p:cNvSpPr>
          <p:nvPr/>
        </p:nvSpPr>
        <p:spPr>
          <a:xfrm xmlns:a="http://schemas.openxmlformats.org/drawingml/2006/main">
            <a:off x="704850" y="2390775"/>
            <a:ext cx="1000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A9BFC2"/>
                </a:solidFill>
              </a:defRPr>
            </a:defPPr>
          </a:lstStyle>
          <a:p xmlns:a="http://schemas.openxmlformats.org/drawingml/2006/main">
            <a:pPr>
              <a:defRPr sz="1650" b="0">
                <a:solidFill>
                  <a:srgbClr val="A9BFC2"/>
                </a:solidFill>
              </a:defRPr>
            </a:pPr>
            <a:r>
              <a:rPr sz="1650" b="0">
                <a:solidFill>
                  <a:srgbClr val="A9BFC2"/>
                </a:solidFill>
              </a:rPr>
              <a:t>Southeast Texas is the pilot setting. Bayou Regional Hospital is fictional.</a:t>
            </a:r>
          </a:p>
        </p:txBody>
      </p:sp>
      <p:sp>
        <p:nvSpPr>
          <p:cNvPr id="8" name="">
            <a:extLst xmlns:a="http://schemas.openxmlformats.org/drawingml/2006/main">
              <a:ext uri="{FF2B5EF4-FFF2-40B4-BE49-F238E27FC236}">
                <a16:creationId xmlns:a16="http://schemas.microsoft.com/office/drawing/2014/main" id="{1B56DE8A-6E9B-42FA-AEA9-2B4325E226B7}"/>
              </a:ext>
            </a:extLst>
          </p:cNvPr>
          <p:cNvSpPr>
            <a:spLocks xmlns:a="http://schemas.openxmlformats.org/drawingml/2006/main" noGrp="1"/>
          </p:cNvSpPr>
          <p:nvPr/>
        </p:nvSpPr>
        <p:spPr>
          <a:xfrm xmlns:a="http://schemas.openxmlformats.org/drawingml/2006/main">
            <a:off x="704850" y="3390900"/>
            <a:ext cx="10753725"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42601CE-931D-4E1A-BD41-3A7DFB2F9F46}"/>
              </a:ext>
            </a:extLst>
          </p:cNvPr>
          <p:cNvSpPr>
            <a:spLocks xmlns:a="http://schemas.openxmlformats.org/drawingml/2006/main" noGrp="1"/>
          </p:cNvSpPr>
          <p:nvPr/>
        </p:nvSpPr>
        <p:spPr>
          <a:xfrm xmlns:a="http://schemas.openxmlformats.org/drawingml/2006/main">
            <a:off x="752475" y="3505200"/>
            <a:ext cx="24288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EFF7F4"/>
                </a:solidFill>
              </a:defRPr>
            </a:defPPr>
          </a:lstStyle>
          <a:p xmlns:a="http://schemas.openxmlformats.org/drawingml/2006/main">
            <a:pPr>
              <a:defRPr sz="1500" b="1">
                <a:solidFill>
                  <a:srgbClr val="EFF7F4"/>
                </a:solidFill>
              </a:defRPr>
            </a:pPr>
            <a:r>
              <a:rPr sz="1500" b="1">
                <a:solidFill>
                  <a:srgbClr val="EFF7F4"/>
                </a:solidFill>
              </a:rPr>
              <a:t>Demand</a:t>
            </a:r>
          </a:p>
        </p:txBody>
      </p:sp>
      <p:sp>
        <p:nvSpPr>
          <p:cNvPr id="10" name="">
            <a:extLst xmlns:a="http://schemas.openxmlformats.org/drawingml/2006/main">
              <a:ext uri="{FF2B5EF4-FFF2-40B4-BE49-F238E27FC236}">
                <a16:creationId xmlns:a16="http://schemas.microsoft.com/office/drawing/2014/main" id="{EBB35CE5-A4F4-49B1-8757-8A464D522FC6}"/>
              </a:ext>
            </a:extLst>
          </p:cNvPr>
          <p:cNvSpPr>
            <a:spLocks xmlns:a="http://schemas.openxmlformats.org/drawingml/2006/main" noGrp="1"/>
          </p:cNvSpPr>
          <p:nvPr/>
        </p:nvSpPr>
        <p:spPr>
          <a:xfrm xmlns:a="http://schemas.openxmlformats.org/drawingml/2006/main">
            <a:off x="3429000" y="3505200"/>
            <a:ext cx="3524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FFC06E"/>
                </a:solidFill>
              </a:defRPr>
            </a:defPPr>
          </a:lstStyle>
          <a:p xmlns:a="http://schemas.openxmlformats.org/drawingml/2006/main">
            <a:pPr>
              <a:defRPr sz="1350" b="0">
                <a:solidFill>
                  <a:srgbClr val="FFC06E"/>
                </a:solidFill>
              </a:defRPr>
            </a:pPr>
            <a:r>
              <a:rPr sz="1350" b="0">
                <a:solidFill>
                  <a:srgbClr val="FFC06E"/>
                </a:solidFill>
              </a:rPr>
              <a:t>Simulated in shipped replay</a:t>
            </a:r>
          </a:p>
        </p:txBody>
      </p:sp>
      <p:sp>
        <p:nvSpPr>
          <p:cNvPr id="11" name="">
            <a:extLst xmlns:a="http://schemas.openxmlformats.org/drawingml/2006/main">
              <a:ext uri="{FF2B5EF4-FFF2-40B4-BE49-F238E27FC236}">
                <a16:creationId xmlns:a16="http://schemas.microsoft.com/office/drawing/2014/main" id="{F104D911-D2D6-41ED-83ED-51EF183EFBB1}"/>
              </a:ext>
            </a:extLst>
          </p:cNvPr>
          <p:cNvSpPr>
            <a:spLocks xmlns:a="http://schemas.openxmlformats.org/drawingml/2006/main" noGrp="1"/>
          </p:cNvSpPr>
          <p:nvPr/>
        </p:nvSpPr>
        <p:spPr>
          <a:xfrm xmlns:a="http://schemas.openxmlformats.org/drawingml/2006/main">
            <a:off x="7200900" y="3505200"/>
            <a:ext cx="4048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A9BFC2"/>
                </a:solidFill>
              </a:defRPr>
            </a:defPPr>
          </a:lstStyle>
          <a:p xmlns:a="http://schemas.openxmlformats.org/drawingml/2006/main">
            <a:pPr>
              <a:defRPr sz="1275" b="0">
                <a:solidFill>
                  <a:srgbClr val="A9BFC2"/>
                </a:solidFill>
              </a:defRPr>
            </a:pPr>
            <a:r>
              <a:rPr sz="1275" b="0">
                <a:solidFill>
                  <a:srgbClr val="A9BFC2"/>
                </a:solidFill>
              </a:rPr>
              <a:t>Official ERCOT/EIA import path</a:t>
            </a:r>
          </a:p>
        </p:txBody>
      </p:sp>
      <p:sp>
        <p:nvSpPr>
          <p:cNvPr id="12" name="">
            <a:extLst xmlns:a="http://schemas.openxmlformats.org/drawingml/2006/main">
              <a:ext uri="{FF2B5EF4-FFF2-40B4-BE49-F238E27FC236}">
                <a16:creationId xmlns:a16="http://schemas.microsoft.com/office/drawing/2014/main" id="{D4FD1606-FCAD-419B-A0F0-BCF5CDD5CFDE}"/>
              </a:ext>
            </a:extLst>
          </p:cNvPr>
          <p:cNvSpPr>
            <a:spLocks xmlns:a="http://schemas.openxmlformats.org/drawingml/2006/main" noGrp="1"/>
          </p:cNvSpPr>
          <p:nvPr/>
        </p:nvSpPr>
        <p:spPr>
          <a:xfrm xmlns:a="http://schemas.openxmlformats.org/drawingml/2006/main">
            <a:off x="704850" y="4010025"/>
            <a:ext cx="10753725"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C72CF01-DB4C-410A-98D6-85A3015D764B}"/>
              </a:ext>
            </a:extLst>
          </p:cNvPr>
          <p:cNvSpPr>
            <a:spLocks xmlns:a="http://schemas.openxmlformats.org/drawingml/2006/main" noGrp="1"/>
          </p:cNvSpPr>
          <p:nvPr/>
        </p:nvSpPr>
        <p:spPr>
          <a:xfrm xmlns:a="http://schemas.openxmlformats.org/drawingml/2006/main">
            <a:off x="752475" y="4124325"/>
            <a:ext cx="24288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EFF7F4"/>
                </a:solidFill>
              </a:defRPr>
            </a:defPPr>
          </a:lstStyle>
          <a:p xmlns:a="http://schemas.openxmlformats.org/drawingml/2006/main">
            <a:pPr>
              <a:defRPr sz="1500" b="1">
                <a:solidFill>
                  <a:srgbClr val="EFF7F4"/>
                </a:solidFill>
              </a:defRPr>
            </a:pPr>
            <a:r>
              <a:rPr sz="1500" b="1">
                <a:solidFill>
                  <a:srgbClr val="EFF7F4"/>
                </a:solidFill>
              </a:rPr>
              <a:t>Supply and reserve</a:t>
            </a:r>
          </a:p>
        </p:txBody>
      </p:sp>
      <p:sp>
        <p:nvSpPr>
          <p:cNvPr id="14" name="">
            <a:extLst xmlns:a="http://schemas.openxmlformats.org/drawingml/2006/main">
              <a:ext uri="{FF2B5EF4-FFF2-40B4-BE49-F238E27FC236}">
                <a16:creationId xmlns:a16="http://schemas.microsoft.com/office/drawing/2014/main" id="{8AD309FA-44D9-4291-BADB-A46B877D299D}"/>
              </a:ext>
            </a:extLst>
          </p:cNvPr>
          <p:cNvSpPr>
            <a:spLocks xmlns:a="http://schemas.openxmlformats.org/drawingml/2006/main" noGrp="1"/>
          </p:cNvSpPr>
          <p:nvPr/>
        </p:nvSpPr>
        <p:spPr>
          <a:xfrm xmlns:a="http://schemas.openxmlformats.org/drawingml/2006/main">
            <a:off x="3429000" y="4124325"/>
            <a:ext cx="3524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FFC06E"/>
                </a:solidFill>
              </a:defRPr>
            </a:defPPr>
          </a:lstStyle>
          <a:p xmlns:a="http://schemas.openxmlformats.org/drawingml/2006/main">
            <a:pPr>
              <a:defRPr sz="1350" b="0">
                <a:solidFill>
                  <a:srgbClr val="FFC06E"/>
                </a:solidFill>
              </a:defRPr>
            </a:pPr>
            <a:r>
              <a:rPr sz="1350" b="0">
                <a:solidFill>
                  <a:srgbClr val="FFC06E"/>
                </a:solidFill>
              </a:rPr>
              <a:t>Scenario assumptions</a:t>
            </a:r>
          </a:p>
        </p:txBody>
      </p:sp>
      <p:sp>
        <p:nvSpPr>
          <p:cNvPr id="15" name="">
            <a:extLst xmlns:a="http://schemas.openxmlformats.org/drawingml/2006/main">
              <a:ext uri="{FF2B5EF4-FFF2-40B4-BE49-F238E27FC236}">
                <a16:creationId xmlns:a16="http://schemas.microsoft.com/office/drawing/2014/main" id="{9D0B5272-CABF-452D-9743-88388C6D28D5}"/>
              </a:ext>
            </a:extLst>
          </p:cNvPr>
          <p:cNvSpPr>
            <a:spLocks xmlns:a="http://schemas.openxmlformats.org/drawingml/2006/main" noGrp="1"/>
          </p:cNvSpPr>
          <p:nvPr/>
        </p:nvSpPr>
        <p:spPr>
          <a:xfrm xmlns:a="http://schemas.openxmlformats.org/drawingml/2006/main">
            <a:off x="7200900" y="4124325"/>
            <a:ext cx="4048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A9BFC2"/>
                </a:solidFill>
              </a:defRPr>
            </a:defPPr>
          </a:lstStyle>
          <a:p xmlns:a="http://schemas.openxmlformats.org/drawingml/2006/main">
            <a:pPr>
              <a:defRPr sz="1275" b="0">
                <a:solidFill>
                  <a:srgbClr val="A9BFC2"/>
                </a:solidFill>
              </a:defRPr>
            </a:pPr>
            <a:r>
              <a:rPr sz="1275" b="0">
                <a:solidFill>
                  <a:srgbClr val="A9BFC2"/>
                </a:solidFill>
              </a:rPr>
              <a:t>ERCOT adequacy path to validate</a:t>
            </a:r>
          </a:p>
        </p:txBody>
      </p:sp>
      <p:sp>
        <p:nvSpPr>
          <p:cNvPr id="16" name="">
            <a:extLst xmlns:a="http://schemas.openxmlformats.org/drawingml/2006/main">
              <a:ext uri="{FF2B5EF4-FFF2-40B4-BE49-F238E27FC236}">
                <a16:creationId xmlns:a16="http://schemas.microsoft.com/office/drawing/2014/main" id="{FBA25E8C-9C34-4A03-A590-F382E3EA6025}"/>
              </a:ext>
            </a:extLst>
          </p:cNvPr>
          <p:cNvSpPr>
            <a:spLocks xmlns:a="http://schemas.openxmlformats.org/drawingml/2006/main" noGrp="1"/>
          </p:cNvSpPr>
          <p:nvPr/>
        </p:nvSpPr>
        <p:spPr>
          <a:xfrm xmlns:a="http://schemas.openxmlformats.org/drawingml/2006/main">
            <a:off x="704850" y="4629150"/>
            <a:ext cx="10753725"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0754153-0BC5-49F2-9004-48E98E8ABF59}"/>
              </a:ext>
            </a:extLst>
          </p:cNvPr>
          <p:cNvSpPr>
            <a:spLocks xmlns:a="http://schemas.openxmlformats.org/drawingml/2006/main" noGrp="1"/>
          </p:cNvSpPr>
          <p:nvPr/>
        </p:nvSpPr>
        <p:spPr>
          <a:xfrm xmlns:a="http://schemas.openxmlformats.org/drawingml/2006/main">
            <a:off x="752475" y="4743450"/>
            <a:ext cx="24288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EFF7F4"/>
                </a:solidFill>
              </a:defRPr>
            </a:defPPr>
          </a:lstStyle>
          <a:p xmlns:a="http://schemas.openxmlformats.org/drawingml/2006/main">
            <a:pPr>
              <a:defRPr sz="1500" b="1">
                <a:solidFill>
                  <a:srgbClr val="EFF7F4"/>
                </a:solidFill>
              </a:defRPr>
            </a:pPr>
            <a:r>
              <a:rPr sz="1500" b="1">
                <a:solidFill>
                  <a:srgbClr val="EFF7F4"/>
                </a:solidFill>
              </a:rPr>
              <a:t>Asset finding</a:t>
            </a:r>
          </a:p>
        </p:txBody>
      </p:sp>
      <p:sp>
        <p:nvSpPr>
          <p:cNvPr id="18" name="">
            <a:extLst xmlns:a="http://schemas.openxmlformats.org/drawingml/2006/main">
              <a:ext uri="{FF2B5EF4-FFF2-40B4-BE49-F238E27FC236}">
                <a16:creationId xmlns:a16="http://schemas.microsoft.com/office/drawing/2014/main" id="{0185342A-C803-4E84-8982-16E71A3666DD}"/>
              </a:ext>
            </a:extLst>
          </p:cNvPr>
          <p:cNvSpPr>
            <a:spLocks xmlns:a="http://schemas.openxmlformats.org/drawingml/2006/main" noGrp="1"/>
          </p:cNvSpPr>
          <p:nvPr/>
        </p:nvSpPr>
        <p:spPr>
          <a:xfrm xmlns:a="http://schemas.openxmlformats.org/drawingml/2006/main">
            <a:off x="3429000" y="4743450"/>
            <a:ext cx="3524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FFC06E"/>
                </a:solidFill>
              </a:defRPr>
            </a:defPPr>
          </a:lstStyle>
          <a:p xmlns:a="http://schemas.openxmlformats.org/drawingml/2006/main">
            <a:pPr>
              <a:defRPr sz="1350" b="0">
                <a:solidFill>
                  <a:srgbClr val="FFC06E"/>
                </a:solidFill>
              </a:defRPr>
            </a:pPr>
            <a:r>
              <a:rPr sz="1350" b="0">
                <a:solidFill>
                  <a:srgbClr val="FFC06E"/>
                </a:solidFill>
              </a:rPr>
              <a:t>Scripted scenario concern</a:t>
            </a:r>
          </a:p>
        </p:txBody>
      </p:sp>
      <p:sp>
        <p:nvSpPr>
          <p:cNvPr id="19" name="">
            <a:extLst xmlns:a="http://schemas.openxmlformats.org/drawingml/2006/main">
              <a:ext uri="{FF2B5EF4-FFF2-40B4-BE49-F238E27FC236}">
                <a16:creationId xmlns:a16="http://schemas.microsoft.com/office/drawing/2014/main" id="{FEC5C932-51F1-4B77-BB3A-0813254FD0A8}"/>
              </a:ext>
            </a:extLst>
          </p:cNvPr>
          <p:cNvSpPr>
            <a:spLocks xmlns:a="http://schemas.openxmlformats.org/drawingml/2006/main" noGrp="1"/>
          </p:cNvSpPr>
          <p:nvPr/>
        </p:nvSpPr>
        <p:spPr>
          <a:xfrm xmlns:a="http://schemas.openxmlformats.org/drawingml/2006/main">
            <a:off x="7200900" y="4743450"/>
            <a:ext cx="4048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A9BFC2"/>
                </a:solidFill>
              </a:defRPr>
            </a:defPPr>
          </a:lstStyle>
          <a:p xmlns:a="http://schemas.openxmlformats.org/drawingml/2006/main">
            <a:pPr>
              <a:defRPr sz="1275" b="0">
                <a:solidFill>
                  <a:srgbClr val="A9BFC2"/>
                </a:solidFill>
              </a:defRPr>
            </a:pPr>
            <a:r>
              <a:rPr sz="1275" b="0">
                <a:solidFill>
                  <a:srgbClr val="A9BFC2"/>
                </a:solidFill>
              </a:rPr>
              <a:t>InsPLAD model work is staged</a:t>
            </a:r>
          </a:p>
        </p:txBody>
      </p:sp>
      <p:sp>
        <p:nvSpPr>
          <p:cNvPr id="20" name="">
            <a:extLst xmlns:a="http://schemas.openxmlformats.org/drawingml/2006/main">
              <a:ext uri="{FF2B5EF4-FFF2-40B4-BE49-F238E27FC236}">
                <a16:creationId xmlns:a16="http://schemas.microsoft.com/office/drawing/2014/main" id="{3C8CD665-96F1-4C07-845B-64DA13D79679}"/>
              </a:ext>
            </a:extLst>
          </p:cNvPr>
          <p:cNvSpPr>
            <a:spLocks xmlns:a="http://schemas.openxmlformats.org/drawingml/2006/main" noGrp="1"/>
          </p:cNvSpPr>
          <p:nvPr/>
        </p:nvSpPr>
        <p:spPr>
          <a:xfrm xmlns:a="http://schemas.openxmlformats.org/drawingml/2006/main">
            <a:off x="704850" y="5248275"/>
            <a:ext cx="10753725"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E1F031F-D2B4-47D6-9C63-2D577C8E0D25}"/>
              </a:ext>
            </a:extLst>
          </p:cNvPr>
          <p:cNvSpPr>
            <a:spLocks xmlns:a="http://schemas.openxmlformats.org/drawingml/2006/main" noGrp="1"/>
          </p:cNvSpPr>
          <p:nvPr/>
        </p:nvSpPr>
        <p:spPr>
          <a:xfrm xmlns:a="http://schemas.openxmlformats.org/drawingml/2006/main">
            <a:off x="752475" y="5362575"/>
            <a:ext cx="24288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EFF7F4"/>
                </a:solidFill>
              </a:defRPr>
            </a:defPPr>
          </a:lstStyle>
          <a:p xmlns:a="http://schemas.openxmlformats.org/drawingml/2006/main">
            <a:pPr>
              <a:defRPr sz="1500" b="1">
                <a:solidFill>
                  <a:srgbClr val="EFF7F4"/>
                </a:solidFill>
              </a:defRPr>
            </a:pPr>
            <a:r>
              <a:rPr sz="1500" b="1">
                <a:solidFill>
                  <a:srgbClr val="EFF7F4"/>
                </a:solidFill>
              </a:rPr>
              <a:t>Hospital resources</a:t>
            </a:r>
          </a:p>
        </p:txBody>
      </p:sp>
      <p:sp>
        <p:nvSpPr>
          <p:cNvPr id="22" name="">
            <a:extLst xmlns:a="http://schemas.openxmlformats.org/drawingml/2006/main">
              <a:ext uri="{FF2B5EF4-FFF2-40B4-BE49-F238E27FC236}">
                <a16:creationId xmlns:a16="http://schemas.microsoft.com/office/drawing/2014/main" id="{F68A510C-4A0C-48E2-A1EB-C0F5CDB72EE1}"/>
              </a:ext>
            </a:extLst>
          </p:cNvPr>
          <p:cNvSpPr>
            <a:spLocks xmlns:a="http://schemas.openxmlformats.org/drawingml/2006/main" noGrp="1"/>
          </p:cNvSpPr>
          <p:nvPr/>
        </p:nvSpPr>
        <p:spPr>
          <a:xfrm xmlns:a="http://schemas.openxmlformats.org/drawingml/2006/main">
            <a:off x="3429000" y="5362575"/>
            <a:ext cx="3524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FFC06E"/>
                </a:solidFill>
              </a:defRPr>
            </a:defPPr>
          </a:lstStyle>
          <a:p xmlns:a="http://schemas.openxmlformats.org/drawingml/2006/main">
            <a:pPr>
              <a:defRPr sz="1350" b="0">
                <a:solidFill>
                  <a:srgbClr val="FFC06E"/>
                </a:solidFill>
              </a:defRPr>
            </a:pPr>
            <a:r>
              <a:rPr sz="1350" b="0">
                <a:solidFill>
                  <a:srgbClr val="FFC06E"/>
                </a:solidFill>
              </a:rPr>
              <a:t>Fictional assumptions</a:t>
            </a:r>
          </a:p>
        </p:txBody>
      </p:sp>
      <p:sp>
        <p:nvSpPr>
          <p:cNvPr id="23" name="">
            <a:extLst xmlns:a="http://schemas.openxmlformats.org/drawingml/2006/main">
              <a:ext uri="{FF2B5EF4-FFF2-40B4-BE49-F238E27FC236}">
                <a16:creationId xmlns:a16="http://schemas.microsoft.com/office/drawing/2014/main" id="{3D45467C-7EB3-4AED-AFFB-BE8B11C6B218}"/>
              </a:ext>
            </a:extLst>
          </p:cNvPr>
          <p:cNvSpPr>
            <a:spLocks xmlns:a="http://schemas.openxmlformats.org/drawingml/2006/main" noGrp="1"/>
          </p:cNvSpPr>
          <p:nvPr/>
        </p:nvSpPr>
        <p:spPr>
          <a:xfrm xmlns:a="http://schemas.openxmlformats.org/drawingml/2006/main">
            <a:off x="7200900" y="5362575"/>
            <a:ext cx="4048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A9BFC2"/>
                </a:solidFill>
              </a:defRPr>
            </a:defPPr>
          </a:lstStyle>
          <a:p xmlns:a="http://schemas.openxmlformats.org/drawingml/2006/main">
            <a:pPr>
              <a:defRPr sz="1275" b="0">
                <a:solidFill>
                  <a:srgbClr val="A9BFC2"/>
                </a:solidFill>
              </a:defRPr>
            </a:pPr>
            <a:r>
              <a:rPr sz="1275" b="0">
                <a:solidFill>
                  <a:srgbClr val="A9BFC2"/>
                </a:solidFill>
              </a:rPr>
              <a:t>No facility partnership claim</a:t>
            </a:r>
          </a:p>
        </p:txBody>
      </p:sp>
    </p:spTree>
    <p:extLst>
      <p:ext uri="{BB962C8B-B14F-4D97-AF65-F5344CB8AC3E}">
        <p14:creationId xmlns:p14="http://schemas.microsoft.com/office/powerpoint/2010/main" val="594438386"/>
      </p:ext>
    </p:extLst>
  </p:cSld>
</p:sld>
</file>

<file path=ppt/slides/slide4.xml><?xml version="1.0" encoding="utf-8"?>
<p:sld xmlns:p="http://schemas.openxmlformats.org/presentationml/2006/main">
  <p:cSld>
    <p:bg>
      <p:bgPr>
        <a:solidFill xmlns:a="http://schemas.openxmlformats.org/drawingml/2006/main">
          <a:srgbClr val="0B1C29"/>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63272FB-8142-4E82-B9EB-0A777B308CE9}"/>
              </a:ext>
            </a:extLst>
          </p:cNvPr>
          <p:cNvSpPr>
            <a:spLocks xmlns:a="http://schemas.openxmlformats.org/drawingml/2006/main" noGrp="1"/>
          </p:cNvSpPr>
          <p:nvPr/>
        </p:nvSpPr>
        <p:spPr>
          <a:xfrm xmlns:a="http://schemas.openxmlformats.org/drawingml/2006/main">
            <a:off x="685800" y="514350"/>
            <a:ext cx="419100" cy="4762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7031692-8CDD-4D4B-94B6-CB4192C1C569}"/>
              </a:ext>
            </a:extLst>
          </p:cNvPr>
          <p:cNvSpPr>
            <a:spLocks xmlns:a="http://schemas.openxmlformats.org/drawingml/2006/main" noGrp="1"/>
          </p:cNvSpPr>
          <p:nvPr/>
        </p:nvSpPr>
        <p:spPr>
          <a:xfrm xmlns:a="http://schemas.openxmlformats.org/drawingml/2006/main">
            <a:off x="685800" y="666750"/>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8E6C1"/>
                </a:solidFill>
              </a:defRPr>
            </a:defPPr>
          </a:lstStyle>
          <a:p xmlns:a="http://schemas.openxmlformats.org/drawingml/2006/main">
            <a:pPr>
              <a:defRPr sz="975" b="1">
                <a:solidFill>
                  <a:srgbClr val="48E6C1"/>
                </a:solidFill>
              </a:defRPr>
            </a:pPr>
            <a:r>
              <a:rPr sz="975" b="1">
                <a:solidFill>
                  <a:srgbClr val="48E6C1"/>
                </a:solidFill>
              </a:rPr>
              <a:t>ALLPOWER  /  AI FOR GOOD</a:t>
            </a:r>
          </a:p>
        </p:txBody>
      </p:sp>
      <p:sp>
        <p:nvSpPr>
          <p:cNvPr id="3" name="">
            <a:extLst xmlns:a="http://schemas.openxmlformats.org/drawingml/2006/main">
              <a:ext uri="{FF2B5EF4-FFF2-40B4-BE49-F238E27FC236}">
                <a16:creationId xmlns:a16="http://schemas.microsoft.com/office/drawing/2014/main" id="{F79C094B-C617-41F1-90F2-E43FAC58976B}"/>
              </a:ext>
            </a:extLst>
          </p:cNvPr>
          <p:cNvSpPr>
            <a:spLocks xmlns:a="http://schemas.openxmlformats.org/drawingml/2006/main" noGrp="1"/>
          </p:cNvSpPr>
          <p:nvPr/>
        </p:nvSpPr>
        <p:spPr>
          <a:xfrm xmlns:a="http://schemas.openxmlformats.org/drawingml/2006/main">
            <a:off x="11049000" y="590550"/>
            <a:ext cx="47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A9BFC2"/>
                </a:solidFill>
              </a:defRPr>
            </a:defPPr>
          </a:lstStyle>
          <a:p xmlns:a="http://schemas.openxmlformats.org/drawingml/2006/main">
            <a:pPr>
              <a:defRPr sz="1200" b="1">
                <a:solidFill>
                  <a:srgbClr val="A9BFC2"/>
                </a:solidFill>
              </a:defRPr>
            </a:pPr>
            <a:r>
              <a:rPr sz="1200" b="1">
                <a:solidFill>
                  <a:srgbClr val="A9BFC2"/>
                </a:solidFill>
              </a:rPr>
              <a:t>04</a:t>
            </a:r>
          </a:p>
        </p:txBody>
      </p:sp>
      <p:sp>
        <p:nvSpPr>
          <p:cNvPr id="4" name="">
            <a:extLst xmlns:a="http://schemas.openxmlformats.org/drawingml/2006/main">
              <a:ext uri="{FF2B5EF4-FFF2-40B4-BE49-F238E27FC236}">
                <a16:creationId xmlns:a16="http://schemas.microsoft.com/office/drawing/2014/main" id="{D4B4AEA6-93AC-42B0-9893-FD705B9DC75A}"/>
              </a:ext>
            </a:extLst>
          </p:cNvPr>
          <p:cNvSpPr>
            <a:spLocks xmlns:a="http://schemas.openxmlformats.org/drawingml/2006/main" noGrp="1"/>
          </p:cNvSpPr>
          <p:nvPr/>
        </p:nvSpPr>
        <p:spPr>
          <a:xfrm xmlns:a="http://schemas.openxmlformats.org/drawingml/2006/main">
            <a:off x="685800" y="6181725"/>
            <a:ext cx="10820400"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FC723DB-5132-47F4-A1C8-624D2C9403B1}"/>
              </a:ext>
            </a:extLst>
          </p:cNvPr>
          <p:cNvSpPr>
            <a:spLocks xmlns:a="http://schemas.openxmlformats.org/drawingml/2006/main" noGrp="1"/>
          </p:cNvSpPr>
          <p:nvPr/>
        </p:nvSpPr>
        <p:spPr>
          <a:xfrm xmlns:a="http://schemas.openxmlformats.org/drawingml/2006/main">
            <a:off x="685800" y="6296025"/>
            <a:ext cx="762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A9BFC2"/>
                </a:solidFill>
              </a:defRPr>
            </a:defPPr>
          </a:lstStyle>
          <a:p xmlns:a="http://schemas.openxmlformats.org/drawingml/2006/main">
            <a:pPr>
              <a:defRPr sz="825" b="1">
                <a:solidFill>
                  <a:srgbClr val="A9BFC2"/>
                </a:solidFill>
              </a:defRPr>
            </a:pPr>
            <a:r>
              <a:rPr sz="825" b="1">
                <a:solidFill>
                  <a:srgbClr val="A9BFC2"/>
                </a:solidFill>
              </a:rPr>
              <a:t>THE DEMONSTRATION</a:t>
            </a:r>
          </a:p>
        </p:txBody>
      </p:sp>
      <p:sp>
        <p:nvSpPr>
          <p:cNvPr id="6" name="">
            <a:extLst xmlns:a="http://schemas.openxmlformats.org/drawingml/2006/main">
              <a:ext uri="{FF2B5EF4-FFF2-40B4-BE49-F238E27FC236}">
                <a16:creationId xmlns:a16="http://schemas.microsoft.com/office/drawing/2014/main" id="{4CF6E396-9B70-4F0B-90F7-8C52D1AEB633}"/>
              </a:ext>
            </a:extLst>
          </p:cNvPr>
          <p:cNvSpPr>
            <a:spLocks xmlns:a="http://schemas.openxmlformats.org/drawingml/2006/main" noGrp="1"/>
          </p:cNvSpPr>
          <p:nvPr/>
        </p:nvSpPr>
        <p:spPr>
          <a:xfrm xmlns:a="http://schemas.openxmlformats.org/drawingml/2006/main">
            <a:off x="685800" y="1143000"/>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900" b="1">
                <a:solidFill>
                  <a:srgbClr val="EFF7F4"/>
                </a:solidFill>
              </a:defRPr>
            </a:defPPr>
          </a:lstStyle>
          <a:p xmlns:a="http://schemas.openxmlformats.org/drawingml/2006/main">
            <a:pPr>
              <a:defRPr sz="3900" b="1">
                <a:solidFill>
                  <a:srgbClr val="EFF7F4"/>
                </a:solidFill>
              </a:defRPr>
            </a:pPr>
            <a:r>
              <a:rPr sz="3900" b="1">
                <a:solidFill>
                  <a:srgbClr val="EFF7F4"/>
                </a:solidFill>
              </a:rPr>
              <a:t>The supply-loss replay</a:t>
            </a:r>
          </a:p>
        </p:txBody>
      </p:sp>
      <p:sp>
        <p:nvSpPr>
          <p:cNvPr id="7" name="">
            <a:extLst xmlns:a="http://schemas.openxmlformats.org/drawingml/2006/main">
              <a:ext uri="{FF2B5EF4-FFF2-40B4-BE49-F238E27FC236}">
                <a16:creationId xmlns:a16="http://schemas.microsoft.com/office/drawing/2014/main" id="{31D7751F-9B11-484D-9115-5967DBE25213}"/>
              </a:ext>
            </a:extLst>
          </p:cNvPr>
          <p:cNvSpPr>
            <a:spLocks xmlns:a="http://schemas.openxmlformats.org/drawingml/2006/main" noGrp="1"/>
          </p:cNvSpPr>
          <p:nvPr/>
        </p:nvSpPr>
        <p:spPr>
          <a:xfrm xmlns:a="http://schemas.openxmlformats.org/drawingml/2006/main">
            <a:off x="704850" y="2390775"/>
            <a:ext cx="1000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A9BFC2"/>
                </a:solidFill>
              </a:defRPr>
            </a:defPPr>
          </a:lstStyle>
          <a:p xmlns:a="http://schemas.openxmlformats.org/drawingml/2006/main">
            <a:pPr>
              <a:defRPr sz="1650" b="0">
                <a:solidFill>
                  <a:srgbClr val="A9BFC2"/>
                </a:solidFill>
              </a:defRPr>
            </a:pPr>
            <a:r>
              <a:rPr sz="1650" b="0">
                <a:solidFill>
                  <a:srgbClr val="A9BFC2"/>
                </a:solidFill>
              </a:rPr>
              <a:t>A transparent scenario turns a tight margin into a preparation advisory.</a:t>
            </a:r>
          </a:p>
        </p:txBody>
      </p:sp>
      <p:sp>
        <p:nvSpPr>
          <p:cNvPr id="8" name="">
            <a:extLst xmlns:a="http://schemas.openxmlformats.org/drawingml/2006/main">
              <a:ext uri="{FF2B5EF4-FFF2-40B4-BE49-F238E27FC236}">
                <a16:creationId xmlns:a16="http://schemas.microsoft.com/office/drawing/2014/main" id="{6CF065DE-0D17-4173-A975-102BD8997463}"/>
              </a:ext>
            </a:extLst>
          </p:cNvPr>
          <p:cNvSpPr>
            <a:spLocks xmlns:a="http://schemas.openxmlformats.org/drawingml/2006/main" noGrp="1"/>
          </p:cNvSpPr>
          <p:nvPr/>
        </p:nvSpPr>
        <p:spPr>
          <a:xfrm xmlns:a="http://schemas.openxmlformats.org/drawingml/2006/main">
            <a:off x="714375" y="328612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475" b="1">
                <a:solidFill>
                  <a:srgbClr val="48E6C1"/>
                </a:solidFill>
              </a:defRPr>
            </a:defPPr>
          </a:lstStyle>
          <a:p xmlns:a="http://schemas.openxmlformats.org/drawingml/2006/main">
            <a:pPr>
              <a:defRPr sz="2475" b="1">
                <a:solidFill>
                  <a:srgbClr val="48E6C1"/>
                </a:solidFill>
              </a:defRPr>
            </a:pPr>
            <a:r>
              <a:rPr sz="2475" b="1">
                <a:solidFill>
                  <a:srgbClr val="48E6C1"/>
                </a:solidFill>
              </a:rPr>
              <a:t>1</a:t>
            </a:r>
          </a:p>
        </p:txBody>
      </p:sp>
      <p:sp>
        <p:nvSpPr>
          <p:cNvPr id="9" name="">
            <a:extLst xmlns:a="http://schemas.openxmlformats.org/drawingml/2006/main">
              <a:ext uri="{FF2B5EF4-FFF2-40B4-BE49-F238E27FC236}">
                <a16:creationId xmlns:a16="http://schemas.microsoft.com/office/drawing/2014/main" id="{8C075C4B-3C2B-490F-9880-79D473194845}"/>
              </a:ext>
            </a:extLst>
          </p:cNvPr>
          <p:cNvSpPr>
            <a:spLocks xmlns:a="http://schemas.openxmlformats.org/drawingml/2006/main" noGrp="1"/>
          </p:cNvSpPr>
          <p:nvPr/>
        </p:nvSpPr>
        <p:spPr>
          <a:xfrm xmlns:a="http://schemas.openxmlformats.org/drawingml/2006/main">
            <a:off x="1333500" y="3286125"/>
            <a:ext cx="4286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1">
                <a:solidFill>
                  <a:srgbClr val="EFF7F4"/>
                </a:solidFill>
              </a:defRPr>
            </a:defPPr>
          </a:lstStyle>
          <a:p xmlns:a="http://schemas.openxmlformats.org/drawingml/2006/main">
            <a:pPr>
              <a:defRPr sz="1875" b="1">
                <a:solidFill>
                  <a:srgbClr val="EFF7F4"/>
                </a:solidFill>
              </a:defRPr>
            </a:pPr>
            <a:r>
              <a:rPr sz="1875" b="1">
                <a:solidFill>
                  <a:srgbClr val="EFF7F4"/>
                </a:solidFill>
              </a:rPr>
              <a:t>Run normal</a:t>
            </a:r>
          </a:p>
        </p:txBody>
      </p:sp>
      <p:sp>
        <p:nvSpPr>
          <p:cNvPr id="10" name="">
            <a:extLst xmlns:a="http://schemas.openxmlformats.org/drawingml/2006/main">
              <a:ext uri="{FF2B5EF4-FFF2-40B4-BE49-F238E27FC236}">
                <a16:creationId xmlns:a16="http://schemas.microsoft.com/office/drawing/2014/main" id="{E50CE7FC-2D81-4BC6-8585-12FEDE1007AB}"/>
              </a:ext>
            </a:extLst>
          </p:cNvPr>
          <p:cNvSpPr>
            <a:spLocks xmlns:a="http://schemas.openxmlformats.org/drawingml/2006/main" noGrp="1"/>
          </p:cNvSpPr>
          <p:nvPr/>
        </p:nvSpPr>
        <p:spPr>
          <a:xfrm xmlns:a="http://schemas.openxmlformats.org/drawingml/2006/main">
            <a:off x="1333500" y="3676650"/>
            <a:ext cx="428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A9BFC2"/>
                </a:solidFill>
              </a:defRPr>
            </a:defPPr>
          </a:lstStyle>
          <a:p xmlns:a="http://schemas.openxmlformats.org/drawingml/2006/main">
            <a:pPr>
              <a:defRPr sz="1275" b="0">
                <a:solidFill>
                  <a:srgbClr val="A9BFC2"/>
                </a:solidFill>
              </a:defRPr>
            </a:pPr>
            <a:r>
              <a:rPr sz="1275" b="0">
                <a:solidFill>
                  <a:srgbClr val="A9BFC2"/>
                </a:solidFill>
              </a:rPr>
              <a:t>No urgent advisory</a:t>
            </a:r>
          </a:p>
        </p:txBody>
      </p:sp>
      <p:sp>
        <p:nvSpPr>
          <p:cNvPr id="11" name="">
            <a:extLst xmlns:a="http://schemas.openxmlformats.org/drawingml/2006/main">
              <a:ext uri="{FF2B5EF4-FFF2-40B4-BE49-F238E27FC236}">
                <a16:creationId xmlns:a16="http://schemas.microsoft.com/office/drawing/2014/main" id="{62FAB8D7-B382-487D-91E7-4CFB8DB3E846}"/>
              </a:ext>
            </a:extLst>
          </p:cNvPr>
          <p:cNvSpPr>
            <a:spLocks xmlns:a="http://schemas.openxmlformats.org/drawingml/2006/main" noGrp="1"/>
          </p:cNvSpPr>
          <p:nvPr/>
        </p:nvSpPr>
        <p:spPr>
          <a:xfrm xmlns:a="http://schemas.openxmlformats.org/drawingml/2006/main">
            <a:off x="6191250" y="328612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475" b="1">
                <a:solidFill>
                  <a:srgbClr val="48E6C1"/>
                </a:solidFill>
              </a:defRPr>
            </a:defPPr>
          </a:lstStyle>
          <a:p xmlns:a="http://schemas.openxmlformats.org/drawingml/2006/main">
            <a:pPr>
              <a:defRPr sz="2475" b="1">
                <a:solidFill>
                  <a:srgbClr val="48E6C1"/>
                </a:solidFill>
              </a:defRPr>
            </a:pPr>
            <a:r>
              <a:rPr sz="2475" b="1">
                <a:solidFill>
                  <a:srgbClr val="48E6C1"/>
                </a:solidFill>
              </a:rPr>
              <a:t>2</a:t>
            </a:r>
          </a:p>
        </p:txBody>
      </p:sp>
      <p:sp>
        <p:nvSpPr>
          <p:cNvPr id="12" name="">
            <a:extLst xmlns:a="http://schemas.openxmlformats.org/drawingml/2006/main">
              <a:ext uri="{FF2B5EF4-FFF2-40B4-BE49-F238E27FC236}">
                <a16:creationId xmlns:a16="http://schemas.microsoft.com/office/drawing/2014/main" id="{C21E59F8-573D-4B45-806D-21501775F398}"/>
              </a:ext>
            </a:extLst>
          </p:cNvPr>
          <p:cNvSpPr>
            <a:spLocks xmlns:a="http://schemas.openxmlformats.org/drawingml/2006/main" noGrp="1"/>
          </p:cNvSpPr>
          <p:nvPr/>
        </p:nvSpPr>
        <p:spPr>
          <a:xfrm xmlns:a="http://schemas.openxmlformats.org/drawingml/2006/main">
            <a:off x="6810375" y="3286125"/>
            <a:ext cx="4286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1">
                <a:solidFill>
                  <a:srgbClr val="EFF7F4"/>
                </a:solidFill>
              </a:defRPr>
            </a:defPPr>
          </a:lstStyle>
          <a:p xmlns:a="http://schemas.openxmlformats.org/drawingml/2006/main">
            <a:pPr>
              <a:defRPr sz="1875" b="1">
                <a:solidFill>
                  <a:srgbClr val="EFF7F4"/>
                </a:solidFill>
              </a:defRPr>
            </a:pPr>
            <a:r>
              <a:rPr sz="1875" b="1">
                <a:solidFill>
                  <a:srgbClr val="EFF7F4"/>
                </a:solidFill>
              </a:rPr>
              <a:t>Reduce supply</a:t>
            </a:r>
          </a:p>
        </p:txBody>
      </p:sp>
      <p:sp>
        <p:nvSpPr>
          <p:cNvPr id="13" name="">
            <a:extLst xmlns:a="http://schemas.openxmlformats.org/drawingml/2006/main">
              <a:ext uri="{FF2B5EF4-FFF2-40B4-BE49-F238E27FC236}">
                <a16:creationId xmlns:a16="http://schemas.microsoft.com/office/drawing/2014/main" id="{9EA547A2-24EA-4442-91E1-FBE6B51E2458}"/>
              </a:ext>
            </a:extLst>
          </p:cNvPr>
          <p:cNvSpPr>
            <a:spLocks xmlns:a="http://schemas.openxmlformats.org/drawingml/2006/main" noGrp="1"/>
          </p:cNvSpPr>
          <p:nvPr/>
        </p:nvSpPr>
        <p:spPr>
          <a:xfrm xmlns:a="http://schemas.openxmlformats.org/drawingml/2006/main">
            <a:off x="6810375" y="3676650"/>
            <a:ext cx="428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A9BFC2"/>
                </a:solidFill>
              </a:defRPr>
            </a:defPPr>
          </a:lstStyle>
          <a:p xmlns:a="http://schemas.openxmlformats.org/drawingml/2006/main">
            <a:pPr>
              <a:defRPr sz="1275" b="0">
                <a:solidFill>
                  <a:srgbClr val="A9BFC2"/>
                </a:solidFill>
              </a:defRPr>
            </a:pPr>
            <a:r>
              <a:rPr sz="1275" b="0">
                <a:solidFill>
                  <a:srgbClr val="A9BFC2"/>
                </a:solidFill>
              </a:rPr>
              <a:t>A future margin turns negative</a:t>
            </a:r>
          </a:p>
        </p:txBody>
      </p:sp>
      <p:sp>
        <p:nvSpPr>
          <p:cNvPr id="14" name="">
            <a:extLst xmlns:a="http://schemas.openxmlformats.org/drawingml/2006/main">
              <a:ext uri="{FF2B5EF4-FFF2-40B4-BE49-F238E27FC236}">
                <a16:creationId xmlns:a16="http://schemas.microsoft.com/office/drawing/2014/main" id="{C91E9ACF-9B1F-44AC-A319-1190DF0546CC}"/>
              </a:ext>
            </a:extLst>
          </p:cNvPr>
          <p:cNvSpPr>
            <a:spLocks xmlns:a="http://schemas.openxmlformats.org/drawingml/2006/main" noGrp="1"/>
          </p:cNvSpPr>
          <p:nvPr/>
        </p:nvSpPr>
        <p:spPr>
          <a:xfrm xmlns:a="http://schemas.openxmlformats.org/drawingml/2006/main">
            <a:off x="714375" y="45243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475" b="1">
                <a:solidFill>
                  <a:srgbClr val="48E6C1"/>
                </a:solidFill>
              </a:defRPr>
            </a:defPPr>
          </a:lstStyle>
          <a:p xmlns:a="http://schemas.openxmlformats.org/drawingml/2006/main">
            <a:pPr>
              <a:defRPr sz="2475" b="1">
                <a:solidFill>
                  <a:srgbClr val="48E6C1"/>
                </a:solidFill>
              </a:defRPr>
            </a:pPr>
            <a:r>
              <a:rPr sz="2475" b="1">
                <a:solidFill>
                  <a:srgbClr val="48E6C1"/>
                </a:solidFill>
              </a:rPr>
              <a:t>3</a:t>
            </a:r>
          </a:p>
        </p:txBody>
      </p:sp>
      <p:sp>
        <p:nvSpPr>
          <p:cNvPr id="15" name="">
            <a:extLst xmlns:a="http://schemas.openxmlformats.org/drawingml/2006/main">
              <a:ext uri="{FF2B5EF4-FFF2-40B4-BE49-F238E27FC236}">
                <a16:creationId xmlns:a16="http://schemas.microsoft.com/office/drawing/2014/main" id="{32C09709-0F24-4D40-80E0-23F64677636A}"/>
              </a:ext>
            </a:extLst>
          </p:cNvPr>
          <p:cNvSpPr>
            <a:spLocks xmlns:a="http://schemas.openxmlformats.org/drawingml/2006/main" noGrp="1"/>
          </p:cNvSpPr>
          <p:nvPr/>
        </p:nvSpPr>
        <p:spPr>
          <a:xfrm xmlns:a="http://schemas.openxmlformats.org/drawingml/2006/main">
            <a:off x="1333500" y="4524375"/>
            <a:ext cx="4286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1">
                <a:solidFill>
                  <a:srgbClr val="EFF7F4"/>
                </a:solidFill>
              </a:defRPr>
            </a:defPPr>
          </a:lstStyle>
          <a:p xmlns:a="http://schemas.openxmlformats.org/drawingml/2006/main">
            <a:pPr>
              <a:defRPr sz="1875" b="1">
                <a:solidFill>
                  <a:srgbClr val="EFF7F4"/>
                </a:solidFill>
              </a:defRPr>
            </a:pPr>
            <a:r>
              <a:rPr sz="1875" b="1">
                <a:solidFill>
                  <a:srgbClr val="EFF7F4"/>
                </a:solidFill>
              </a:rPr>
              <a:t>Prepare hospital</a:t>
            </a:r>
          </a:p>
        </p:txBody>
      </p:sp>
      <p:sp>
        <p:nvSpPr>
          <p:cNvPr id="16" name="">
            <a:extLst xmlns:a="http://schemas.openxmlformats.org/drawingml/2006/main">
              <a:ext uri="{FF2B5EF4-FFF2-40B4-BE49-F238E27FC236}">
                <a16:creationId xmlns:a16="http://schemas.microsoft.com/office/drawing/2014/main" id="{FA19EF4D-F673-46CA-89AE-5A8856FBE348}"/>
              </a:ext>
            </a:extLst>
          </p:cNvPr>
          <p:cNvSpPr>
            <a:spLocks xmlns:a="http://schemas.openxmlformats.org/drawingml/2006/main" noGrp="1"/>
          </p:cNvSpPr>
          <p:nvPr/>
        </p:nvSpPr>
        <p:spPr>
          <a:xfrm xmlns:a="http://schemas.openxmlformats.org/drawingml/2006/main">
            <a:off x="1333500" y="4914900"/>
            <a:ext cx="428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A9BFC2"/>
                </a:solidFill>
              </a:defRPr>
            </a:defPPr>
          </a:lstStyle>
          <a:p xmlns:a="http://schemas.openxmlformats.org/drawingml/2006/main">
            <a:pPr>
              <a:defRPr sz="1275" b="0">
                <a:solidFill>
                  <a:srgbClr val="A9BFC2"/>
                </a:solidFill>
              </a:defRPr>
            </a:pPr>
            <a:r>
              <a:rPr sz="1275" b="0">
                <a:solidFill>
                  <a:srgbClr val="A9BFC2"/>
                </a:solidFill>
              </a:rPr>
              <a:t>Backup plan and acknowledgment</a:t>
            </a:r>
          </a:p>
        </p:txBody>
      </p:sp>
      <p:sp>
        <p:nvSpPr>
          <p:cNvPr id="17" name="">
            <a:extLst xmlns:a="http://schemas.openxmlformats.org/drawingml/2006/main">
              <a:ext uri="{FF2B5EF4-FFF2-40B4-BE49-F238E27FC236}">
                <a16:creationId xmlns:a16="http://schemas.microsoft.com/office/drawing/2014/main" id="{A9272187-B98A-4EA6-9F93-92B907ED2817}"/>
              </a:ext>
            </a:extLst>
          </p:cNvPr>
          <p:cNvSpPr>
            <a:spLocks xmlns:a="http://schemas.openxmlformats.org/drawingml/2006/main" noGrp="1"/>
          </p:cNvSpPr>
          <p:nvPr/>
        </p:nvSpPr>
        <p:spPr>
          <a:xfrm xmlns:a="http://schemas.openxmlformats.org/drawingml/2006/main">
            <a:off x="6191250" y="45243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475" b="1">
                <a:solidFill>
                  <a:srgbClr val="48E6C1"/>
                </a:solidFill>
              </a:defRPr>
            </a:defPPr>
          </a:lstStyle>
          <a:p xmlns:a="http://schemas.openxmlformats.org/drawingml/2006/main">
            <a:pPr>
              <a:defRPr sz="2475" b="1">
                <a:solidFill>
                  <a:srgbClr val="48E6C1"/>
                </a:solidFill>
              </a:defRPr>
            </a:pPr>
            <a:r>
              <a:rPr sz="2475" b="1">
                <a:solidFill>
                  <a:srgbClr val="48E6C1"/>
                </a:solidFill>
              </a:rPr>
              <a:t>4</a:t>
            </a:r>
          </a:p>
        </p:txBody>
      </p:sp>
      <p:sp>
        <p:nvSpPr>
          <p:cNvPr id="18" name="">
            <a:extLst xmlns:a="http://schemas.openxmlformats.org/drawingml/2006/main">
              <a:ext uri="{FF2B5EF4-FFF2-40B4-BE49-F238E27FC236}">
                <a16:creationId xmlns:a16="http://schemas.microsoft.com/office/drawing/2014/main" id="{FE05A8CB-B2EA-490E-A590-EBAA9479B42F}"/>
              </a:ext>
            </a:extLst>
          </p:cNvPr>
          <p:cNvSpPr>
            <a:spLocks xmlns:a="http://schemas.openxmlformats.org/drawingml/2006/main" noGrp="1"/>
          </p:cNvSpPr>
          <p:nvPr/>
        </p:nvSpPr>
        <p:spPr>
          <a:xfrm xmlns:a="http://schemas.openxmlformats.org/drawingml/2006/main">
            <a:off x="6810375" y="4524375"/>
            <a:ext cx="4286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75" b="1">
                <a:solidFill>
                  <a:srgbClr val="EFF7F4"/>
                </a:solidFill>
              </a:defRPr>
            </a:defPPr>
          </a:lstStyle>
          <a:p xmlns:a="http://schemas.openxmlformats.org/drawingml/2006/main">
            <a:pPr>
              <a:defRPr sz="1875" b="1">
                <a:solidFill>
                  <a:srgbClr val="EFF7F4"/>
                </a:solidFill>
              </a:defRPr>
            </a:pPr>
            <a:r>
              <a:rPr sz="1875" b="1">
                <a:solidFill>
                  <a:srgbClr val="EFF7F4"/>
                </a:solidFill>
              </a:rPr>
              <a:t>Recover worker</a:t>
            </a:r>
          </a:p>
        </p:txBody>
      </p:sp>
      <p:sp>
        <p:nvSpPr>
          <p:cNvPr id="19" name="">
            <a:extLst xmlns:a="http://schemas.openxmlformats.org/drawingml/2006/main">
              <a:ext uri="{FF2B5EF4-FFF2-40B4-BE49-F238E27FC236}">
                <a16:creationId xmlns:a16="http://schemas.microsoft.com/office/drawing/2014/main" id="{F8899EDE-081B-4F14-9D64-21F10DDDB34E}"/>
              </a:ext>
            </a:extLst>
          </p:cNvPr>
          <p:cNvSpPr>
            <a:spLocks xmlns:a="http://schemas.openxmlformats.org/drawingml/2006/main" noGrp="1"/>
          </p:cNvSpPr>
          <p:nvPr/>
        </p:nvSpPr>
        <p:spPr>
          <a:xfrm xmlns:a="http://schemas.openxmlformats.org/drawingml/2006/main">
            <a:off x="6810375" y="4914900"/>
            <a:ext cx="428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A9BFC2"/>
                </a:solidFill>
              </a:defRPr>
            </a:defPPr>
          </a:lstStyle>
          <a:p xmlns:a="http://schemas.openxmlformats.org/drawingml/2006/main">
            <a:pPr>
              <a:defRPr sz="1275" b="0">
                <a:solidFill>
                  <a:srgbClr val="A9BFC2"/>
                </a:solidFill>
              </a:defRPr>
            </a:pPr>
            <a:r>
              <a:rPr sz="1275" b="0">
                <a:solidFill>
                  <a:srgbClr val="A9BFC2"/>
                </a:solidFill>
              </a:rPr>
              <a:t>Queued job completes after restart</a:t>
            </a:r>
          </a:p>
        </p:txBody>
      </p:sp>
    </p:spTree>
    <p:extLst>
      <p:ext uri="{BB962C8B-B14F-4D97-AF65-F5344CB8AC3E}">
        <p14:creationId xmlns:p14="http://schemas.microsoft.com/office/powerpoint/2010/main" val="318033934"/>
      </p:ext>
    </p:extLst>
  </p:cSld>
</p:sld>
</file>

<file path=ppt/slides/slide5.xml><?xml version="1.0" encoding="utf-8"?>
<p:sld xmlns:p="http://schemas.openxmlformats.org/presentationml/2006/main">
  <p:cSld>
    <p:bg>
      <p:bgPr>
        <a:solidFill xmlns:a="http://schemas.openxmlformats.org/drawingml/2006/main">
          <a:srgbClr val="0B1C29"/>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FA98FCE-53A3-4294-924E-06A3BB17CC1D}"/>
              </a:ext>
            </a:extLst>
          </p:cNvPr>
          <p:cNvSpPr>
            <a:spLocks xmlns:a="http://schemas.openxmlformats.org/drawingml/2006/main" noGrp="1"/>
          </p:cNvSpPr>
          <p:nvPr/>
        </p:nvSpPr>
        <p:spPr>
          <a:xfrm xmlns:a="http://schemas.openxmlformats.org/drawingml/2006/main">
            <a:off x="685800" y="514350"/>
            <a:ext cx="419100" cy="4762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A056F3B-953C-4ACC-A2D2-093B51FE1E47}"/>
              </a:ext>
            </a:extLst>
          </p:cNvPr>
          <p:cNvSpPr>
            <a:spLocks xmlns:a="http://schemas.openxmlformats.org/drawingml/2006/main" noGrp="1"/>
          </p:cNvSpPr>
          <p:nvPr/>
        </p:nvSpPr>
        <p:spPr>
          <a:xfrm xmlns:a="http://schemas.openxmlformats.org/drawingml/2006/main">
            <a:off x="685800" y="666750"/>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8E6C1"/>
                </a:solidFill>
              </a:defRPr>
            </a:defPPr>
          </a:lstStyle>
          <a:p xmlns:a="http://schemas.openxmlformats.org/drawingml/2006/main">
            <a:pPr>
              <a:defRPr sz="975" b="1">
                <a:solidFill>
                  <a:srgbClr val="48E6C1"/>
                </a:solidFill>
              </a:defRPr>
            </a:pPr>
            <a:r>
              <a:rPr sz="975" b="1">
                <a:solidFill>
                  <a:srgbClr val="48E6C1"/>
                </a:solidFill>
              </a:rPr>
              <a:t>ALLPOWER  /  AI FOR GOOD</a:t>
            </a:r>
          </a:p>
        </p:txBody>
      </p:sp>
      <p:sp>
        <p:nvSpPr>
          <p:cNvPr id="3" name="">
            <a:extLst xmlns:a="http://schemas.openxmlformats.org/drawingml/2006/main">
              <a:ext uri="{FF2B5EF4-FFF2-40B4-BE49-F238E27FC236}">
                <a16:creationId xmlns:a16="http://schemas.microsoft.com/office/drawing/2014/main" id="{175CC59B-6E86-4F30-B311-06F758680437}"/>
              </a:ext>
            </a:extLst>
          </p:cNvPr>
          <p:cNvSpPr>
            <a:spLocks xmlns:a="http://schemas.openxmlformats.org/drawingml/2006/main" noGrp="1"/>
          </p:cNvSpPr>
          <p:nvPr/>
        </p:nvSpPr>
        <p:spPr>
          <a:xfrm xmlns:a="http://schemas.openxmlformats.org/drawingml/2006/main">
            <a:off x="11049000" y="590550"/>
            <a:ext cx="47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A9BFC2"/>
                </a:solidFill>
              </a:defRPr>
            </a:defPPr>
          </a:lstStyle>
          <a:p xmlns:a="http://schemas.openxmlformats.org/drawingml/2006/main">
            <a:pPr>
              <a:defRPr sz="1200" b="1">
                <a:solidFill>
                  <a:srgbClr val="A9BFC2"/>
                </a:solidFill>
              </a:defRPr>
            </a:pPr>
            <a:r>
              <a:rPr sz="1200" b="1">
                <a:solidFill>
                  <a:srgbClr val="A9BFC2"/>
                </a:solidFill>
              </a:rPr>
              <a:t>05</a:t>
            </a:r>
          </a:p>
        </p:txBody>
      </p:sp>
      <p:sp>
        <p:nvSpPr>
          <p:cNvPr id="4" name="">
            <a:extLst xmlns:a="http://schemas.openxmlformats.org/drawingml/2006/main">
              <a:ext uri="{FF2B5EF4-FFF2-40B4-BE49-F238E27FC236}">
                <a16:creationId xmlns:a16="http://schemas.microsoft.com/office/drawing/2014/main" id="{2D0F28E4-840E-494D-91FF-1E60408E2254}"/>
              </a:ext>
            </a:extLst>
          </p:cNvPr>
          <p:cNvSpPr>
            <a:spLocks xmlns:a="http://schemas.openxmlformats.org/drawingml/2006/main" noGrp="1"/>
          </p:cNvSpPr>
          <p:nvPr/>
        </p:nvSpPr>
        <p:spPr>
          <a:xfrm xmlns:a="http://schemas.openxmlformats.org/drawingml/2006/main">
            <a:off x="685800" y="6181725"/>
            <a:ext cx="10820400"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18FCBCD-09FF-43C0-95AA-273479BB6107}"/>
              </a:ext>
            </a:extLst>
          </p:cNvPr>
          <p:cNvSpPr>
            <a:spLocks xmlns:a="http://schemas.openxmlformats.org/drawingml/2006/main" noGrp="1"/>
          </p:cNvSpPr>
          <p:nvPr/>
        </p:nvSpPr>
        <p:spPr>
          <a:xfrm xmlns:a="http://schemas.openxmlformats.org/drawingml/2006/main">
            <a:off x="685800" y="6296025"/>
            <a:ext cx="762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A9BFC2"/>
                </a:solidFill>
              </a:defRPr>
            </a:defPPr>
          </a:lstStyle>
          <a:p xmlns:a="http://schemas.openxmlformats.org/drawingml/2006/main">
            <a:pPr>
              <a:defRPr sz="825" b="1">
                <a:solidFill>
                  <a:srgbClr val="A9BFC2"/>
                </a:solidFill>
              </a:defRPr>
            </a:pPr>
            <a:r>
              <a:rPr sz="825" b="1">
                <a:solidFill>
                  <a:srgbClr val="A9BFC2"/>
                </a:solidFill>
              </a:rPr>
              <a:t>AI AND EVALUATION</a:t>
            </a:r>
          </a:p>
        </p:txBody>
      </p:sp>
      <p:sp>
        <p:nvSpPr>
          <p:cNvPr id="6" name="">
            <a:extLst xmlns:a="http://schemas.openxmlformats.org/drawingml/2006/main">
              <a:ext uri="{FF2B5EF4-FFF2-40B4-BE49-F238E27FC236}">
                <a16:creationId xmlns:a16="http://schemas.microsoft.com/office/drawing/2014/main" id="{15C30015-0C90-43BC-ABA9-AEACD9836FFE}"/>
              </a:ext>
            </a:extLst>
          </p:cNvPr>
          <p:cNvSpPr>
            <a:spLocks xmlns:a="http://schemas.openxmlformats.org/drawingml/2006/main" noGrp="1"/>
          </p:cNvSpPr>
          <p:nvPr/>
        </p:nvSpPr>
        <p:spPr>
          <a:xfrm xmlns:a="http://schemas.openxmlformats.org/drawingml/2006/main">
            <a:off x="685800" y="1143000"/>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900" b="1">
                <a:solidFill>
                  <a:srgbClr val="EFF7F4"/>
                </a:solidFill>
              </a:defRPr>
            </a:defPPr>
          </a:lstStyle>
          <a:p xmlns:a="http://schemas.openxmlformats.org/drawingml/2006/main">
            <a:pPr>
              <a:defRPr sz="3900" b="1">
                <a:solidFill>
                  <a:srgbClr val="EFF7F4"/>
                </a:solidFill>
              </a:defRPr>
            </a:pPr>
            <a:r>
              <a:rPr sz="3900" b="1">
                <a:solidFill>
                  <a:srgbClr val="EFF7F4"/>
                </a:solidFill>
              </a:rPr>
              <a:t>Models earn trust through comparison</a:t>
            </a:r>
          </a:p>
        </p:txBody>
      </p:sp>
      <p:sp>
        <p:nvSpPr>
          <p:cNvPr id="7" name="">
            <a:extLst xmlns:a="http://schemas.openxmlformats.org/drawingml/2006/main">
              <a:ext uri="{FF2B5EF4-FFF2-40B4-BE49-F238E27FC236}">
                <a16:creationId xmlns:a16="http://schemas.microsoft.com/office/drawing/2014/main" id="{47BF5C37-DD5C-43B6-8AF3-9C74A626EAB5}"/>
              </a:ext>
            </a:extLst>
          </p:cNvPr>
          <p:cNvSpPr>
            <a:spLocks xmlns:a="http://schemas.openxmlformats.org/drawingml/2006/main" noGrp="1"/>
          </p:cNvSpPr>
          <p:nvPr/>
        </p:nvSpPr>
        <p:spPr>
          <a:xfrm xmlns:a="http://schemas.openxmlformats.org/drawingml/2006/main">
            <a:off x="704850" y="2390775"/>
            <a:ext cx="1000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A9BFC2"/>
                </a:solidFill>
              </a:defRPr>
            </a:defPPr>
          </a:lstStyle>
          <a:p xmlns:a="http://schemas.openxmlformats.org/drawingml/2006/main">
            <a:pPr>
              <a:defRPr sz="1650" b="0">
                <a:solidFill>
                  <a:srgbClr val="A9BFC2"/>
                </a:solidFill>
              </a:defRPr>
            </a:pPr>
            <a:r>
              <a:rPr sz="1650" b="0">
                <a:solidFill>
                  <a:srgbClr val="A9BFC2"/>
                </a:solidFill>
              </a:rPr>
              <a:t>The repo separates an executable benchmark from models awaiting licensed data.</a:t>
            </a:r>
          </a:p>
        </p:txBody>
      </p:sp>
      <p:sp>
        <p:nvSpPr>
          <p:cNvPr id="8" name="">
            <a:extLst xmlns:a="http://schemas.openxmlformats.org/drawingml/2006/main">
              <a:ext uri="{FF2B5EF4-FFF2-40B4-BE49-F238E27FC236}">
                <a16:creationId xmlns:a16="http://schemas.microsoft.com/office/drawing/2014/main" id="{43363C65-F82D-4394-8E43-110156E1F6C5}"/>
              </a:ext>
            </a:extLst>
          </p:cNvPr>
          <p:cNvSpPr>
            <a:spLocks xmlns:a="http://schemas.openxmlformats.org/drawingml/2006/main" noGrp="1"/>
          </p:cNvSpPr>
          <p:nvPr/>
        </p:nvSpPr>
        <p:spPr>
          <a:xfrm xmlns:a="http://schemas.openxmlformats.org/drawingml/2006/main">
            <a:off x="714375" y="3390900"/>
            <a:ext cx="3286125" cy="1790700"/>
          </a:xfrm>
          <a:prstGeom xmlns:a="http://schemas.openxmlformats.org/drawingml/2006/main" prst="rect">
            <a:avLst/>
          </a:prstGeom>
          <a:solidFill xmlns:a="http://schemas.openxmlformats.org/drawingml/2006/main">
            <a:srgbClr val="112B3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4B2C50E-58A1-442B-A551-3B661C77870C}"/>
              </a:ext>
            </a:extLst>
          </p:cNvPr>
          <p:cNvSpPr>
            <a:spLocks xmlns:a="http://schemas.openxmlformats.org/drawingml/2006/main" noGrp="1"/>
          </p:cNvSpPr>
          <p:nvPr/>
        </p:nvSpPr>
        <p:spPr>
          <a:xfrm xmlns:a="http://schemas.openxmlformats.org/drawingml/2006/main">
            <a:off x="933450" y="3590925"/>
            <a:ext cx="2762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48E6C1"/>
                </a:solidFill>
              </a:defRPr>
            </a:defPPr>
          </a:lstStyle>
          <a:p xmlns:a="http://schemas.openxmlformats.org/drawingml/2006/main">
            <a:pPr>
              <a:defRPr sz="2250" b="1">
                <a:solidFill>
                  <a:srgbClr val="48E6C1"/>
                </a:solidFill>
              </a:defRPr>
            </a:pPr>
            <a:r>
              <a:rPr sz="2250" b="1">
                <a:solidFill>
                  <a:srgbClr val="48E6C1"/>
                </a:solidFill>
              </a:rPr>
              <a:t>Demand</a:t>
            </a:r>
          </a:p>
        </p:txBody>
      </p:sp>
      <p:sp>
        <p:nvSpPr>
          <p:cNvPr id="10" name="">
            <a:extLst xmlns:a="http://schemas.openxmlformats.org/drawingml/2006/main">
              <a:ext uri="{FF2B5EF4-FFF2-40B4-BE49-F238E27FC236}">
                <a16:creationId xmlns:a16="http://schemas.microsoft.com/office/drawing/2014/main" id="{F626CE60-6FFE-41F8-94BB-0012806596BB}"/>
              </a:ext>
            </a:extLst>
          </p:cNvPr>
          <p:cNvSpPr>
            <a:spLocks xmlns:a="http://schemas.openxmlformats.org/drawingml/2006/main" noGrp="1"/>
          </p:cNvSpPr>
          <p:nvPr/>
        </p:nvSpPr>
        <p:spPr>
          <a:xfrm xmlns:a="http://schemas.openxmlformats.org/drawingml/2006/main">
            <a:off x="933450" y="4114800"/>
            <a:ext cx="271462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EFF7F4"/>
                </a:solidFill>
              </a:defRPr>
            </a:defPPr>
          </a:lstStyle>
          <a:p xmlns:a="http://schemas.openxmlformats.org/drawingml/2006/main">
            <a:pPr>
              <a:defRPr sz="1350" b="0">
                <a:solidFill>
                  <a:srgbClr val="EFF7F4"/>
                </a:solidFill>
              </a:defRPr>
            </a:pPr>
            <a:r>
              <a:rPr sz="1350" b="0">
                <a:solidFill>
                  <a:srgbClr val="EFF7F4"/>
                </a:solidFill>
              </a:rPr>
              <a:t>Weekly seasonal benchmark runs now. Six direct ML candidates train after official hourly data is staged.</a:t>
            </a:r>
          </a:p>
        </p:txBody>
      </p:sp>
      <p:sp>
        <p:nvSpPr>
          <p:cNvPr id="11" name="">
            <a:extLst xmlns:a="http://schemas.openxmlformats.org/drawingml/2006/main">
              <a:ext uri="{FF2B5EF4-FFF2-40B4-BE49-F238E27FC236}">
                <a16:creationId xmlns:a16="http://schemas.microsoft.com/office/drawing/2014/main" id="{956AA58D-BC79-4F4D-A6CE-7FE333FDED53}"/>
              </a:ext>
            </a:extLst>
          </p:cNvPr>
          <p:cNvSpPr>
            <a:spLocks xmlns:a="http://schemas.openxmlformats.org/drawingml/2006/main" noGrp="1"/>
          </p:cNvSpPr>
          <p:nvPr/>
        </p:nvSpPr>
        <p:spPr>
          <a:xfrm xmlns:a="http://schemas.openxmlformats.org/drawingml/2006/main">
            <a:off x="4400550" y="3390900"/>
            <a:ext cx="3286125" cy="1790700"/>
          </a:xfrm>
          <a:prstGeom xmlns:a="http://schemas.openxmlformats.org/drawingml/2006/main" prst="rect">
            <a:avLst/>
          </a:prstGeom>
          <a:solidFill xmlns:a="http://schemas.openxmlformats.org/drawingml/2006/main">
            <a:srgbClr val="112B3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EEDB76E-AE0E-43B5-9C9E-6B5CAFB6216B}"/>
              </a:ext>
            </a:extLst>
          </p:cNvPr>
          <p:cNvSpPr>
            <a:spLocks xmlns:a="http://schemas.openxmlformats.org/drawingml/2006/main" noGrp="1"/>
          </p:cNvSpPr>
          <p:nvPr/>
        </p:nvSpPr>
        <p:spPr>
          <a:xfrm xmlns:a="http://schemas.openxmlformats.org/drawingml/2006/main">
            <a:off x="4629150" y="3590925"/>
            <a:ext cx="2762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FFC06E"/>
                </a:solidFill>
              </a:defRPr>
            </a:defPPr>
          </a:lstStyle>
          <a:p xmlns:a="http://schemas.openxmlformats.org/drawingml/2006/main">
            <a:pPr>
              <a:defRPr sz="2250" b="1">
                <a:solidFill>
                  <a:srgbClr val="FFC06E"/>
                </a:solidFill>
              </a:defRPr>
            </a:pPr>
            <a:r>
              <a:rPr sz="2250" b="1">
                <a:solidFill>
                  <a:srgbClr val="FFC06E"/>
                </a:solidFill>
              </a:rPr>
              <a:t>Vision</a:t>
            </a:r>
          </a:p>
        </p:txBody>
      </p:sp>
      <p:sp>
        <p:nvSpPr>
          <p:cNvPr id="13" name="">
            <a:extLst xmlns:a="http://schemas.openxmlformats.org/drawingml/2006/main">
              <a:ext uri="{FF2B5EF4-FFF2-40B4-BE49-F238E27FC236}">
                <a16:creationId xmlns:a16="http://schemas.microsoft.com/office/drawing/2014/main" id="{4C818A05-E2B6-4C52-814B-54BAD3834B2A}"/>
              </a:ext>
            </a:extLst>
          </p:cNvPr>
          <p:cNvSpPr>
            <a:spLocks xmlns:a="http://schemas.openxmlformats.org/drawingml/2006/main" noGrp="1"/>
          </p:cNvSpPr>
          <p:nvPr/>
        </p:nvSpPr>
        <p:spPr>
          <a:xfrm xmlns:a="http://schemas.openxmlformats.org/drawingml/2006/main">
            <a:off x="4629150" y="4114800"/>
            <a:ext cx="271462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EFF7F4"/>
                </a:solidFill>
              </a:defRPr>
            </a:defPPr>
          </a:lstStyle>
          <a:p xmlns:a="http://schemas.openxmlformats.org/drawingml/2006/main">
            <a:pPr>
              <a:defRPr sz="1350" b="0">
                <a:solidFill>
                  <a:srgbClr val="EFF7F4"/>
                </a:solidFill>
              </a:defRPr>
            </a:pPr>
            <a:r>
              <a:rPr sz="1350" b="0">
                <a:solidFill>
                  <a:srgbClr val="EFF7F4"/>
                </a:solidFill>
              </a:rPr>
              <a:t>HOG baseline and compact CNN training code. No live image score or inference is claimed yet.</a:t>
            </a:r>
          </a:p>
        </p:txBody>
      </p:sp>
      <p:sp>
        <p:nvSpPr>
          <p:cNvPr id="14" name="">
            <a:extLst xmlns:a="http://schemas.openxmlformats.org/drawingml/2006/main">
              <a:ext uri="{FF2B5EF4-FFF2-40B4-BE49-F238E27FC236}">
                <a16:creationId xmlns:a16="http://schemas.microsoft.com/office/drawing/2014/main" id="{1508FAE3-88E3-48DF-A365-676C894404A7}"/>
              </a:ext>
            </a:extLst>
          </p:cNvPr>
          <p:cNvSpPr>
            <a:spLocks xmlns:a="http://schemas.openxmlformats.org/drawingml/2006/main" noGrp="1"/>
          </p:cNvSpPr>
          <p:nvPr/>
        </p:nvSpPr>
        <p:spPr>
          <a:xfrm xmlns:a="http://schemas.openxmlformats.org/drawingml/2006/main">
            <a:off x="8086725" y="3390900"/>
            <a:ext cx="3286125" cy="1790700"/>
          </a:xfrm>
          <a:prstGeom xmlns:a="http://schemas.openxmlformats.org/drawingml/2006/main" prst="rect">
            <a:avLst/>
          </a:prstGeom>
          <a:solidFill xmlns:a="http://schemas.openxmlformats.org/drawingml/2006/main">
            <a:srgbClr val="112B39"/>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7694737-CD12-4821-815E-789943E18846}"/>
              </a:ext>
            </a:extLst>
          </p:cNvPr>
          <p:cNvSpPr>
            <a:spLocks xmlns:a="http://schemas.openxmlformats.org/drawingml/2006/main" noGrp="1"/>
          </p:cNvSpPr>
          <p:nvPr/>
        </p:nvSpPr>
        <p:spPr>
          <a:xfrm xmlns:a="http://schemas.openxmlformats.org/drawingml/2006/main">
            <a:off x="8315325" y="3590925"/>
            <a:ext cx="2762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1">
                <a:solidFill>
                  <a:srgbClr val="48E6C1"/>
                </a:solidFill>
              </a:defRPr>
            </a:defPPr>
          </a:lstStyle>
          <a:p xmlns:a="http://schemas.openxmlformats.org/drawingml/2006/main">
            <a:pPr>
              <a:defRPr sz="2250" b="1">
                <a:solidFill>
                  <a:srgbClr val="48E6C1"/>
                </a:solidFill>
              </a:defRPr>
            </a:pPr>
            <a:r>
              <a:rPr sz="2250" b="1">
                <a:solidFill>
                  <a:srgbClr val="48E6C1"/>
                </a:solidFill>
              </a:rPr>
              <a:t>Backup plan</a:t>
            </a:r>
          </a:p>
        </p:txBody>
      </p:sp>
      <p:sp>
        <p:nvSpPr>
          <p:cNvPr id="16" name="">
            <a:extLst xmlns:a="http://schemas.openxmlformats.org/drawingml/2006/main">
              <a:ext uri="{FF2B5EF4-FFF2-40B4-BE49-F238E27FC236}">
                <a16:creationId xmlns:a16="http://schemas.microsoft.com/office/drawing/2014/main" id="{C91DA0FC-4EE9-4C07-9BAA-F3269A2D9B6A}"/>
              </a:ext>
            </a:extLst>
          </p:cNvPr>
          <p:cNvSpPr>
            <a:spLocks xmlns:a="http://schemas.openxmlformats.org/drawingml/2006/main" noGrp="1"/>
          </p:cNvSpPr>
          <p:nvPr/>
        </p:nvSpPr>
        <p:spPr>
          <a:xfrm xmlns:a="http://schemas.openxmlformats.org/drawingml/2006/main">
            <a:off x="8315325" y="4114800"/>
            <a:ext cx="271462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EFF7F4"/>
                </a:solidFill>
              </a:defRPr>
            </a:defPPr>
          </a:lstStyle>
          <a:p xmlns:a="http://schemas.openxmlformats.org/drawingml/2006/main">
            <a:pPr>
              <a:defRPr sz="1350" b="0">
                <a:solidFill>
                  <a:srgbClr val="EFF7F4"/>
                </a:solidFill>
              </a:defRPr>
            </a:pPr>
            <a:r>
              <a:rPr sz="1350" b="0">
                <a:solidFill>
                  <a:srgbClr val="EFF7F4"/>
                </a:solidFill>
              </a:rPr>
              <a:t>SciPy linear program when available. Compare modeled critical kWh with a reactive startup policy.</a:t>
            </a:r>
          </a:p>
        </p:txBody>
      </p:sp>
    </p:spTree>
    <p:extLst>
      <p:ext uri="{BB962C8B-B14F-4D97-AF65-F5344CB8AC3E}">
        <p14:creationId xmlns:p14="http://schemas.microsoft.com/office/powerpoint/2010/main" val="2135936924"/>
      </p:ext>
    </p:extLst>
  </p:cSld>
</p:sld>
</file>

<file path=ppt/slides/slide6.xml><?xml version="1.0" encoding="utf-8"?>
<p:sld xmlns:p="http://schemas.openxmlformats.org/presentationml/2006/main">
  <p:cSld>
    <p:bg>
      <p:bgPr>
        <a:solidFill xmlns:a="http://schemas.openxmlformats.org/drawingml/2006/main">
          <a:srgbClr val="0B1C29"/>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F2F0FDD-ECEC-405F-B670-5B64BA69578E}"/>
              </a:ext>
            </a:extLst>
          </p:cNvPr>
          <p:cNvSpPr>
            <a:spLocks xmlns:a="http://schemas.openxmlformats.org/drawingml/2006/main" noGrp="1"/>
          </p:cNvSpPr>
          <p:nvPr/>
        </p:nvSpPr>
        <p:spPr>
          <a:xfrm xmlns:a="http://schemas.openxmlformats.org/drawingml/2006/main">
            <a:off x="685800" y="514350"/>
            <a:ext cx="419100" cy="4762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7D04552-A844-402B-BD4D-82E8CCBD8980}"/>
              </a:ext>
            </a:extLst>
          </p:cNvPr>
          <p:cNvSpPr>
            <a:spLocks xmlns:a="http://schemas.openxmlformats.org/drawingml/2006/main" noGrp="1"/>
          </p:cNvSpPr>
          <p:nvPr/>
        </p:nvSpPr>
        <p:spPr>
          <a:xfrm xmlns:a="http://schemas.openxmlformats.org/drawingml/2006/main">
            <a:off x="685800" y="666750"/>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8E6C1"/>
                </a:solidFill>
              </a:defRPr>
            </a:defPPr>
          </a:lstStyle>
          <a:p xmlns:a="http://schemas.openxmlformats.org/drawingml/2006/main">
            <a:pPr>
              <a:defRPr sz="975" b="1">
                <a:solidFill>
                  <a:srgbClr val="48E6C1"/>
                </a:solidFill>
              </a:defRPr>
            </a:pPr>
            <a:r>
              <a:rPr sz="975" b="1">
                <a:solidFill>
                  <a:srgbClr val="48E6C1"/>
                </a:solidFill>
              </a:rPr>
              <a:t>ALLPOWER  /  AI FOR GOOD</a:t>
            </a:r>
          </a:p>
        </p:txBody>
      </p:sp>
      <p:sp>
        <p:nvSpPr>
          <p:cNvPr id="3" name="">
            <a:extLst xmlns:a="http://schemas.openxmlformats.org/drawingml/2006/main">
              <a:ext uri="{FF2B5EF4-FFF2-40B4-BE49-F238E27FC236}">
                <a16:creationId xmlns:a16="http://schemas.microsoft.com/office/drawing/2014/main" id="{D8077285-658E-44F4-9809-33C8988B213A}"/>
              </a:ext>
            </a:extLst>
          </p:cNvPr>
          <p:cNvSpPr>
            <a:spLocks xmlns:a="http://schemas.openxmlformats.org/drawingml/2006/main" noGrp="1"/>
          </p:cNvSpPr>
          <p:nvPr/>
        </p:nvSpPr>
        <p:spPr>
          <a:xfrm xmlns:a="http://schemas.openxmlformats.org/drawingml/2006/main">
            <a:off x="11049000" y="590550"/>
            <a:ext cx="47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A9BFC2"/>
                </a:solidFill>
              </a:defRPr>
            </a:defPPr>
          </a:lstStyle>
          <a:p xmlns:a="http://schemas.openxmlformats.org/drawingml/2006/main">
            <a:pPr>
              <a:defRPr sz="1200" b="1">
                <a:solidFill>
                  <a:srgbClr val="A9BFC2"/>
                </a:solidFill>
              </a:defRPr>
            </a:pPr>
            <a:r>
              <a:rPr sz="1200" b="1">
                <a:solidFill>
                  <a:srgbClr val="A9BFC2"/>
                </a:solidFill>
              </a:rPr>
              <a:t>06</a:t>
            </a:r>
          </a:p>
        </p:txBody>
      </p:sp>
      <p:sp>
        <p:nvSpPr>
          <p:cNvPr id="4" name="">
            <a:extLst xmlns:a="http://schemas.openxmlformats.org/drawingml/2006/main">
              <a:ext uri="{FF2B5EF4-FFF2-40B4-BE49-F238E27FC236}">
                <a16:creationId xmlns:a16="http://schemas.microsoft.com/office/drawing/2014/main" id="{28BB4FF7-726B-41AA-8221-53C75AE3A939}"/>
              </a:ext>
            </a:extLst>
          </p:cNvPr>
          <p:cNvSpPr>
            <a:spLocks xmlns:a="http://schemas.openxmlformats.org/drawingml/2006/main" noGrp="1"/>
          </p:cNvSpPr>
          <p:nvPr/>
        </p:nvSpPr>
        <p:spPr>
          <a:xfrm xmlns:a="http://schemas.openxmlformats.org/drawingml/2006/main">
            <a:off x="685800" y="6181725"/>
            <a:ext cx="10820400"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E82E428-1710-40DB-A3F5-A3E659415849}"/>
              </a:ext>
            </a:extLst>
          </p:cNvPr>
          <p:cNvSpPr>
            <a:spLocks xmlns:a="http://schemas.openxmlformats.org/drawingml/2006/main" noGrp="1"/>
          </p:cNvSpPr>
          <p:nvPr/>
        </p:nvSpPr>
        <p:spPr>
          <a:xfrm xmlns:a="http://schemas.openxmlformats.org/drawingml/2006/main">
            <a:off x="685800" y="6296025"/>
            <a:ext cx="762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A9BFC2"/>
                </a:solidFill>
              </a:defRPr>
            </a:defPPr>
          </a:lstStyle>
          <a:p xmlns:a="http://schemas.openxmlformats.org/drawingml/2006/main">
            <a:pPr>
              <a:defRPr sz="825" b="1">
                <a:solidFill>
                  <a:srgbClr val="A9BFC2"/>
                </a:solidFill>
              </a:defRPr>
            </a:pPr>
            <a:r>
              <a:rPr sz="825" b="1">
                <a:solidFill>
                  <a:srgbClr val="A9BFC2"/>
                </a:solidFill>
              </a:rPr>
              <a:t>LINUXONE DESIGN</a:t>
            </a:r>
          </a:p>
        </p:txBody>
      </p:sp>
      <p:sp>
        <p:nvSpPr>
          <p:cNvPr id="6" name="">
            <a:extLst xmlns:a="http://schemas.openxmlformats.org/drawingml/2006/main">
              <a:ext uri="{FF2B5EF4-FFF2-40B4-BE49-F238E27FC236}">
                <a16:creationId xmlns:a16="http://schemas.microsoft.com/office/drawing/2014/main" id="{C1856000-EF48-41DD-81ED-DFE00EB6B314}"/>
              </a:ext>
            </a:extLst>
          </p:cNvPr>
          <p:cNvSpPr>
            <a:spLocks xmlns:a="http://schemas.openxmlformats.org/drawingml/2006/main" noGrp="1"/>
          </p:cNvSpPr>
          <p:nvPr/>
        </p:nvSpPr>
        <p:spPr>
          <a:xfrm xmlns:a="http://schemas.openxmlformats.org/drawingml/2006/main">
            <a:off x="685800" y="1143000"/>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900" b="1">
                <a:solidFill>
                  <a:srgbClr val="EFF7F4"/>
                </a:solidFill>
              </a:defRPr>
            </a:defPPr>
          </a:lstStyle>
          <a:p xmlns:a="http://schemas.openxmlformats.org/drawingml/2006/main">
            <a:pPr>
              <a:defRPr sz="3900" b="1">
                <a:solidFill>
                  <a:srgbClr val="EFF7F4"/>
                </a:solidFill>
              </a:defRPr>
            </a:pPr>
            <a:r>
              <a:rPr sz="3900" b="1">
                <a:solidFill>
                  <a:srgbClr val="EFF7F4"/>
                </a:solidFill>
              </a:rPr>
              <a:t>LinuxONE hosts the whole demonstration</a:t>
            </a:r>
          </a:p>
        </p:txBody>
      </p:sp>
      <p:sp>
        <p:nvSpPr>
          <p:cNvPr id="7" name="">
            <a:extLst xmlns:a="http://schemas.openxmlformats.org/drawingml/2006/main">
              <a:ext uri="{FF2B5EF4-FFF2-40B4-BE49-F238E27FC236}">
                <a16:creationId xmlns:a16="http://schemas.microsoft.com/office/drawing/2014/main" id="{75936D1F-4FC7-4988-8F09-B922FA240537}"/>
              </a:ext>
            </a:extLst>
          </p:cNvPr>
          <p:cNvSpPr>
            <a:spLocks xmlns:a="http://schemas.openxmlformats.org/drawingml/2006/main" noGrp="1"/>
          </p:cNvSpPr>
          <p:nvPr/>
        </p:nvSpPr>
        <p:spPr>
          <a:xfrm xmlns:a="http://schemas.openxmlformats.org/drawingml/2006/main">
            <a:off x="704850" y="2390775"/>
            <a:ext cx="1000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A9BFC2"/>
                </a:solidFill>
              </a:defRPr>
            </a:defPPr>
          </a:lstStyle>
          <a:p xmlns:a="http://schemas.openxmlformats.org/drawingml/2006/main">
            <a:pPr>
              <a:defRPr sz="1650" b="0">
                <a:solidFill>
                  <a:srgbClr val="A9BFC2"/>
                </a:solidFill>
              </a:defRPr>
            </a:pPr>
            <a:r>
              <a:rPr sz="1650" b="0">
                <a:solidFill>
                  <a:srgbClr val="A9BFC2"/>
                </a:solidFill>
              </a:rPr>
              <a:t>Web, worker, persistent queue and model artifacts run in containers on s390x.</a:t>
            </a:r>
          </a:p>
        </p:txBody>
      </p:sp>
      <p:sp>
        <p:nvSpPr>
          <p:cNvPr id="8" name="">
            <a:extLst xmlns:a="http://schemas.openxmlformats.org/drawingml/2006/main">
              <a:ext uri="{FF2B5EF4-FFF2-40B4-BE49-F238E27FC236}">
                <a16:creationId xmlns:a16="http://schemas.microsoft.com/office/drawing/2014/main" id="{01036503-3EC6-41CB-8794-7B500C32CD81}"/>
              </a:ext>
            </a:extLst>
          </p:cNvPr>
          <p:cNvSpPr>
            <a:spLocks xmlns:a="http://schemas.openxmlformats.org/drawingml/2006/main" noGrp="1"/>
          </p:cNvSpPr>
          <p:nvPr/>
        </p:nvSpPr>
        <p:spPr>
          <a:xfrm xmlns:a="http://schemas.openxmlformats.org/drawingml/2006/main">
            <a:off x="714375" y="3476625"/>
            <a:ext cx="2381250" cy="1409700"/>
          </a:xfrm>
          <a:prstGeom xmlns:a="http://schemas.openxmlformats.org/drawingml/2006/main" prst="rect">
            <a:avLst/>
          </a:prstGeom>
          <a:solidFill xmlns:a="http://schemas.openxmlformats.org/drawingml/2006/main">
            <a:srgbClr val="112B3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AF0A03D-5690-4C23-98AD-942633CECE8C}"/>
              </a:ext>
            </a:extLst>
          </p:cNvPr>
          <p:cNvSpPr>
            <a:spLocks xmlns:a="http://schemas.openxmlformats.org/drawingml/2006/main" noGrp="1"/>
          </p:cNvSpPr>
          <p:nvPr/>
        </p:nvSpPr>
        <p:spPr>
          <a:xfrm xmlns:a="http://schemas.openxmlformats.org/drawingml/2006/main">
            <a:off x="885825" y="3657600"/>
            <a:ext cx="2057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48E6C1"/>
                </a:solidFill>
              </a:defRPr>
            </a:defPPr>
          </a:lstStyle>
          <a:p xmlns:a="http://schemas.openxmlformats.org/drawingml/2006/main">
            <a:pPr>
              <a:defRPr sz="1425" b="1">
                <a:solidFill>
                  <a:srgbClr val="48E6C1"/>
                </a:solidFill>
              </a:defRPr>
            </a:pPr>
            <a:r>
              <a:rPr sz="1425" b="1">
                <a:solidFill>
                  <a:srgbClr val="48E6C1"/>
                </a:solidFill>
              </a:rPr>
              <a:t>BROWSER</a:t>
            </a:r>
          </a:p>
        </p:txBody>
      </p:sp>
      <p:sp>
        <p:nvSpPr>
          <p:cNvPr id="10" name="">
            <a:extLst xmlns:a="http://schemas.openxmlformats.org/drawingml/2006/main">
              <a:ext uri="{FF2B5EF4-FFF2-40B4-BE49-F238E27FC236}">
                <a16:creationId xmlns:a16="http://schemas.microsoft.com/office/drawing/2014/main" id="{7D9271EF-582A-4C44-BCB3-FB02F27A2AF5}"/>
              </a:ext>
            </a:extLst>
          </p:cNvPr>
          <p:cNvSpPr>
            <a:spLocks xmlns:a="http://schemas.openxmlformats.org/drawingml/2006/main" noGrp="1"/>
          </p:cNvSpPr>
          <p:nvPr/>
        </p:nvSpPr>
        <p:spPr>
          <a:xfrm xmlns:a="http://schemas.openxmlformats.org/drawingml/2006/main">
            <a:off x="885825" y="4067175"/>
            <a:ext cx="2047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EFF7F4"/>
                </a:solidFill>
              </a:defRPr>
            </a:defPPr>
          </a:lstStyle>
          <a:p xmlns:a="http://schemas.openxmlformats.org/drawingml/2006/main">
            <a:pPr>
              <a:defRPr sz="1350" b="0">
                <a:solidFill>
                  <a:srgbClr val="EFF7F4"/>
                </a:solidFill>
              </a:defRPr>
            </a:pPr>
            <a:r>
              <a:rPr sz="1350" b="0">
                <a:solidFill>
                  <a:srgbClr val="EFF7F4"/>
                </a:solidFill>
              </a:rPr>
              <a:t>SSH tunnel and access token</a:t>
            </a:r>
          </a:p>
        </p:txBody>
      </p:sp>
      <p:sp>
        <p:nvSpPr>
          <p:cNvPr id="11" name="">
            <a:extLst xmlns:a="http://schemas.openxmlformats.org/drawingml/2006/main">
              <a:ext uri="{FF2B5EF4-FFF2-40B4-BE49-F238E27FC236}">
                <a16:creationId xmlns:a16="http://schemas.microsoft.com/office/drawing/2014/main" id="{CBA22F99-0E7A-4256-9BEC-6E8BB66AB23E}"/>
              </a:ext>
            </a:extLst>
          </p:cNvPr>
          <p:cNvSpPr>
            <a:spLocks xmlns:a="http://schemas.openxmlformats.org/drawingml/2006/main" noGrp="1"/>
          </p:cNvSpPr>
          <p:nvPr/>
        </p:nvSpPr>
        <p:spPr>
          <a:xfrm xmlns:a="http://schemas.openxmlformats.org/drawingml/2006/main">
            <a:off x="3381375" y="3476625"/>
            <a:ext cx="2381250" cy="1409700"/>
          </a:xfrm>
          <a:prstGeom xmlns:a="http://schemas.openxmlformats.org/drawingml/2006/main" prst="rect">
            <a:avLst/>
          </a:prstGeom>
          <a:solidFill xmlns:a="http://schemas.openxmlformats.org/drawingml/2006/main">
            <a:srgbClr val="112B3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B5E9F96-5DE9-43C3-9212-210C5FE6750A}"/>
              </a:ext>
            </a:extLst>
          </p:cNvPr>
          <p:cNvSpPr>
            <a:spLocks xmlns:a="http://schemas.openxmlformats.org/drawingml/2006/main" noGrp="1"/>
          </p:cNvSpPr>
          <p:nvPr/>
        </p:nvSpPr>
        <p:spPr>
          <a:xfrm xmlns:a="http://schemas.openxmlformats.org/drawingml/2006/main">
            <a:off x="3552825" y="3657600"/>
            <a:ext cx="2057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48E6C1"/>
                </a:solidFill>
              </a:defRPr>
            </a:defPPr>
          </a:lstStyle>
          <a:p xmlns:a="http://schemas.openxmlformats.org/drawingml/2006/main">
            <a:pPr>
              <a:defRPr sz="1425" b="1">
                <a:solidFill>
                  <a:srgbClr val="48E6C1"/>
                </a:solidFill>
              </a:defRPr>
            </a:pPr>
            <a:r>
              <a:rPr sz="1425" b="1">
                <a:solidFill>
                  <a:srgbClr val="48E6C1"/>
                </a:solidFill>
              </a:rPr>
              <a:t>WEB / API</a:t>
            </a:r>
          </a:p>
        </p:txBody>
      </p:sp>
      <p:sp>
        <p:nvSpPr>
          <p:cNvPr id="13" name="">
            <a:extLst xmlns:a="http://schemas.openxmlformats.org/drawingml/2006/main">
              <a:ext uri="{FF2B5EF4-FFF2-40B4-BE49-F238E27FC236}">
                <a16:creationId xmlns:a16="http://schemas.microsoft.com/office/drawing/2014/main" id="{AC2931DA-78A5-4DD6-BE01-36404CCB5643}"/>
              </a:ext>
            </a:extLst>
          </p:cNvPr>
          <p:cNvSpPr>
            <a:spLocks xmlns:a="http://schemas.openxmlformats.org/drawingml/2006/main" noGrp="1"/>
          </p:cNvSpPr>
          <p:nvPr/>
        </p:nvSpPr>
        <p:spPr>
          <a:xfrm xmlns:a="http://schemas.openxmlformats.org/drawingml/2006/main">
            <a:off x="3552825" y="4067175"/>
            <a:ext cx="2047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EFF7F4"/>
                </a:solidFill>
              </a:defRPr>
            </a:defPPr>
          </a:lstStyle>
          <a:p xmlns:a="http://schemas.openxmlformats.org/drawingml/2006/main">
            <a:pPr>
              <a:defRPr sz="1350" b="0">
                <a:solidFill>
                  <a:srgbClr val="EFF7F4"/>
                </a:solidFill>
              </a:defRPr>
            </a:pPr>
            <a:r>
              <a:rPr sz="1350" b="0">
                <a:solidFill>
                  <a:srgbClr val="EFF7F4"/>
                </a:solidFill>
              </a:rPr>
              <a:t>Static dashboard and scenario endpoints</a:t>
            </a:r>
          </a:p>
        </p:txBody>
      </p:sp>
      <p:sp>
        <p:nvSpPr>
          <p:cNvPr id="14" name="">
            <a:extLst xmlns:a="http://schemas.openxmlformats.org/drawingml/2006/main">
              <a:ext uri="{FF2B5EF4-FFF2-40B4-BE49-F238E27FC236}">
                <a16:creationId xmlns:a16="http://schemas.microsoft.com/office/drawing/2014/main" id="{4D5721AD-8A53-4AE9-A0F6-BD7708849F64}"/>
              </a:ext>
            </a:extLst>
          </p:cNvPr>
          <p:cNvSpPr>
            <a:spLocks xmlns:a="http://schemas.openxmlformats.org/drawingml/2006/main" noGrp="1"/>
          </p:cNvSpPr>
          <p:nvPr/>
        </p:nvSpPr>
        <p:spPr>
          <a:xfrm xmlns:a="http://schemas.openxmlformats.org/drawingml/2006/main">
            <a:off x="6048375" y="3476625"/>
            <a:ext cx="2381250" cy="1409700"/>
          </a:xfrm>
          <a:prstGeom xmlns:a="http://schemas.openxmlformats.org/drawingml/2006/main" prst="rect">
            <a:avLst/>
          </a:prstGeom>
          <a:solidFill xmlns:a="http://schemas.openxmlformats.org/drawingml/2006/main">
            <a:srgbClr val="1A3D4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80217BD-5DDF-47F9-A6CF-5A74BAA3BCAC}"/>
              </a:ext>
            </a:extLst>
          </p:cNvPr>
          <p:cNvSpPr>
            <a:spLocks xmlns:a="http://schemas.openxmlformats.org/drawingml/2006/main" noGrp="1"/>
          </p:cNvSpPr>
          <p:nvPr/>
        </p:nvSpPr>
        <p:spPr>
          <a:xfrm xmlns:a="http://schemas.openxmlformats.org/drawingml/2006/main">
            <a:off x="6219825" y="3657600"/>
            <a:ext cx="2057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48E6C1"/>
                </a:solidFill>
              </a:defRPr>
            </a:defPPr>
          </a:lstStyle>
          <a:p xmlns:a="http://schemas.openxmlformats.org/drawingml/2006/main">
            <a:pPr>
              <a:defRPr sz="1425" b="1">
                <a:solidFill>
                  <a:srgbClr val="48E6C1"/>
                </a:solidFill>
              </a:defRPr>
            </a:pPr>
            <a:r>
              <a:rPr sz="1425" b="1">
                <a:solidFill>
                  <a:srgbClr val="48E6C1"/>
                </a:solidFill>
              </a:rPr>
              <a:t>SQLITE</a:t>
            </a:r>
          </a:p>
        </p:txBody>
      </p:sp>
      <p:sp>
        <p:nvSpPr>
          <p:cNvPr id="16" name="">
            <a:extLst xmlns:a="http://schemas.openxmlformats.org/drawingml/2006/main">
              <a:ext uri="{FF2B5EF4-FFF2-40B4-BE49-F238E27FC236}">
                <a16:creationId xmlns:a16="http://schemas.microsoft.com/office/drawing/2014/main" id="{B141D7DD-6C82-4A34-B5A3-74C2D3ED0A2B}"/>
              </a:ext>
            </a:extLst>
          </p:cNvPr>
          <p:cNvSpPr>
            <a:spLocks xmlns:a="http://schemas.openxmlformats.org/drawingml/2006/main" noGrp="1"/>
          </p:cNvSpPr>
          <p:nvPr/>
        </p:nvSpPr>
        <p:spPr>
          <a:xfrm xmlns:a="http://schemas.openxmlformats.org/drawingml/2006/main">
            <a:off x="6219825" y="4067175"/>
            <a:ext cx="2047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EFF7F4"/>
                </a:solidFill>
              </a:defRPr>
            </a:defPPr>
          </a:lstStyle>
          <a:p xmlns:a="http://schemas.openxmlformats.org/drawingml/2006/main">
            <a:pPr>
              <a:defRPr sz="1350" b="0">
                <a:solidFill>
                  <a:srgbClr val="EFF7F4"/>
                </a:solidFill>
              </a:defRPr>
            </a:pPr>
            <a:r>
              <a:rPr sz="1350" b="0">
                <a:solidFill>
                  <a:srgbClr val="EFF7F4"/>
                </a:solidFill>
              </a:rPr>
              <a:t>Durable jobs, runs and advisories</a:t>
            </a:r>
          </a:p>
        </p:txBody>
      </p:sp>
      <p:sp>
        <p:nvSpPr>
          <p:cNvPr id="17" name="">
            <a:extLst xmlns:a="http://schemas.openxmlformats.org/drawingml/2006/main">
              <a:ext uri="{FF2B5EF4-FFF2-40B4-BE49-F238E27FC236}">
                <a16:creationId xmlns:a16="http://schemas.microsoft.com/office/drawing/2014/main" id="{CC20D0BB-B7EC-4A6E-B8F5-5D50709CC43C}"/>
              </a:ext>
            </a:extLst>
          </p:cNvPr>
          <p:cNvSpPr>
            <a:spLocks xmlns:a="http://schemas.openxmlformats.org/drawingml/2006/main" noGrp="1"/>
          </p:cNvSpPr>
          <p:nvPr/>
        </p:nvSpPr>
        <p:spPr>
          <a:xfrm xmlns:a="http://schemas.openxmlformats.org/drawingml/2006/main">
            <a:off x="8715375" y="3476625"/>
            <a:ext cx="2381250" cy="1409700"/>
          </a:xfrm>
          <a:prstGeom xmlns:a="http://schemas.openxmlformats.org/drawingml/2006/main" prst="rect">
            <a:avLst/>
          </a:prstGeom>
          <a:solidFill xmlns:a="http://schemas.openxmlformats.org/drawingml/2006/main">
            <a:srgbClr val="112B39"/>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976947F-795C-4C21-AEB8-F5CCB478486C}"/>
              </a:ext>
            </a:extLst>
          </p:cNvPr>
          <p:cNvSpPr>
            <a:spLocks xmlns:a="http://schemas.openxmlformats.org/drawingml/2006/main" noGrp="1"/>
          </p:cNvSpPr>
          <p:nvPr/>
        </p:nvSpPr>
        <p:spPr>
          <a:xfrm xmlns:a="http://schemas.openxmlformats.org/drawingml/2006/main">
            <a:off x="8886825" y="3657600"/>
            <a:ext cx="2057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48E6C1"/>
                </a:solidFill>
              </a:defRPr>
            </a:defPPr>
          </a:lstStyle>
          <a:p xmlns:a="http://schemas.openxmlformats.org/drawingml/2006/main">
            <a:pPr>
              <a:defRPr sz="1425" b="1">
                <a:solidFill>
                  <a:srgbClr val="48E6C1"/>
                </a:solidFill>
              </a:defRPr>
            </a:pPr>
            <a:r>
              <a:rPr sz="1425" b="1">
                <a:solidFill>
                  <a:srgbClr val="48E6C1"/>
                </a:solidFill>
              </a:rPr>
              <a:t>WORKER</a:t>
            </a:r>
          </a:p>
        </p:txBody>
      </p:sp>
      <p:sp>
        <p:nvSpPr>
          <p:cNvPr id="19" name="">
            <a:extLst xmlns:a="http://schemas.openxmlformats.org/drawingml/2006/main">
              <a:ext uri="{FF2B5EF4-FFF2-40B4-BE49-F238E27FC236}">
                <a16:creationId xmlns:a16="http://schemas.microsoft.com/office/drawing/2014/main" id="{566ED25C-7493-4697-944B-95C287E7492D}"/>
              </a:ext>
            </a:extLst>
          </p:cNvPr>
          <p:cNvSpPr>
            <a:spLocks xmlns:a="http://schemas.openxmlformats.org/drawingml/2006/main" noGrp="1"/>
          </p:cNvSpPr>
          <p:nvPr/>
        </p:nvSpPr>
        <p:spPr>
          <a:xfrm xmlns:a="http://schemas.openxmlformats.org/drawingml/2006/main">
            <a:off x="8886825" y="4067175"/>
            <a:ext cx="2047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EFF7F4"/>
                </a:solidFill>
              </a:defRPr>
            </a:defPPr>
          </a:lstStyle>
          <a:p xmlns:a="http://schemas.openxmlformats.org/drawingml/2006/main">
            <a:pPr>
              <a:defRPr sz="1350" b="0">
                <a:solidFill>
                  <a:srgbClr val="EFF7F4"/>
                </a:solidFill>
              </a:defRPr>
            </a:pPr>
            <a:r>
              <a:rPr sz="1350" b="0">
                <a:solidFill>
                  <a:srgbClr val="EFF7F4"/>
                </a:solidFill>
              </a:rPr>
              <a:t>Demand, risk and backup computation</a:t>
            </a:r>
          </a:p>
        </p:txBody>
      </p:sp>
      <p:sp>
        <p:nvSpPr>
          <p:cNvPr id="20" name="">
            <a:extLst xmlns:a="http://schemas.openxmlformats.org/drawingml/2006/main">
              <a:ext uri="{FF2B5EF4-FFF2-40B4-BE49-F238E27FC236}">
                <a16:creationId xmlns:a16="http://schemas.microsoft.com/office/drawing/2014/main" id="{F32DB069-DB1C-499D-AF15-470D88A5CF9F}"/>
              </a:ext>
            </a:extLst>
          </p:cNvPr>
          <p:cNvSpPr>
            <a:spLocks xmlns:a="http://schemas.openxmlformats.org/drawingml/2006/main" noGrp="1"/>
          </p:cNvSpPr>
          <p:nvPr/>
        </p:nvSpPr>
        <p:spPr>
          <a:xfrm xmlns:a="http://schemas.openxmlformats.org/drawingml/2006/main">
            <a:off x="723900" y="53530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FFC06E"/>
                </a:solidFill>
              </a:defRPr>
            </a:defPPr>
          </a:lstStyle>
          <a:p xmlns:a="http://schemas.openxmlformats.org/drawingml/2006/main">
            <a:pPr>
              <a:defRPr sz="1500" b="0">
                <a:solidFill>
                  <a:srgbClr val="FFC06E"/>
                </a:solidFill>
              </a:defRPr>
            </a:pPr>
            <a:r>
              <a:rPr sz="1500" b="0">
                <a:solidFill>
                  <a:srgbClr val="FFC06E"/>
                </a:solidFill>
              </a:rPr>
              <a:t>Demonstrated after VM verification: s390x runtime, container inference, persistent acknowledgment and worker recovery.</a:t>
            </a:r>
          </a:p>
        </p:txBody>
      </p:sp>
    </p:spTree>
    <p:extLst>
      <p:ext uri="{BB962C8B-B14F-4D97-AF65-F5344CB8AC3E}">
        <p14:creationId xmlns:p14="http://schemas.microsoft.com/office/powerpoint/2010/main" val="25744600"/>
      </p:ext>
    </p:extLst>
  </p:cSld>
</p:sld>
</file>

<file path=ppt/slides/slide7.xml><?xml version="1.0" encoding="utf-8"?>
<p:sld xmlns:p="http://schemas.openxmlformats.org/presentationml/2006/main">
  <p:cSld>
    <p:bg>
      <p:bgPr>
        <a:solidFill xmlns:a="http://schemas.openxmlformats.org/drawingml/2006/main">
          <a:srgbClr val="0B1C2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C6F8DE-CD9C-46BC-9C84-59ECADD8ACC7}"/>
              </a:ext>
            </a:extLst>
          </p:cNvPr>
          <p:cNvSpPr>
            <a:spLocks xmlns:a="http://schemas.openxmlformats.org/drawingml/2006/main" noGrp="1"/>
          </p:cNvSpPr>
          <p:nvPr/>
        </p:nvSpPr>
        <p:spPr>
          <a:xfrm xmlns:a="http://schemas.openxmlformats.org/drawingml/2006/main">
            <a:off x="685800" y="514350"/>
            <a:ext cx="419100" cy="4762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81DE7D2-62A2-4C23-8ABD-7C52E8B19823}"/>
              </a:ext>
            </a:extLst>
          </p:cNvPr>
          <p:cNvSpPr>
            <a:spLocks xmlns:a="http://schemas.openxmlformats.org/drawingml/2006/main" noGrp="1"/>
          </p:cNvSpPr>
          <p:nvPr/>
        </p:nvSpPr>
        <p:spPr>
          <a:xfrm xmlns:a="http://schemas.openxmlformats.org/drawingml/2006/main">
            <a:off x="685800" y="666750"/>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8E6C1"/>
                </a:solidFill>
              </a:defRPr>
            </a:defPPr>
          </a:lstStyle>
          <a:p xmlns:a="http://schemas.openxmlformats.org/drawingml/2006/main">
            <a:pPr>
              <a:defRPr sz="975" b="1">
                <a:solidFill>
                  <a:srgbClr val="48E6C1"/>
                </a:solidFill>
              </a:defRPr>
            </a:pPr>
            <a:r>
              <a:rPr sz="975" b="1">
                <a:solidFill>
                  <a:srgbClr val="48E6C1"/>
                </a:solidFill>
              </a:rPr>
              <a:t>ALLPOWER  /  AI FOR GOOD</a:t>
            </a:r>
          </a:p>
        </p:txBody>
      </p:sp>
      <p:sp>
        <p:nvSpPr>
          <p:cNvPr id="3" name="">
            <a:extLst xmlns:a="http://schemas.openxmlformats.org/drawingml/2006/main">
              <a:ext uri="{FF2B5EF4-FFF2-40B4-BE49-F238E27FC236}">
                <a16:creationId xmlns:a16="http://schemas.microsoft.com/office/drawing/2014/main" id="{BF77DA16-7BEB-4443-9553-D4F2A1FDB27F}"/>
              </a:ext>
            </a:extLst>
          </p:cNvPr>
          <p:cNvSpPr>
            <a:spLocks xmlns:a="http://schemas.openxmlformats.org/drawingml/2006/main" noGrp="1"/>
          </p:cNvSpPr>
          <p:nvPr/>
        </p:nvSpPr>
        <p:spPr>
          <a:xfrm xmlns:a="http://schemas.openxmlformats.org/drawingml/2006/main">
            <a:off x="11049000" y="590550"/>
            <a:ext cx="47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A9BFC2"/>
                </a:solidFill>
              </a:defRPr>
            </a:defPPr>
          </a:lstStyle>
          <a:p xmlns:a="http://schemas.openxmlformats.org/drawingml/2006/main">
            <a:pPr>
              <a:defRPr sz="1200" b="1">
                <a:solidFill>
                  <a:srgbClr val="A9BFC2"/>
                </a:solidFill>
              </a:defRPr>
            </a:pPr>
            <a:r>
              <a:rPr sz="1200" b="1">
                <a:solidFill>
                  <a:srgbClr val="A9BFC2"/>
                </a:solidFill>
              </a:rPr>
              <a:t>07</a:t>
            </a:r>
          </a:p>
        </p:txBody>
      </p:sp>
      <p:sp>
        <p:nvSpPr>
          <p:cNvPr id="4" name="">
            <a:extLst xmlns:a="http://schemas.openxmlformats.org/drawingml/2006/main">
              <a:ext uri="{FF2B5EF4-FFF2-40B4-BE49-F238E27FC236}">
                <a16:creationId xmlns:a16="http://schemas.microsoft.com/office/drawing/2014/main" id="{56C65F01-E686-4BDA-A4F1-BEB2CB5AFD84}"/>
              </a:ext>
            </a:extLst>
          </p:cNvPr>
          <p:cNvSpPr>
            <a:spLocks xmlns:a="http://schemas.openxmlformats.org/drawingml/2006/main" noGrp="1"/>
          </p:cNvSpPr>
          <p:nvPr/>
        </p:nvSpPr>
        <p:spPr>
          <a:xfrm xmlns:a="http://schemas.openxmlformats.org/drawingml/2006/main">
            <a:off x="685800" y="6181725"/>
            <a:ext cx="10820400"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0242D00-BE0A-4BDB-8F05-19BB037259C1}"/>
              </a:ext>
            </a:extLst>
          </p:cNvPr>
          <p:cNvSpPr>
            <a:spLocks xmlns:a="http://schemas.openxmlformats.org/drawingml/2006/main" noGrp="1"/>
          </p:cNvSpPr>
          <p:nvPr/>
        </p:nvSpPr>
        <p:spPr>
          <a:xfrm xmlns:a="http://schemas.openxmlformats.org/drawingml/2006/main">
            <a:off x="685800" y="6296025"/>
            <a:ext cx="762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A9BFC2"/>
                </a:solidFill>
              </a:defRPr>
            </a:defPPr>
          </a:lstStyle>
          <a:p xmlns:a="http://schemas.openxmlformats.org/drawingml/2006/main">
            <a:pPr>
              <a:defRPr sz="825" b="1">
                <a:solidFill>
                  <a:srgbClr val="A9BFC2"/>
                </a:solidFill>
              </a:defRPr>
            </a:pPr>
            <a:r>
              <a:rPr sz="825" b="1">
                <a:solidFill>
                  <a:srgbClr val="A9BFC2"/>
                </a:solidFill>
              </a:rPr>
              <a:t>MODELED BENEFIT</a:t>
            </a:r>
          </a:p>
        </p:txBody>
      </p:sp>
      <p:sp>
        <p:nvSpPr>
          <p:cNvPr id="6" name="">
            <a:extLst xmlns:a="http://schemas.openxmlformats.org/drawingml/2006/main">
              <a:ext uri="{FF2B5EF4-FFF2-40B4-BE49-F238E27FC236}">
                <a16:creationId xmlns:a16="http://schemas.microsoft.com/office/drawing/2014/main" id="{32B92E79-0BD9-4736-94BE-4BC4EAB2F565}"/>
              </a:ext>
            </a:extLst>
          </p:cNvPr>
          <p:cNvSpPr>
            <a:spLocks xmlns:a="http://schemas.openxmlformats.org/drawingml/2006/main" noGrp="1"/>
          </p:cNvSpPr>
          <p:nvPr/>
        </p:nvSpPr>
        <p:spPr>
          <a:xfrm xmlns:a="http://schemas.openxmlformats.org/drawingml/2006/main">
            <a:off x="685800" y="1143000"/>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900" b="1">
                <a:solidFill>
                  <a:srgbClr val="EFF7F4"/>
                </a:solidFill>
              </a:defRPr>
            </a:defPPr>
          </a:lstStyle>
          <a:p xmlns:a="http://schemas.openxmlformats.org/drawingml/2006/main">
            <a:pPr>
              <a:defRPr sz="3900" b="1">
                <a:solidFill>
                  <a:srgbClr val="EFF7F4"/>
                </a:solidFill>
              </a:defRPr>
            </a:pPr>
            <a:r>
              <a:rPr sz="3900" b="1">
                <a:solidFill>
                  <a:srgbClr val="EFF7F4"/>
                </a:solidFill>
              </a:rPr>
              <a:t>A plan the facility can act on</a:t>
            </a:r>
          </a:p>
        </p:txBody>
      </p:sp>
      <p:sp>
        <p:nvSpPr>
          <p:cNvPr id="7" name="">
            <a:extLst xmlns:a="http://schemas.openxmlformats.org/drawingml/2006/main">
              <a:ext uri="{FF2B5EF4-FFF2-40B4-BE49-F238E27FC236}">
                <a16:creationId xmlns:a16="http://schemas.microsoft.com/office/drawing/2014/main" id="{4DBC3614-3408-4173-932F-4D6D3AE28659}"/>
              </a:ext>
            </a:extLst>
          </p:cNvPr>
          <p:cNvSpPr>
            <a:spLocks xmlns:a="http://schemas.openxmlformats.org/drawingml/2006/main" noGrp="1"/>
          </p:cNvSpPr>
          <p:nvPr/>
        </p:nvSpPr>
        <p:spPr>
          <a:xfrm xmlns:a="http://schemas.openxmlformats.org/drawingml/2006/main">
            <a:off x="704850" y="2390775"/>
            <a:ext cx="1000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A9BFC2"/>
                </a:solidFill>
              </a:defRPr>
            </a:defPPr>
          </a:lstStyle>
          <a:p xmlns:a="http://schemas.openxmlformats.org/drawingml/2006/main">
            <a:pPr>
              <a:defRPr sz="1650" b="0">
                <a:solidFill>
                  <a:srgbClr val="A9BFC2"/>
                </a:solidFill>
              </a:defRPr>
            </a:pPr>
            <a:r>
              <a:rPr sz="1650" b="0">
                <a:solidFill>
                  <a:srgbClr val="A9BFC2"/>
                </a:solidFill>
              </a:rPr>
              <a:t>The key measure is modeled critical energy served over six hours.</a:t>
            </a:r>
          </a:p>
        </p:txBody>
      </p:sp>
      <p:sp>
        <p:nvSpPr>
          <p:cNvPr id="8" name="">
            <a:extLst xmlns:a="http://schemas.openxmlformats.org/drawingml/2006/main">
              <a:ext uri="{FF2B5EF4-FFF2-40B4-BE49-F238E27FC236}">
                <a16:creationId xmlns:a16="http://schemas.microsoft.com/office/drawing/2014/main" id="{F5D202B9-7FAC-4FE5-B021-E564C2688AD9}"/>
              </a:ext>
            </a:extLst>
          </p:cNvPr>
          <p:cNvSpPr>
            <a:spLocks xmlns:a="http://schemas.openxmlformats.org/drawingml/2006/main" noGrp="1"/>
          </p:cNvSpPr>
          <p:nvPr/>
        </p:nvSpPr>
        <p:spPr>
          <a:xfrm xmlns:a="http://schemas.openxmlformats.org/drawingml/2006/main">
            <a:off x="714375" y="3543300"/>
            <a:ext cx="3143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1">
                <a:solidFill>
                  <a:srgbClr val="48E6C1"/>
                </a:solidFill>
              </a:defRPr>
            </a:defPPr>
          </a:lstStyle>
          <a:p xmlns:a="http://schemas.openxmlformats.org/drawingml/2006/main">
            <a:pPr>
              <a:defRPr sz="1650" b="1">
                <a:solidFill>
                  <a:srgbClr val="48E6C1"/>
                </a:solidFill>
              </a:defRPr>
            </a:pPr>
            <a:r>
              <a:rPr sz="1650" b="1">
                <a:solidFill>
                  <a:srgbClr val="48E6C1"/>
                </a:solidFill>
              </a:rPr>
              <a:t>Prepared plan</a:t>
            </a:r>
          </a:p>
        </p:txBody>
      </p:sp>
      <p:sp>
        <p:nvSpPr>
          <p:cNvPr id="9" name="">
            <a:extLst xmlns:a="http://schemas.openxmlformats.org/drawingml/2006/main">
              <a:ext uri="{FF2B5EF4-FFF2-40B4-BE49-F238E27FC236}">
                <a16:creationId xmlns:a16="http://schemas.microsoft.com/office/drawing/2014/main" id="{50936A21-46A5-4AE1-A745-6004DFB136C4}"/>
              </a:ext>
            </a:extLst>
          </p:cNvPr>
          <p:cNvSpPr>
            <a:spLocks xmlns:a="http://schemas.openxmlformats.org/drawingml/2006/main" noGrp="1"/>
          </p:cNvSpPr>
          <p:nvPr/>
        </p:nvSpPr>
        <p:spPr>
          <a:xfrm xmlns:a="http://schemas.openxmlformats.org/drawingml/2006/main">
            <a:off x="714375" y="4000500"/>
            <a:ext cx="8096250" cy="25717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4FD6174-E683-4280-9EA6-7E9E946614FA}"/>
              </a:ext>
            </a:extLst>
          </p:cNvPr>
          <p:cNvSpPr>
            <a:spLocks xmlns:a="http://schemas.openxmlformats.org/drawingml/2006/main" noGrp="1"/>
          </p:cNvSpPr>
          <p:nvPr/>
        </p:nvSpPr>
        <p:spPr>
          <a:xfrm xmlns:a="http://schemas.openxmlformats.org/drawingml/2006/main">
            <a:off x="714375" y="4543425"/>
            <a:ext cx="3810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1">
                <a:solidFill>
                  <a:srgbClr val="FFC06E"/>
                </a:solidFill>
              </a:defRPr>
            </a:defPPr>
          </a:lstStyle>
          <a:p xmlns:a="http://schemas.openxmlformats.org/drawingml/2006/main">
            <a:pPr>
              <a:defRPr sz="1650" b="1">
                <a:solidFill>
                  <a:srgbClr val="FFC06E"/>
                </a:solidFill>
              </a:defRPr>
            </a:pPr>
            <a:r>
              <a:rPr sz="1650" b="1">
                <a:solidFill>
                  <a:srgbClr val="FFC06E"/>
                </a:solidFill>
              </a:rPr>
              <a:t>Reactive startup policy</a:t>
            </a:r>
          </a:p>
        </p:txBody>
      </p:sp>
      <p:sp>
        <p:nvSpPr>
          <p:cNvPr id="11" name="">
            <a:extLst xmlns:a="http://schemas.openxmlformats.org/drawingml/2006/main">
              <a:ext uri="{FF2B5EF4-FFF2-40B4-BE49-F238E27FC236}">
                <a16:creationId xmlns:a16="http://schemas.microsoft.com/office/drawing/2014/main" id="{E7F61337-8D65-4DB8-8FD0-549CB2E9FFDE}"/>
              </a:ext>
            </a:extLst>
          </p:cNvPr>
          <p:cNvSpPr>
            <a:spLocks xmlns:a="http://schemas.openxmlformats.org/drawingml/2006/main" noGrp="1"/>
          </p:cNvSpPr>
          <p:nvPr/>
        </p:nvSpPr>
        <p:spPr>
          <a:xfrm xmlns:a="http://schemas.openxmlformats.org/drawingml/2006/main">
            <a:off x="714375" y="5000625"/>
            <a:ext cx="6191250" cy="257175"/>
          </a:xfrm>
          <a:prstGeom xmlns:a="http://schemas.openxmlformats.org/drawingml/2006/main" prst="rect">
            <a:avLst/>
          </a:prstGeom>
          <a:solidFill xmlns:a="http://schemas.openxmlformats.org/drawingml/2006/main">
            <a:srgbClr val="FFC06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15C0BFD-2630-4835-8686-A7F4DF61A3C6}"/>
              </a:ext>
            </a:extLst>
          </p:cNvPr>
          <p:cNvSpPr>
            <a:spLocks xmlns:a="http://schemas.openxmlformats.org/drawingml/2006/main" noGrp="1"/>
          </p:cNvSpPr>
          <p:nvPr/>
        </p:nvSpPr>
        <p:spPr>
          <a:xfrm xmlns:a="http://schemas.openxmlformats.org/drawingml/2006/main">
            <a:off x="714375" y="5524500"/>
            <a:ext cx="1019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A9BFC2"/>
                </a:solidFill>
              </a:defRPr>
            </a:defPPr>
          </a:lstStyle>
          <a:p xmlns:a="http://schemas.openxmlformats.org/drawingml/2006/main">
            <a:pPr>
              <a:defRPr sz="1275" b="0">
                <a:solidFill>
                  <a:srgbClr val="A9BFC2"/>
                </a:solidFill>
              </a:defRPr>
            </a:pPr>
            <a:r>
              <a:rPr sz="1275" b="0">
                <a:solidFill>
                  <a:srgbClr val="A9BFC2"/>
                </a:solidFill>
              </a:rPr>
              <a:t>Illustrative scale only. Exact kWh depend on scenario run and installed SciPy.</a:t>
            </a:r>
          </a:p>
        </p:txBody>
      </p:sp>
    </p:spTree>
    <p:extLst>
      <p:ext uri="{BB962C8B-B14F-4D97-AF65-F5344CB8AC3E}">
        <p14:creationId xmlns:p14="http://schemas.microsoft.com/office/powerpoint/2010/main" val="2000323859"/>
      </p:ext>
    </p:extLst>
  </p:cSld>
</p:sld>
</file>

<file path=ppt/slides/slide8.xml><?xml version="1.0" encoding="utf-8"?>
<p:sld xmlns:p="http://schemas.openxmlformats.org/presentationml/2006/main">
  <p:cSld>
    <p:bg>
      <p:bgPr>
        <a:solidFill xmlns:a="http://schemas.openxmlformats.org/drawingml/2006/main">
          <a:srgbClr val="0B1C2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49491A6-1557-42DF-B496-062E55988A14}"/>
              </a:ext>
            </a:extLst>
          </p:cNvPr>
          <p:cNvSpPr>
            <a:spLocks xmlns:a="http://schemas.openxmlformats.org/drawingml/2006/main" noGrp="1"/>
          </p:cNvSpPr>
          <p:nvPr/>
        </p:nvSpPr>
        <p:spPr>
          <a:xfrm xmlns:a="http://schemas.openxmlformats.org/drawingml/2006/main">
            <a:off x="685800" y="514350"/>
            <a:ext cx="419100" cy="4762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C40556B-6E80-444C-86D7-07E1C78AD3D9}"/>
              </a:ext>
            </a:extLst>
          </p:cNvPr>
          <p:cNvSpPr>
            <a:spLocks xmlns:a="http://schemas.openxmlformats.org/drawingml/2006/main" noGrp="1"/>
          </p:cNvSpPr>
          <p:nvPr/>
        </p:nvSpPr>
        <p:spPr>
          <a:xfrm xmlns:a="http://schemas.openxmlformats.org/drawingml/2006/main">
            <a:off x="685800" y="666750"/>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8E6C1"/>
                </a:solidFill>
              </a:defRPr>
            </a:defPPr>
          </a:lstStyle>
          <a:p xmlns:a="http://schemas.openxmlformats.org/drawingml/2006/main">
            <a:pPr>
              <a:defRPr sz="975" b="1">
                <a:solidFill>
                  <a:srgbClr val="48E6C1"/>
                </a:solidFill>
              </a:defRPr>
            </a:pPr>
            <a:r>
              <a:rPr sz="975" b="1">
                <a:solidFill>
                  <a:srgbClr val="48E6C1"/>
                </a:solidFill>
              </a:rPr>
              <a:t>ALLPOWER  /  AI FOR GOOD</a:t>
            </a:r>
          </a:p>
        </p:txBody>
      </p:sp>
      <p:sp>
        <p:nvSpPr>
          <p:cNvPr id="3" name="">
            <a:extLst xmlns:a="http://schemas.openxmlformats.org/drawingml/2006/main">
              <a:ext uri="{FF2B5EF4-FFF2-40B4-BE49-F238E27FC236}">
                <a16:creationId xmlns:a16="http://schemas.microsoft.com/office/drawing/2014/main" id="{03666342-F664-4C9F-8CFB-F71EDA12F395}"/>
              </a:ext>
            </a:extLst>
          </p:cNvPr>
          <p:cNvSpPr>
            <a:spLocks xmlns:a="http://schemas.openxmlformats.org/drawingml/2006/main" noGrp="1"/>
          </p:cNvSpPr>
          <p:nvPr/>
        </p:nvSpPr>
        <p:spPr>
          <a:xfrm xmlns:a="http://schemas.openxmlformats.org/drawingml/2006/main">
            <a:off x="11049000" y="590550"/>
            <a:ext cx="47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A9BFC2"/>
                </a:solidFill>
              </a:defRPr>
            </a:defPPr>
          </a:lstStyle>
          <a:p xmlns:a="http://schemas.openxmlformats.org/drawingml/2006/main">
            <a:pPr>
              <a:defRPr sz="1200" b="1">
                <a:solidFill>
                  <a:srgbClr val="A9BFC2"/>
                </a:solidFill>
              </a:defRPr>
            </a:pPr>
            <a:r>
              <a:rPr sz="1200" b="1">
                <a:solidFill>
                  <a:srgbClr val="A9BFC2"/>
                </a:solidFill>
              </a:rPr>
              <a:t>08</a:t>
            </a:r>
          </a:p>
        </p:txBody>
      </p:sp>
      <p:sp>
        <p:nvSpPr>
          <p:cNvPr id="4" name="">
            <a:extLst xmlns:a="http://schemas.openxmlformats.org/drawingml/2006/main">
              <a:ext uri="{FF2B5EF4-FFF2-40B4-BE49-F238E27FC236}">
                <a16:creationId xmlns:a16="http://schemas.microsoft.com/office/drawing/2014/main" id="{5D08CC7E-64E5-4409-9F25-15FC04F5BB8A}"/>
              </a:ext>
            </a:extLst>
          </p:cNvPr>
          <p:cNvSpPr>
            <a:spLocks xmlns:a="http://schemas.openxmlformats.org/drawingml/2006/main" noGrp="1"/>
          </p:cNvSpPr>
          <p:nvPr/>
        </p:nvSpPr>
        <p:spPr>
          <a:xfrm xmlns:a="http://schemas.openxmlformats.org/drawingml/2006/main">
            <a:off x="685800" y="6181725"/>
            <a:ext cx="10820400" cy="9525"/>
          </a:xfrm>
          <a:prstGeom xmlns:a="http://schemas.openxmlformats.org/drawingml/2006/main" prst="rect">
            <a:avLst/>
          </a:prstGeom>
          <a:solidFill xmlns:a="http://schemas.openxmlformats.org/drawingml/2006/main">
            <a:srgbClr val="3A586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90C03DA-1CBA-4EC6-9BE3-4B317FA7C7CE}"/>
              </a:ext>
            </a:extLst>
          </p:cNvPr>
          <p:cNvSpPr>
            <a:spLocks xmlns:a="http://schemas.openxmlformats.org/drawingml/2006/main" noGrp="1"/>
          </p:cNvSpPr>
          <p:nvPr/>
        </p:nvSpPr>
        <p:spPr>
          <a:xfrm xmlns:a="http://schemas.openxmlformats.org/drawingml/2006/main">
            <a:off x="685800" y="6296025"/>
            <a:ext cx="762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A9BFC2"/>
                </a:solidFill>
              </a:defRPr>
            </a:defPPr>
          </a:lstStyle>
          <a:p xmlns:a="http://schemas.openxmlformats.org/drawingml/2006/main">
            <a:pPr>
              <a:defRPr sz="825" b="1">
                <a:solidFill>
                  <a:srgbClr val="A9BFC2"/>
                </a:solidFill>
              </a:defRPr>
            </a:pPr>
            <a:r>
              <a:rPr sz="825" b="1">
                <a:solidFill>
                  <a:srgbClr val="A9BFC2"/>
                </a:solidFill>
              </a:rPr>
              <a:t>CLOSE</a:t>
            </a:r>
          </a:p>
        </p:txBody>
      </p:sp>
      <p:sp>
        <p:nvSpPr>
          <p:cNvPr id="6" name="">
            <a:extLst xmlns:a="http://schemas.openxmlformats.org/drawingml/2006/main">
              <a:ext uri="{FF2B5EF4-FFF2-40B4-BE49-F238E27FC236}">
                <a16:creationId xmlns:a16="http://schemas.microsoft.com/office/drawing/2014/main" id="{778B2849-18A8-4043-B9E8-65F277AAAE77}"/>
              </a:ext>
            </a:extLst>
          </p:cNvPr>
          <p:cNvSpPr>
            <a:spLocks xmlns:a="http://schemas.openxmlformats.org/drawingml/2006/main" noGrp="1"/>
          </p:cNvSpPr>
          <p:nvPr/>
        </p:nvSpPr>
        <p:spPr>
          <a:xfrm xmlns:a="http://schemas.openxmlformats.org/drawingml/2006/main">
            <a:off x="695325" y="1409700"/>
            <a:ext cx="9906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650" b="1">
                <a:solidFill>
                  <a:srgbClr val="EFF7F4"/>
                </a:solidFill>
              </a:defRPr>
            </a:defPPr>
          </a:lstStyle>
          <a:p xmlns:a="http://schemas.openxmlformats.org/drawingml/2006/main">
            <a:pPr>
              <a:defRPr sz="4650" b="1">
                <a:solidFill>
                  <a:srgbClr val="EFF7F4"/>
                </a:solidFill>
              </a:defRPr>
            </a:pPr>
            <a:r>
              <a:rPr sz="4650" b="1">
                <a:solidFill>
                  <a:srgbClr val="EFF7F4"/>
                </a:solidFill>
              </a:rPr>
              <a:t>From warning to readiness.</a:t>
            </a:r>
          </a:p>
        </p:txBody>
      </p:sp>
      <p:sp>
        <p:nvSpPr>
          <p:cNvPr id="7" name="">
            <a:extLst xmlns:a="http://schemas.openxmlformats.org/drawingml/2006/main">
              <a:ext uri="{FF2B5EF4-FFF2-40B4-BE49-F238E27FC236}">
                <a16:creationId xmlns:a16="http://schemas.microsoft.com/office/drawing/2014/main" id="{EAF87F7F-711C-44C1-8CE1-A909220EC5A3}"/>
              </a:ext>
            </a:extLst>
          </p:cNvPr>
          <p:cNvSpPr>
            <a:spLocks xmlns:a="http://schemas.openxmlformats.org/drawingml/2006/main" noGrp="1"/>
          </p:cNvSpPr>
          <p:nvPr/>
        </p:nvSpPr>
        <p:spPr>
          <a:xfrm xmlns:a="http://schemas.openxmlformats.org/drawingml/2006/main">
            <a:off x="723900" y="2971800"/>
            <a:ext cx="8667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175" b="0">
                <a:solidFill>
                  <a:srgbClr val="A9BFC2"/>
                </a:solidFill>
              </a:defRPr>
            </a:defPPr>
          </a:lstStyle>
          <a:p xmlns:a="http://schemas.openxmlformats.org/drawingml/2006/main">
            <a:pPr>
              <a:defRPr sz="2175" b="0">
                <a:solidFill>
                  <a:srgbClr val="A9BFC2"/>
                </a:solidFill>
              </a:defRPr>
            </a:pPr>
            <a:r>
              <a:rPr sz="2175" b="0">
                <a:solidFill>
                  <a:srgbClr val="A9BFC2"/>
                </a:solidFill>
              </a:rPr>
              <a:t>Forecast the next six hours. Show the assumption. Give a hospital a concrete next action.</a:t>
            </a:r>
          </a:p>
        </p:txBody>
      </p:sp>
      <p:sp>
        <p:nvSpPr>
          <p:cNvPr id="8" name="">
            <a:extLst xmlns:a="http://schemas.openxmlformats.org/drawingml/2006/main">
              <a:ext uri="{FF2B5EF4-FFF2-40B4-BE49-F238E27FC236}">
                <a16:creationId xmlns:a16="http://schemas.microsoft.com/office/drawing/2014/main" id="{9A27CD19-23ED-45DF-AF49-0AD2803849A9}"/>
              </a:ext>
            </a:extLst>
          </p:cNvPr>
          <p:cNvSpPr>
            <a:spLocks xmlns:a="http://schemas.openxmlformats.org/drawingml/2006/main" noGrp="1"/>
          </p:cNvSpPr>
          <p:nvPr/>
        </p:nvSpPr>
        <p:spPr>
          <a:xfrm xmlns:a="http://schemas.openxmlformats.org/drawingml/2006/main">
            <a:off x="714375" y="4638675"/>
            <a:ext cx="7048500" cy="28575"/>
          </a:xfrm>
          <a:prstGeom xmlns:a="http://schemas.openxmlformats.org/drawingml/2006/main" prst="rect">
            <a:avLst/>
          </a:prstGeom>
          <a:solidFill xmlns:a="http://schemas.openxmlformats.org/drawingml/2006/main">
            <a:srgbClr val="48E6C1"/>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412B01E-2CA9-48FC-AE01-5E725354B7C5}"/>
              </a:ext>
            </a:extLst>
          </p:cNvPr>
          <p:cNvSpPr>
            <a:spLocks xmlns:a="http://schemas.openxmlformats.org/drawingml/2006/main" noGrp="1"/>
          </p:cNvSpPr>
          <p:nvPr/>
        </p:nvSpPr>
        <p:spPr>
          <a:xfrm xmlns:a="http://schemas.openxmlformats.org/drawingml/2006/main">
            <a:off x="714375" y="4981575"/>
            <a:ext cx="1047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00" b="1">
                <a:solidFill>
                  <a:srgbClr val="48E6C1"/>
                </a:solidFill>
              </a:defRPr>
            </a:defPPr>
          </a:lstStyle>
          <a:p xmlns:a="http://schemas.openxmlformats.org/drawingml/2006/main">
            <a:pPr>
              <a:defRPr sz="1800" b="1">
                <a:solidFill>
                  <a:srgbClr val="48E6C1"/>
                </a:solidFill>
              </a:defRPr>
            </a:pPr>
            <a:r>
              <a:rPr sz="1800" b="1">
                <a:solidFill>
                  <a:srgbClr val="48E6C1"/>
                </a:solidFill>
              </a:rPr>
              <a:t>NEXT: validate on LinuxONE with official demand and licensed inspection images.</a:t>
            </a:r>
          </a:p>
        </p:txBody>
      </p:sp>
    </p:spTree>
    <p:extLst>
      <p:ext uri="{BB962C8B-B14F-4D97-AF65-F5344CB8AC3E}">
        <p14:creationId xmlns:p14="http://schemas.microsoft.com/office/powerpoint/2010/main" val="13866448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2026-10-17T23:14:49.1210000Z</dcterms:created>
  <dcterms:modified xsi:type="dcterms:W3CDTF">2026-10-17T23:14:49.1210000Z</dcterms:modified>
</coreProperties>
</file>